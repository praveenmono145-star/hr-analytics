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839" r:id="rId1"/>
  </p:sldMasterIdLst>
  <p:notesMasterIdLst>
    <p:notesMasterId r:id="rId18"/>
  </p:notesMasterIdLst>
  <p:sldIdLst>
    <p:sldId id="256" r:id="rId2"/>
    <p:sldId id="257" r:id="rId3"/>
    <p:sldId id="259" r:id="rId4"/>
    <p:sldId id="266" r:id="rId5"/>
    <p:sldId id="258" r:id="rId6"/>
    <p:sldId id="267" r:id="rId7"/>
    <p:sldId id="260" r:id="rId8"/>
    <p:sldId id="269" r:id="rId9"/>
    <p:sldId id="271" r:id="rId10"/>
    <p:sldId id="272" r:id="rId11"/>
    <p:sldId id="261" r:id="rId12"/>
    <p:sldId id="268" r:id="rId13"/>
    <p:sldId id="262" r:id="rId14"/>
    <p:sldId id="263" r:id="rId15"/>
    <p:sldId id="264" r:id="rId16"/>
    <p:sldId id="265" r:id="rId17"/>
  </p:sldIdLst>
  <p:sldSz cx="18288000" cy="10287000"/>
  <p:notesSz cx="6858000" cy="9144000"/>
  <p:embeddedFontLst>
    <p:embeddedFont>
      <p:font typeface="Arapey" panose="020B0604020202020204" charset="0"/>
      <p:regular r:id="rId19"/>
    </p:embeddedFont>
    <p:embeddedFont>
      <p:font typeface="Assistant" pitchFamily="2" charset="-79"/>
      <p:regular r:id="rId20"/>
      <p:bold r:id="rId21"/>
    </p:embeddedFont>
    <p:embeddedFont>
      <p:font typeface="Corbel" panose="020B0503020204020204" pitchFamily="34" charset="0"/>
      <p:regular r:id="rId22"/>
      <p:bold r:id="rId23"/>
      <p:italic r:id="rId24"/>
      <p:boldItalic r:id="rId25"/>
    </p:embeddedFont>
    <p:embeddedFont>
      <p:font typeface="Norwester" panose="020B0604020202020204" charset="0"/>
      <p:regular r:id="rId2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54061"/>
    <a:srgbClr val="87A292"/>
    <a:srgbClr val="B4B4B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6012D0-5E30-46B3-9EDC-1C147A76A265}" v="122" dt="2026-05-12T04:19:20.3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6" d="100"/>
          <a:sy n="66" d="100"/>
        </p:scale>
        <p:origin x="0" y="0"/>
      </p:cViewPr>
      <p:guideLst>
        <p:guide orient="horz" pos="2160"/>
        <p:guide pos="2880"/>
      </p:guideLst>
    </p:cSldViewPr>
  </p:slide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1.fntdata"/><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5B3F6E-41FD-4475-9CC8-CCA1B612860F}" type="datetimeFigureOut">
              <a:rPr lang="en-IN" smtClean="0"/>
              <a:t>12-05-2026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98167-1C6C-4A04-AAED-A169D3D68D3F}" type="slidenum">
              <a:rPr lang="en-IN" smtClean="0"/>
              <a:t>‹#›</a:t>
            </a:fld>
            <a:endParaRPr lang="en-IN"/>
          </a:p>
        </p:txBody>
      </p:sp>
    </p:spTree>
    <p:extLst>
      <p:ext uri="{BB962C8B-B14F-4D97-AF65-F5344CB8AC3E}">
        <p14:creationId xmlns:p14="http://schemas.microsoft.com/office/powerpoint/2010/main" val="13014773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2398167-1C6C-4A04-AAED-A169D3D68D3F}" type="slidenum">
              <a:rPr lang="en-IN" smtClean="0"/>
              <a:t>2</a:t>
            </a:fld>
            <a:endParaRPr lang="en-IN"/>
          </a:p>
        </p:txBody>
      </p:sp>
    </p:spTree>
    <p:extLst>
      <p:ext uri="{BB962C8B-B14F-4D97-AF65-F5344CB8AC3E}">
        <p14:creationId xmlns:p14="http://schemas.microsoft.com/office/powerpoint/2010/main" val="9889410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E7B89-8D0C-91C5-5233-4F084680DA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AA4C8B-0737-89EB-9738-C9C0A3C4F0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E6E9E9-1143-EFDA-B0E8-40355B88D8C1}"/>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4E58B8F-FA1C-59F3-9472-FDBFA51E5CA6}"/>
              </a:ext>
            </a:extLst>
          </p:cNvPr>
          <p:cNvSpPr>
            <a:spLocks noGrp="1"/>
          </p:cNvSpPr>
          <p:nvPr>
            <p:ph type="sldNum" sz="quarter" idx="5"/>
          </p:nvPr>
        </p:nvSpPr>
        <p:spPr/>
        <p:txBody>
          <a:bodyPr/>
          <a:lstStyle/>
          <a:p>
            <a:fld id="{82398167-1C6C-4A04-AAED-A169D3D68D3F}" type="slidenum">
              <a:rPr lang="en-IN" smtClean="0"/>
              <a:t>8</a:t>
            </a:fld>
            <a:endParaRPr lang="en-IN"/>
          </a:p>
        </p:txBody>
      </p:sp>
    </p:spTree>
    <p:extLst>
      <p:ext uri="{BB962C8B-B14F-4D97-AF65-F5344CB8AC3E}">
        <p14:creationId xmlns:p14="http://schemas.microsoft.com/office/powerpoint/2010/main" val="23065237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5AD63-A8C8-838D-94C4-67EF9C0111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2AC33B-ACEC-424E-3E1C-5031803C69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57DC37-C355-F52C-639A-AF056DB0ACF6}"/>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8FB516-C065-6023-997C-C1AA49DD86F9}"/>
              </a:ext>
            </a:extLst>
          </p:cNvPr>
          <p:cNvSpPr>
            <a:spLocks noGrp="1"/>
          </p:cNvSpPr>
          <p:nvPr>
            <p:ph type="sldNum" sz="quarter" idx="5"/>
          </p:nvPr>
        </p:nvSpPr>
        <p:spPr/>
        <p:txBody>
          <a:bodyPr/>
          <a:lstStyle/>
          <a:p>
            <a:fld id="{82398167-1C6C-4A04-AAED-A169D3D68D3F}" type="slidenum">
              <a:rPr lang="en-IN" smtClean="0"/>
              <a:t>9</a:t>
            </a:fld>
            <a:endParaRPr lang="en-IN"/>
          </a:p>
        </p:txBody>
      </p:sp>
    </p:spTree>
    <p:extLst>
      <p:ext uri="{BB962C8B-B14F-4D97-AF65-F5344CB8AC3E}">
        <p14:creationId xmlns:p14="http://schemas.microsoft.com/office/powerpoint/2010/main" val="3726603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E01040-184B-F501-6CCE-E98D83697D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F98011-8769-AED3-F39A-FE78FDA2CE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25B79A-0E27-5530-7518-A9C13AF21C29}"/>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24E24CC-AE99-F135-B43C-188E69B317C9}"/>
              </a:ext>
            </a:extLst>
          </p:cNvPr>
          <p:cNvSpPr>
            <a:spLocks noGrp="1"/>
          </p:cNvSpPr>
          <p:nvPr>
            <p:ph type="sldNum" sz="quarter" idx="5"/>
          </p:nvPr>
        </p:nvSpPr>
        <p:spPr/>
        <p:txBody>
          <a:bodyPr/>
          <a:lstStyle/>
          <a:p>
            <a:fld id="{82398167-1C6C-4A04-AAED-A169D3D68D3F}" type="slidenum">
              <a:rPr lang="en-IN" smtClean="0"/>
              <a:t>10</a:t>
            </a:fld>
            <a:endParaRPr lang="en-IN"/>
          </a:p>
        </p:txBody>
      </p:sp>
    </p:spTree>
    <p:extLst>
      <p:ext uri="{BB962C8B-B14F-4D97-AF65-F5344CB8AC3E}">
        <p14:creationId xmlns:p14="http://schemas.microsoft.com/office/powerpoint/2010/main" val="31166069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82398167-1C6C-4A04-AAED-A169D3D68D3F}" type="slidenum">
              <a:rPr lang="en-IN" smtClean="0"/>
              <a:t>11</a:t>
            </a:fld>
            <a:endParaRPr lang="en-IN"/>
          </a:p>
        </p:txBody>
      </p:sp>
    </p:spTree>
    <p:extLst>
      <p:ext uri="{BB962C8B-B14F-4D97-AF65-F5344CB8AC3E}">
        <p14:creationId xmlns:p14="http://schemas.microsoft.com/office/powerpoint/2010/main" val="31263271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468AE-0603-C218-782C-8A88FA8D32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137460-81DE-C1DC-AECB-CAF934FAA4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6E0812-B4FC-8483-9A17-178546E591F1}"/>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59F16B41-6480-3342-FC66-08617C9F08EC}"/>
              </a:ext>
            </a:extLst>
          </p:cNvPr>
          <p:cNvSpPr>
            <a:spLocks noGrp="1"/>
          </p:cNvSpPr>
          <p:nvPr>
            <p:ph type="sldNum" sz="quarter" idx="5"/>
          </p:nvPr>
        </p:nvSpPr>
        <p:spPr/>
        <p:txBody>
          <a:bodyPr/>
          <a:lstStyle/>
          <a:p>
            <a:fld id="{82398167-1C6C-4A04-AAED-A169D3D68D3F}" type="slidenum">
              <a:rPr lang="en-IN" smtClean="0"/>
              <a:t>12</a:t>
            </a:fld>
            <a:endParaRPr lang="en-IN"/>
          </a:p>
        </p:txBody>
      </p:sp>
    </p:spTree>
    <p:extLst>
      <p:ext uri="{BB962C8B-B14F-4D97-AF65-F5344CB8AC3E}">
        <p14:creationId xmlns:p14="http://schemas.microsoft.com/office/powerpoint/2010/main" val="15258415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819150" y="-7144"/>
            <a:ext cx="7522368" cy="10294145"/>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IN"/>
            </a:p>
          </p:txBody>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IN"/>
            </a:p>
          </p:txBody>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IN"/>
            </a:p>
          </p:txBody>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IN"/>
            </a:p>
          </p:txBody>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IN"/>
            </a:p>
          </p:txBody>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IN"/>
            </a:p>
          </p:txBody>
        </p:sp>
      </p:grpSp>
      <p:sp>
        <p:nvSpPr>
          <p:cNvPr id="2" name="Title 1"/>
          <p:cNvSpPr>
            <a:spLocks noGrp="1"/>
          </p:cNvSpPr>
          <p:nvPr>
            <p:ph type="ctrTitle"/>
          </p:nvPr>
        </p:nvSpPr>
        <p:spPr>
          <a:xfrm>
            <a:off x="4392602" y="2070103"/>
            <a:ext cx="12861933" cy="3924299"/>
          </a:xfrm>
        </p:spPr>
        <p:txBody>
          <a:bodyPr anchor="b">
            <a:normAutofit/>
          </a:bodyPr>
          <a:lstStyle>
            <a:lvl1pPr algn="r">
              <a:defRPr sz="9000">
                <a:effectLst/>
              </a:defRPr>
            </a:lvl1pPr>
          </a:lstStyle>
          <a:p>
            <a:r>
              <a:rPr lang="en-US"/>
              <a:t>Click to edit Master title style</a:t>
            </a:r>
          </a:p>
        </p:txBody>
      </p:sp>
      <p:sp>
        <p:nvSpPr>
          <p:cNvPr id="3" name="Subtitle 2"/>
          <p:cNvSpPr>
            <a:spLocks noGrp="1"/>
          </p:cNvSpPr>
          <p:nvPr>
            <p:ph type="subTitle" idx="1"/>
          </p:nvPr>
        </p:nvSpPr>
        <p:spPr>
          <a:xfrm>
            <a:off x="6773066" y="5994401"/>
            <a:ext cx="10481468" cy="2082801"/>
          </a:xfrm>
        </p:spPr>
        <p:txBody>
          <a:bodyPr anchor="t">
            <a:normAutofit/>
          </a:bodyPr>
          <a:lstStyle>
            <a:lvl1pPr marL="0" indent="0" algn="r">
              <a:buNone/>
              <a:defRPr sz="3150">
                <a:solidFill>
                  <a:schemeClr val="tx1"/>
                </a:solidFill>
              </a:defRPr>
            </a:lvl1pPr>
            <a:lvl2pPr marL="685800" indent="0" algn="ctr">
              <a:buNone/>
              <a:defRPr>
                <a:solidFill>
                  <a:schemeClr val="tx1">
                    <a:tint val="75000"/>
                  </a:schemeClr>
                </a:solidFill>
              </a:defRPr>
            </a:lvl2pPr>
            <a:lvl3pPr marL="1371600" indent="0" algn="ctr">
              <a:buNone/>
              <a:defRPr>
                <a:solidFill>
                  <a:schemeClr val="tx1">
                    <a:tint val="75000"/>
                  </a:schemeClr>
                </a:solidFill>
              </a:defRPr>
            </a:lvl3pPr>
            <a:lvl4pPr marL="2057400" indent="0" algn="ctr">
              <a:buNone/>
              <a:defRPr>
                <a:solidFill>
                  <a:schemeClr val="tx1">
                    <a:tint val="75000"/>
                  </a:schemeClr>
                </a:solidFill>
              </a:defRPr>
            </a:lvl4pPr>
            <a:lvl5pPr marL="2743200" indent="0" algn="ctr">
              <a:buNone/>
              <a:defRPr>
                <a:solidFill>
                  <a:schemeClr val="tx1">
                    <a:tint val="75000"/>
                  </a:schemeClr>
                </a:solidFill>
              </a:defRPr>
            </a:lvl5pPr>
            <a:lvl6pPr marL="3429000" indent="0" algn="ctr">
              <a:buNone/>
              <a:defRPr>
                <a:solidFill>
                  <a:schemeClr val="tx1">
                    <a:tint val="75000"/>
                  </a:schemeClr>
                </a:solidFill>
              </a:defRPr>
            </a:lvl6pPr>
            <a:lvl7pPr marL="4114800" indent="0" algn="ctr">
              <a:buNone/>
              <a:defRPr>
                <a:solidFill>
                  <a:schemeClr val="tx1">
                    <a:tint val="75000"/>
                  </a:schemeClr>
                </a:solidFill>
              </a:defRPr>
            </a:lvl7pPr>
            <a:lvl8pPr marL="4800600" indent="0" algn="ctr">
              <a:buNone/>
              <a:defRPr>
                <a:solidFill>
                  <a:schemeClr val="tx1">
                    <a:tint val="75000"/>
                  </a:schemeClr>
                </a:solidFill>
              </a:defRPr>
            </a:lvl8pPr>
            <a:lvl9pPr marL="54864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5/12/2026</a:t>
            </a:fld>
            <a:endParaRPr lang="en-US"/>
          </a:p>
        </p:txBody>
      </p:sp>
      <p:sp>
        <p:nvSpPr>
          <p:cNvPr id="5" name="Footer Placeholder 4"/>
          <p:cNvSpPr>
            <a:spLocks noGrp="1"/>
          </p:cNvSpPr>
          <p:nvPr>
            <p:ph type="ftr" sz="quarter" idx="11"/>
          </p:nvPr>
        </p:nvSpPr>
        <p:spPr>
          <a:xfrm>
            <a:off x="7998618" y="8824913"/>
            <a:ext cx="6486066" cy="547688"/>
          </a:xfrm>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454763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nchor="ctr"/>
          <a:lstStyle>
            <a:lvl1pPr>
              <a:buClr>
                <a:schemeClr val="accent1">
                  <a:lumMod val="75000"/>
                </a:schemeClr>
              </a:buClr>
              <a:defRPr/>
            </a:lvl1pPr>
            <a:lvl2pPr>
              <a:buClr>
                <a:schemeClr val="accent1">
                  <a:lumMod val="75000"/>
                </a:schemeClr>
              </a:buClr>
              <a:defRPr/>
            </a:lvl2pPr>
            <a:lvl3pPr>
              <a:buClr>
                <a:schemeClr val="accent1">
                  <a:lumMod val="75000"/>
                </a:schemeClr>
              </a:buClr>
              <a:defRPr/>
            </a:lvl3pPr>
            <a:lvl4pPr>
              <a:buClr>
                <a:schemeClr val="accent1">
                  <a:lumMod val="75000"/>
                </a:schemeClr>
              </a:buClr>
              <a:defRPr/>
            </a:lvl4pPr>
            <a:lvl5pPr>
              <a:buClr>
                <a:schemeClr val="accent1">
                  <a:lumMod val="75000"/>
                </a:schemeClr>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6427785" y="8800697"/>
            <a:ext cx="826751" cy="547688"/>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070140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58419" y="4000498"/>
            <a:ext cx="13396121" cy="3165573"/>
          </a:xfrm>
        </p:spPr>
        <p:txBody>
          <a:bodyPr anchor="b"/>
          <a:lstStyle>
            <a:lvl1pPr algn="r">
              <a:defRPr sz="6000" b="0" cap="none"/>
            </a:lvl1pPr>
          </a:lstStyle>
          <a:p>
            <a:r>
              <a:rPr lang="en-US"/>
              <a:t>Click to edit Master title style</a:t>
            </a:r>
          </a:p>
        </p:txBody>
      </p:sp>
      <p:sp>
        <p:nvSpPr>
          <p:cNvPr id="3" name="Text Placeholder 2"/>
          <p:cNvSpPr>
            <a:spLocks noGrp="1"/>
          </p:cNvSpPr>
          <p:nvPr>
            <p:ph type="body" idx="1"/>
          </p:nvPr>
        </p:nvSpPr>
        <p:spPr>
          <a:xfrm>
            <a:off x="3858417" y="7166072"/>
            <a:ext cx="13396122" cy="1290600"/>
          </a:xfrm>
        </p:spPr>
        <p:txBody>
          <a:bodyPr anchor="t">
            <a:normAutofit/>
          </a:bodyPr>
          <a:lstStyle>
            <a:lvl1pPr marL="0" indent="0" algn="r">
              <a:buNone/>
              <a:defRPr sz="30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712734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226467" y="1028701"/>
            <a:ext cx="15028070" cy="2628899"/>
          </a:xfrm>
        </p:spPr>
        <p:txBody>
          <a:bodyPr/>
          <a:lstStyle/>
          <a:p>
            <a:r>
              <a:rPr lang="en-US"/>
              <a:t>Click to edit Master title style</a:t>
            </a:r>
          </a:p>
        </p:txBody>
      </p:sp>
      <p:sp>
        <p:nvSpPr>
          <p:cNvPr id="3" name="Content Placeholder 2"/>
          <p:cNvSpPr>
            <a:spLocks noGrp="1"/>
          </p:cNvSpPr>
          <p:nvPr>
            <p:ph sz="half" idx="1"/>
          </p:nvPr>
        </p:nvSpPr>
        <p:spPr>
          <a:xfrm>
            <a:off x="2226469" y="4000499"/>
            <a:ext cx="7342583" cy="4686302"/>
          </a:xfrm>
        </p:spPr>
        <p:txBody>
          <a:bodyPr>
            <a:normAutofit/>
          </a:bodyPr>
          <a:lstStyle>
            <a:lvl1pPr>
              <a:buClr>
                <a:schemeClr val="accent1">
                  <a:lumMod val="75000"/>
                </a:schemeClr>
              </a:buClr>
              <a:defRPr sz="2700"/>
            </a:lvl1pPr>
            <a:lvl2pPr>
              <a:buClr>
                <a:schemeClr val="accent1">
                  <a:lumMod val="75000"/>
                </a:schemeClr>
              </a:buClr>
              <a:defRPr sz="2400"/>
            </a:lvl2pPr>
            <a:lvl3pPr>
              <a:buClr>
                <a:schemeClr val="accent1">
                  <a:lumMod val="75000"/>
                </a:schemeClr>
              </a:buClr>
              <a:defRPr sz="2100"/>
            </a:lvl3pPr>
            <a:lvl4pPr>
              <a:buClr>
                <a:schemeClr val="accent1">
                  <a:lumMod val="75000"/>
                </a:schemeClr>
              </a:buClr>
              <a:defRPr sz="1800"/>
            </a:lvl4pPr>
            <a:lvl5pPr>
              <a:buClr>
                <a:schemeClr val="accent1">
                  <a:lumMod val="75000"/>
                </a:schemeClr>
              </a:buCl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9911951" y="4000500"/>
            <a:ext cx="7342584" cy="4686300"/>
          </a:xfrm>
        </p:spPr>
        <p:txBody>
          <a:bodyPr>
            <a:normAutofit/>
          </a:bodyPr>
          <a:lstStyle>
            <a:lvl1pPr>
              <a:buClr>
                <a:schemeClr val="accent1">
                  <a:lumMod val="75000"/>
                </a:schemeClr>
              </a:buClr>
              <a:defRPr sz="2700"/>
            </a:lvl1pPr>
            <a:lvl2pPr>
              <a:buClr>
                <a:schemeClr val="accent1">
                  <a:lumMod val="75000"/>
                </a:schemeClr>
              </a:buClr>
              <a:defRPr sz="2400"/>
            </a:lvl2pPr>
            <a:lvl3pPr>
              <a:buClr>
                <a:schemeClr val="accent1">
                  <a:lumMod val="75000"/>
                </a:schemeClr>
              </a:buClr>
              <a:defRPr sz="2100"/>
            </a:lvl3pPr>
            <a:lvl4pPr>
              <a:buClr>
                <a:schemeClr val="accent1">
                  <a:lumMod val="75000"/>
                </a:schemeClr>
              </a:buClr>
              <a:defRPr sz="1800"/>
            </a:lvl4pPr>
            <a:lvl5pPr>
              <a:buClr>
                <a:schemeClr val="accent1">
                  <a:lumMod val="75000"/>
                </a:schemeClr>
              </a:buCl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849262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658269" y="3987800"/>
            <a:ext cx="6910782" cy="864393"/>
          </a:xfrm>
        </p:spPr>
        <p:txBody>
          <a:bodyPr anchor="b">
            <a:noAutofit/>
          </a:bodyPr>
          <a:lstStyle>
            <a:lvl1pPr marL="0" indent="0">
              <a:buNone/>
              <a:defRPr sz="4200" b="0">
                <a:solidFill>
                  <a:schemeClr val="accent1">
                    <a:lumMod val="75000"/>
                  </a:schemeClr>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2226467" y="5003006"/>
            <a:ext cx="7342584" cy="3683793"/>
          </a:xfrm>
        </p:spPr>
        <p:txBody>
          <a:bodyPr anchor="t">
            <a:normAutofit/>
          </a:bodyPr>
          <a:lstStyle>
            <a:lvl1pPr>
              <a:buClr>
                <a:schemeClr val="accent1">
                  <a:lumMod val="75000"/>
                </a:schemeClr>
              </a:buClr>
              <a:defRPr sz="2700"/>
            </a:lvl1pPr>
            <a:lvl2pPr>
              <a:buClr>
                <a:schemeClr val="accent1">
                  <a:lumMod val="75000"/>
                </a:schemeClr>
              </a:buClr>
              <a:defRPr sz="2400"/>
            </a:lvl2pPr>
            <a:lvl3pPr>
              <a:buClr>
                <a:schemeClr val="accent1">
                  <a:lumMod val="75000"/>
                </a:schemeClr>
              </a:buClr>
              <a:defRPr sz="2100"/>
            </a:lvl3pPr>
            <a:lvl4pPr>
              <a:buClr>
                <a:schemeClr val="accent1">
                  <a:lumMod val="75000"/>
                </a:schemeClr>
              </a:buClr>
              <a:defRPr sz="1800"/>
            </a:lvl4pPr>
            <a:lvl5pPr>
              <a:buClr>
                <a:schemeClr val="accent1">
                  <a:lumMod val="75000"/>
                </a:schemeClr>
              </a:buCl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0320731" y="4000500"/>
            <a:ext cx="6933806" cy="864393"/>
          </a:xfrm>
        </p:spPr>
        <p:txBody>
          <a:bodyPr anchor="b">
            <a:noAutofit/>
          </a:bodyPr>
          <a:lstStyle>
            <a:lvl1pPr marL="0" indent="0">
              <a:buNone/>
              <a:defRPr sz="4200" b="0">
                <a:solidFill>
                  <a:schemeClr val="accent1">
                    <a:lumMod val="75000"/>
                  </a:schemeClr>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911951" y="5003006"/>
            <a:ext cx="7342584" cy="3683793"/>
          </a:xfrm>
        </p:spPr>
        <p:txBody>
          <a:bodyPr anchor="t">
            <a:normAutofit/>
          </a:bodyPr>
          <a:lstStyle>
            <a:lvl1pPr>
              <a:buClr>
                <a:schemeClr val="accent1">
                  <a:lumMod val="75000"/>
                </a:schemeClr>
              </a:buClr>
              <a:defRPr sz="2700"/>
            </a:lvl1pPr>
            <a:lvl2pPr>
              <a:buClr>
                <a:schemeClr val="accent1">
                  <a:lumMod val="75000"/>
                </a:schemeClr>
              </a:buClr>
              <a:defRPr sz="2400"/>
            </a:lvl2pPr>
            <a:lvl3pPr>
              <a:buClr>
                <a:schemeClr val="accent1">
                  <a:lumMod val="75000"/>
                </a:schemeClr>
              </a:buClr>
              <a:defRPr sz="2100"/>
            </a:lvl3pPr>
            <a:lvl4pPr>
              <a:buClr>
                <a:schemeClr val="accent1">
                  <a:lumMod val="75000"/>
                </a:schemeClr>
              </a:buClr>
              <a:defRPr sz="1800"/>
            </a:lvl4pPr>
            <a:lvl5pPr>
              <a:buClr>
                <a:schemeClr val="accent1">
                  <a:lumMod val="75000"/>
                </a:schemeClr>
              </a:buCl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380796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980094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740111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26469" y="2400300"/>
            <a:ext cx="5323682" cy="2057400"/>
          </a:xfrm>
        </p:spPr>
        <p:txBody>
          <a:bodyPr anchor="b">
            <a:normAutofit/>
          </a:bodyPr>
          <a:lstStyle>
            <a:lvl1pPr algn="ctr">
              <a:defRPr sz="3600" b="0"/>
            </a:lvl1pPr>
          </a:lstStyle>
          <a:p>
            <a:r>
              <a:rPr lang="en-US"/>
              <a:t>Click to edit Master title style</a:t>
            </a:r>
          </a:p>
        </p:txBody>
      </p:sp>
      <p:sp>
        <p:nvSpPr>
          <p:cNvPr id="3" name="Content Placeholder 2"/>
          <p:cNvSpPr>
            <a:spLocks noGrp="1"/>
          </p:cNvSpPr>
          <p:nvPr>
            <p:ph idx="1"/>
          </p:nvPr>
        </p:nvSpPr>
        <p:spPr>
          <a:xfrm>
            <a:off x="7893050" y="1028699"/>
            <a:ext cx="9361485" cy="7658102"/>
          </a:xfrm>
        </p:spPr>
        <p:txBody>
          <a:bodyPr anchor="ctr">
            <a:normAutofit/>
          </a:bodyPr>
          <a:lstStyle>
            <a:lvl1pPr>
              <a:defRPr sz="30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226469" y="4457700"/>
            <a:ext cx="5323682" cy="2743200"/>
          </a:xfrm>
        </p:spPr>
        <p:txBody>
          <a:bodyPr>
            <a:normAutofit/>
          </a:bodyPr>
          <a:lstStyle>
            <a:lvl1pPr marL="0" indent="0" algn="ctr">
              <a:buNone/>
              <a:defRPr sz="24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101748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24086" y="2628899"/>
            <a:ext cx="8139237" cy="2057400"/>
          </a:xfrm>
        </p:spPr>
        <p:txBody>
          <a:bodyPr anchor="b">
            <a:normAutofit/>
          </a:bodyPr>
          <a:lstStyle>
            <a:lvl1pPr algn="ctr">
              <a:defRPr sz="4200" b="0"/>
            </a:lvl1pPr>
          </a:lstStyle>
          <a:p>
            <a:r>
              <a:rPr lang="en-US"/>
              <a:t>Click to edit Master title style</a:t>
            </a:r>
          </a:p>
        </p:txBody>
      </p:sp>
      <p:sp>
        <p:nvSpPr>
          <p:cNvPr id="14" name="Picture Placeholder 2"/>
          <p:cNvSpPr>
            <a:spLocks noGrp="1" noChangeAspect="1"/>
          </p:cNvSpPr>
          <p:nvPr>
            <p:ph type="pic" idx="1"/>
          </p:nvPr>
        </p:nvSpPr>
        <p:spPr>
          <a:xfrm>
            <a:off x="11392023" y="1371600"/>
            <a:ext cx="4921461" cy="6858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p>
        </p:txBody>
      </p:sp>
      <p:sp>
        <p:nvSpPr>
          <p:cNvPr id="4" name="Text Placeholder 3"/>
          <p:cNvSpPr>
            <a:spLocks noGrp="1"/>
          </p:cNvSpPr>
          <p:nvPr>
            <p:ph type="body" sz="half" idx="2"/>
          </p:nvPr>
        </p:nvSpPr>
        <p:spPr>
          <a:xfrm>
            <a:off x="2224086" y="4686299"/>
            <a:ext cx="8139237" cy="2743200"/>
          </a:xfrm>
        </p:spPr>
        <p:txBody>
          <a:bodyPr>
            <a:normAutofit/>
          </a:bodyPr>
          <a:lstStyle>
            <a:lvl1pPr marL="0" indent="0" algn="ctr">
              <a:buNone/>
              <a:defRPr sz="27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146220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26467" y="7099298"/>
            <a:ext cx="15028067" cy="850107"/>
          </a:xfrm>
        </p:spPr>
        <p:txBody>
          <a:bodyPr anchor="b">
            <a:normAutofit/>
          </a:bodyPr>
          <a:lstStyle>
            <a:lvl1pPr algn="ctr">
              <a:defRPr sz="3600" b="0"/>
            </a:lvl1pPr>
          </a:lstStyle>
          <a:p>
            <a:r>
              <a:rPr lang="en-US"/>
              <a:t>Click to edit Master title style</a:t>
            </a:r>
          </a:p>
        </p:txBody>
      </p:sp>
      <p:sp>
        <p:nvSpPr>
          <p:cNvPr id="3" name="Picture Placeholder 2"/>
          <p:cNvSpPr>
            <a:spLocks noGrp="1" noChangeAspect="1"/>
          </p:cNvSpPr>
          <p:nvPr>
            <p:ph type="pic" idx="1"/>
          </p:nvPr>
        </p:nvSpPr>
        <p:spPr>
          <a:xfrm>
            <a:off x="3579018" y="1398168"/>
            <a:ext cx="12338916" cy="4747464"/>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p>
        </p:txBody>
      </p:sp>
      <p:sp>
        <p:nvSpPr>
          <p:cNvPr id="4" name="Text Placeholder 3"/>
          <p:cNvSpPr>
            <a:spLocks noGrp="1"/>
          </p:cNvSpPr>
          <p:nvPr>
            <p:ph type="body" sz="half" idx="2"/>
          </p:nvPr>
        </p:nvSpPr>
        <p:spPr>
          <a:xfrm>
            <a:off x="2226467" y="7949405"/>
            <a:ext cx="15028067" cy="740568"/>
          </a:xfrm>
        </p:spPr>
        <p:txBody>
          <a:bodyPr>
            <a:normAutofit/>
          </a:bodyPr>
          <a:lstStyle>
            <a:lvl1pPr marL="0" indent="0" algn="ctr">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311790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226469" y="1028700"/>
            <a:ext cx="15028067" cy="4572000"/>
          </a:xfrm>
        </p:spPr>
        <p:txBody>
          <a:bodyPr anchor="ctr">
            <a:normAutofit/>
          </a:bodyPr>
          <a:lstStyle>
            <a:lvl1pPr algn="ctr">
              <a:defRPr sz="4800" b="0" cap="none"/>
            </a:lvl1pPr>
          </a:lstStyle>
          <a:p>
            <a:r>
              <a:rPr lang="en-US"/>
              <a:t>Click to edit Master title style</a:t>
            </a:r>
          </a:p>
        </p:txBody>
      </p:sp>
      <p:sp>
        <p:nvSpPr>
          <p:cNvPr id="3" name="Text Placeholder 2"/>
          <p:cNvSpPr>
            <a:spLocks noGrp="1"/>
          </p:cNvSpPr>
          <p:nvPr>
            <p:ph type="body" idx="1"/>
          </p:nvPr>
        </p:nvSpPr>
        <p:spPr>
          <a:xfrm>
            <a:off x="2226469" y="6515100"/>
            <a:ext cx="15028070" cy="2171700"/>
          </a:xfrm>
        </p:spPr>
        <p:txBody>
          <a:bodyPr anchor="ctr">
            <a:normAutofit/>
          </a:bodyPr>
          <a:lstStyle>
            <a:lvl1pPr marL="0" indent="0" algn="ctr">
              <a:buNone/>
              <a:defRPr sz="30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14218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2397918" y="1294535"/>
            <a:ext cx="914400" cy="877164"/>
          </a:xfrm>
          <a:prstGeom prst="rect">
            <a:avLst/>
          </a:prstGeom>
        </p:spPr>
        <p:txBody>
          <a:bodyPr vert="horz" lIns="137160" tIns="68580" rIns="137160" bIns="6858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12000">
                <a:solidFill>
                  <a:schemeClr val="tx1"/>
                </a:solidFill>
                <a:effectLst/>
              </a:rPr>
              <a:t>“</a:t>
            </a:r>
          </a:p>
        </p:txBody>
      </p:sp>
      <p:sp>
        <p:nvSpPr>
          <p:cNvPr id="15" name="TextBox 14"/>
          <p:cNvSpPr txBox="1"/>
          <p:nvPr/>
        </p:nvSpPr>
        <p:spPr>
          <a:xfrm>
            <a:off x="16340138" y="4229099"/>
            <a:ext cx="914400" cy="877164"/>
          </a:xfrm>
          <a:prstGeom prst="rect">
            <a:avLst/>
          </a:prstGeom>
        </p:spPr>
        <p:txBody>
          <a:bodyPr vert="horz" lIns="137160" tIns="68580" rIns="137160" bIns="6858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12000">
                <a:solidFill>
                  <a:schemeClr val="tx1"/>
                </a:solidFill>
                <a:effectLst/>
              </a:rPr>
              <a:t>”</a:t>
            </a:r>
          </a:p>
        </p:txBody>
      </p:sp>
      <p:sp>
        <p:nvSpPr>
          <p:cNvPr id="2" name="Title 1"/>
          <p:cNvSpPr>
            <a:spLocks noGrp="1"/>
          </p:cNvSpPr>
          <p:nvPr>
            <p:ph type="title"/>
          </p:nvPr>
        </p:nvSpPr>
        <p:spPr>
          <a:xfrm>
            <a:off x="3312318" y="1028701"/>
            <a:ext cx="13485018" cy="4114799"/>
          </a:xfrm>
        </p:spPr>
        <p:txBody>
          <a:bodyPr anchor="ctr">
            <a:normAutofit/>
          </a:bodyPr>
          <a:lstStyle>
            <a:lvl1pPr algn="ctr">
              <a:defRPr sz="4800" b="0" cap="none">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3655217" y="5143499"/>
            <a:ext cx="12799223" cy="571500"/>
          </a:xfrm>
        </p:spPr>
        <p:txBody>
          <a:bodyPr anchor="ctr">
            <a:normAutofit/>
          </a:bodyPr>
          <a:lstStyle>
            <a:lvl1pPr marL="0" indent="0">
              <a:buFontTx/>
              <a:buNone/>
              <a:defRPr sz="2700"/>
            </a:lvl1pPr>
            <a:lvl2pPr marL="685800" indent="0">
              <a:buFontTx/>
              <a:buNone/>
              <a:defRPr/>
            </a:lvl2pPr>
            <a:lvl3pPr marL="1371600" indent="0">
              <a:buFontTx/>
              <a:buNone/>
              <a:defRPr/>
            </a:lvl3pPr>
            <a:lvl4pPr marL="2057400" indent="0">
              <a:buFontTx/>
              <a:buNone/>
              <a:defRPr/>
            </a:lvl4pPr>
            <a:lvl5pPr marL="2743200" indent="0">
              <a:buFontTx/>
              <a:buNone/>
              <a:defRPr/>
            </a:lvl5pPr>
          </a:lstStyle>
          <a:p>
            <a:pPr lvl="0"/>
            <a:r>
              <a:rPr lang="en-US"/>
              <a:t>Click to edit Master text styles</a:t>
            </a:r>
          </a:p>
        </p:txBody>
      </p:sp>
      <p:sp>
        <p:nvSpPr>
          <p:cNvPr id="3" name="Text Placeholder 2"/>
          <p:cNvSpPr>
            <a:spLocks noGrp="1"/>
          </p:cNvSpPr>
          <p:nvPr>
            <p:ph type="body" idx="1"/>
          </p:nvPr>
        </p:nvSpPr>
        <p:spPr>
          <a:xfrm>
            <a:off x="2226467" y="6515100"/>
            <a:ext cx="15028067" cy="2171700"/>
          </a:xfrm>
        </p:spPr>
        <p:txBody>
          <a:bodyPr anchor="ctr">
            <a:normAutofit/>
          </a:bodyPr>
          <a:lstStyle>
            <a:lvl1pPr marL="0" indent="0" algn="ctr">
              <a:buNone/>
              <a:defRPr sz="30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443362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226470" y="4962872"/>
            <a:ext cx="15028064" cy="2203200"/>
          </a:xfrm>
        </p:spPr>
        <p:txBody>
          <a:bodyPr anchor="b">
            <a:normAutofit/>
          </a:bodyPr>
          <a:lstStyle>
            <a:lvl1pPr algn="r">
              <a:defRPr sz="4800" b="0" cap="none"/>
            </a:lvl1pPr>
          </a:lstStyle>
          <a:p>
            <a:r>
              <a:rPr lang="en-US"/>
              <a:t>Click to edit Master title style</a:t>
            </a:r>
          </a:p>
        </p:txBody>
      </p:sp>
      <p:sp>
        <p:nvSpPr>
          <p:cNvPr id="3" name="Text Placeholder 2"/>
          <p:cNvSpPr>
            <a:spLocks noGrp="1"/>
          </p:cNvSpPr>
          <p:nvPr>
            <p:ph type="body" idx="1"/>
          </p:nvPr>
        </p:nvSpPr>
        <p:spPr>
          <a:xfrm>
            <a:off x="2226468" y="7166072"/>
            <a:ext cx="15028065" cy="1290600"/>
          </a:xfrm>
        </p:spPr>
        <p:txBody>
          <a:bodyPr anchor="t">
            <a:normAutofit/>
          </a:bodyPr>
          <a:lstStyle>
            <a:lvl1pPr marL="0" indent="0" algn="r">
              <a:buNone/>
              <a:defRPr sz="30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909279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2397918" y="1294535"/>
            <a:ext cx="914400" cy="877164"/>
          </a:xfrm>
          <a:prstGeom prst="rect">
            <a:avLst/>
          </a:prstGeom>
        </p:spPr>
        <p:txBody>
          <a:bodyPr vert="horz" lIns="137160" tIns="68580" rIns="137160" bIns="6858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12000">
                <a:solidFill>
                  <a:schemeClr val="tx1"/>
                </a:solidFill>
                <a:effectLst/>
              </a:rPr>
              <a:t>“</a:t>
            </a:r>
          </a:p>
        </p:txBody>
      </p:sp>
      <p:sp>
        <p:nvSpPr>
          <p:cNvPr id="15" name="TextBox 14"/>
          <p:cNvSpPr txBox="1"/>
          <p:nvPr/>
        </p:nvSpPr>
        <p:spPr>
          <a:xfrm>
            <a:off x="16340138" y="4229099"/>
            <a:ext cx="914400" cy="877164"/>
          </a:xfrm>
          <a:prstGeom prst="rect">
            <a:avLst/>
          </a:prstGeom>
        </p:spPr>
        <p:txBody>
          <a:bodyPr vert="horz" lIns="137160" tIns="68580" rIns="137160" bIns="6858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12000">
                <a:solidFill>
                  <a:schemeClr val="tx1"/>
                </a:solidFill>
                <a:effectLst/>
              </a:rPr>
              <a:t>”</a:t>
            </a:r>
          </a:p>
        </p:txBody>
      </p:sp>
      <p:sp>
        <p:nvSpPr>
          <p:cNvPr id="2" name="Title 1"/>
          <p:cNvSpPr>
            <a:spLocks noGrp="1"/>
          </p:cNvSpPr>
          <p:nvPr>
            <p:ph type="title"/>
          </p:nvPr>
        </p:nvSpPr>
        <p:spPr>
          <a:xfrm>
            <a:off x="3312318" y="1028701"/>
            <a:ext cx="13485018" cy="4114799"/>
          </a:xfrm>
        </p:spPr>
        <p:txBody>
          <a:bodyPr anchor="ctr">
            <a:normAutofit/>
          </a:bodyPr>
          <a:lstStyle>
            <a:lvl1pPr algn="ctr">
              <a:defRPr sz="4800" b="0" cap="none">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2226470" y="5829300"/>
            <a:ext cx="15028065" cy="1333500"/>
          </a:xfrm>
        </p:spPr>
        <p:txBody>
          <a:bodyPr vert="horz" lIns="91440" tIns="45720" rIns="91440" bIns="45720" rtlCol="0" anchor="b">
            <a:normAutofit/>
          </a:bodyPr>
          <a:lstStyle>
            <a:lvl1pPr algn="r">
              <a:buNone/>
              <a:defRPr lang="en-US" sz="36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2226468" y="7162800"/>
            <a:ext cx="15028065" cy="1524000"/>
          </a:xfrm>
        </p:spPr>
        <p:txBody>
          <a:bodyPr anchor="t">
            <a:normAutofit/>
          </a:bodyPr>
          <a:lstStyle>
            <a:lvl1pPr marL="0" indent="0" algn="r">
              <a:buNone/>
              <a:defRPr sz="27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215893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226470" y="1028701"/>
            <a:ext cx="15028068" cy="4090988"/>
          </a:xfrm>
        </p:spPr>
        <p:txBody>
          <a:bodyPr vert="horz" lIns="91440" tIns="45720" rIns="91440" bIns="45720" rtlCol="0" anchor="ctr">
            <a:normAutofit/>
          </a:bodyPr>
          <a:lstStyle>
            <a:lvl1pPr>
              <a:defRPr lang="en-US" b="0" dirty="0"/>
            </a:lvl1pPr>
          </a:lstStyle>
          <a:p>
            <a:pPr marL="0" lvl="0"/>
            <a:r>
              <a:rPr lang="en-US"/>
              <a:t>Click to edit Master title style</a:t>
            </a:r>
          </a:p>
        </p:txBody>
      </p:sp>
      <p:sp>
        <p:nvSpPr>
          <p:cNvPr id="10" name="Text Placeholder 9"/>
          <p:cNvSpPr>
            <a:spLocks noGrp="1"/>
          </p:cNvSpPr>
          <p:nvPr>
            <p:ph type="body" sz="quarter" idx="13"/>
          </p:nvPr>
        </p:nvSpPr>
        <p:spPr>
          <a:xfrm>
            <a:off x="2226469" y="5257800"/>
            <a:ext cx="15028070" cy="1257300"/>
          </a:xfrm>
        </p:spPr>
        <p:txBody>
          <a:bodyPr vert="horz" lIns="91440" tIns="45720" rIns="91440" bIns="45720" rtlCol="0" anchor="b">
            <a:normAutofit/>
          </a:bodyPr>
          <a:lstStyle>
            <a:lvl1pPr>
              <a:buNone/>
              <a:defRPr lang="en-US" sz="42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2226467" y="6515100"/>
            <a:ext cx="15028070" cy="2171700"/>
          </a:xfrm>
        </p:spPr>
        <p:txBody>
          <a:bodyPr anchor="t">
            <a:normAutofit/>
          </a:bodyPr>
          <a:lstStyle>
            <a:lvl1pPr marL="0" indent="0" algn="l">
              <a:buNone/>
              <a:defRPr sz="27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374867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210000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4598983" y="1028700"/>
            <a:ext cx="2655554" cy="76581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26468" y="1028700"/>
            <a:ext cx="12029613" cy="76581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479212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226219" y="1"/>
            <a:ext cx="3655220" cy="10287002"/>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IN"/>
            </a:p>
          </p:txBody>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IN"/>
            </a:p>
          </p:txBody>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IN"/>
            </a:p>
          </p:txBody>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IN"/>
            </a:p>
          </p:txBody>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IN"/>
            </a:p>
          </p:txBody>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IN"/>
            </a:p>
          </p:txBody>
        </p:sp>
      </p:grpSp>
      <p:sp>
        <p:nvSpPr>
          <p:cNvPr id="2" name="Title Placeholder 1"/>
          <p:cNvSpPr>
            <a:spLocks noGrp="1"/>
          </p:cNvSpPr>
          <p:nvPr>
            <p:ph type="title"/>
          </p:nvPr>
        </p:nvSpPr>
        <p:spPr>
          <a:xfrm>
            <a:off x="2226467" y="1028701"/>
            <a:ext cx="15028070" cy="2628899"/>
          </a:xfrm>
          <a:prstGeom prst="rect">
            <a:avLst/>
          </a:prstGeom>
          <a:effectLst/>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2226466" y="4000499"/>
            <a:ext cx="15028070" cy="468630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4598984" y="8824913"/>
            <a:ext cx="1714500" cy="547688"/>
          </a:xfrm>
          <a:prstGeom prst="rect">
            <a:avLst/>
          </a:prstGeom>
        </p:spPr>
        <p:txBody>
          <a:bodyPr vert="horz" lIns="91440" tIns="45720" rIns="91440" bIns="45720" rtlCol="0" anchor="ctr"/>
          <a:lstStyle>
            <a:lvl1pPr algn="r">
              <a:defRPr sz="1500" b="0" i="0">
                <a:solidFill>
                  <a:schemeClr val="tx1"/>
                </a:solidFill>
                <a:effectLst/>
                <a:latin typeface="+mn-lt"/>
              </a:defRPr>
            </a:lvl1pPr>
          </a:lstStyle>
          <a:p>
            <a:fld id="{1D8BD707-D9CF-40AE-B4C6-C98DA3205C09}" type="datetimeFigureOut">
              <a:rPr lang="en-US" smtClean="0"/>
              <a:pPr/>
              <a:t>5/12/2026</a:t>
            </a:fld>
            <a:endParaRPr lang="en-US"/>
          </a:p>
        </p:txBody>
      </p:sp>
      <p:sp>
        <p:nvSpPr>
          <p:cNvPr id="5" name="Footer Placeholder 4"/>
          <p:cNvSpPr>
            <a:spLocks noGrp="1"/>
          </p:cNvSpPr>
          <p:nvPr>
            <p:ph type="ftr" sz="quarter" idx="3"/>
          </p:nvPr>
        </p:nvSpPr>
        <p:spPr>
          <a:xfrm>
            <a:off x="3858419" y="8824913"/>
            <a:ext cx="10626266" cy="547688"/>
          </a:xfrm>
          <a:prstGeom prst="rect">
            <a:avLst/>
          </a:prstGeom>
        </p:spPr>
        <p:txBody>
          <a:bodyPr vert="horz" lIns="91440" tIns="45720" rIns="91440" bIns="45720" rtlCol="0" anchor="ctr"/>
          <a:lstStyle>
            <a:lvl1pPr algn="l">
              <a:defRPr sz="15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6427785" y="8824913"/>
            <a:ext cx="826751" cy="547688"/>
          </a:xfrm>
          <a:prstGeom prst="rect">
            <a:avLst/>
          </a:prstGeom>
        </p:spPr>
        <p:txBody>
          <a:bodyPr vert="horz" lIns="91440" tIns="45720" rIns="91440" bIns="45720" rtlCol="0" anchor="ctr"/>
          <a:lstStyle>
            <a:lvl1pPr algn="r">
              <a:defRPr sz="1500" b="0" i="0">
                <a:solidFill>
                  <a:schemeClr val="tx1"/>
                </a:solidFill>
                <a:effectLst/>
                <a:latin typeface="+mn-lt"/>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618457058"/>
      </p:ext>
    </p:extLst>
  </p:cSld>
  <p:clrMap bg1="lt1" tx1="dk1" bg2="lt2" tx2="dk2" accent1="accent1" accent2="accent2" accent3="accent3" accent4="accent4" accent5="accent5" accent6="accent6" hlink="hlink" folHlink="folHlink"/>
  <p:sldLayoutIdLst>
    <p:sldLayoutId id="2147483840" r:id="rId1"/>
    <p:sldLayoutId id="2147483841" r:id="rId2"/>
    <p:sldLayoutId id="2147483842" r:id="rId3"/>
    <p:sldLayoutId id="2147483843" r:id="rId4"/>
    <p:sldLayoutId id="2147483844" r:id="rId5"/>
    <p:sldLayoutId id="2147483845" r:id="rId6"/>
    <p:sldLayoutId id="2147483846" r:id="rId7"/>
    <p:sldLayoutId id="2147483847" r:id="rId8"/>
    <p:sldLayoutId id="2147483848" r:id="rId9"/>
    <p:sldLayoutId id="2147483849" r:id="rId10"/>
    <p:sldLayoutId id="2147483850" r:id="rId11"/>
    <p:sldLayoutId id="2147483851" r:id="rId12"/>
    <p:sldLayoutId id="2147483852" r:id="rId13"/>
    <p:sldLayoutId id="2147483853" r:id="rId14"/>
    <p:sldLayoutId id="2147483854" r:id="rId15"/>
    <p:sldLayoutId id="2147483855" r:id="rId16"/>
    <p:sldLayoutId id="2147483856" r:id="rId17"/>
  </p:sldLayoutIdLst>
  <p:txStyles>
    <p:titleStyle>
      <a:lvl1pPr algn="ctr" defTabSz="685800" rtl="0" eaLnBrk="1" latinLnBrk="0" hangingPunct="1">
        <a:spcBef>
          <a:spcPct val="0"/>
        </a:spcBef>
        <a:buNone/>
        <a:defRPr sz="6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428625" indent="-428625" algn="l" defTabSz="685800" rtl="0" eaLnBrk="1" latinLnBrk="0" hangingPunct="1">
        <a:spcBef>
          <a:spcPct val="20000"/>
        </a:spcBef>
        <a:spcAft>
          <a:spcPts val="900"/>
        </a:spcAft>
        <a:buClr>
          <a:schemeClr val="accent1">
            <a:lumMod val="75000"/>
          </a:schemeClr>
        </a:buClr>
        <a:buSzPct val="145000"/>
        <a:buFont typeface="Arial"/>
        <a:buChar char="•"/>
        <a:defRPr sz="3600" kern="1200" cap="none">
          <a:solidFill>
            <a:schemeClr val="tx1"/>
          </a:solidFill>
          <a:effectLst/>
          <a:latin typeface="+mn-lt"/>
          <a:ea typeface="+mn-ea"/>
          <a:cs typeface="+mn-cs"/>
        </a:defRPr>
      </a:lvl1pPr>
      <a:lvl2pPr marL="1114425" indent="-428625" algn="l" defTabSz="685800" rtl="0" eaLnBrk="1" latinLnBrk="0" hangingPunct="1">
        <a:spcBef>
          <a:spcPct val="20000"/>
        </a:spcBef>
        <a:spcAft>
          <a:spcPts val="900"/>
        </a:spcAft>
        <a:buClr>
          <a:schemeClr val="accent1">
            <a:lumMod val="75000"/>
          </a:schemeClr>
        </a:buClr>
        <a:buSzPct val="145000"/>
        <a:buFont typeface="Arial"/>
        <a:buChar char="•"/>
        <a:defRPr sz="3000" kern="1200" cap="none">
          <a:solidFill>
            <a:schemeClr val="tx1"/>
          </a:solidFill>
          <a:effectLst/>
          <a:latin typeface="+mn-lt"/>
          <a:ea typeface="+mn-ea"/>
          <a:cs typeface="+mn-cs"/>
        </a:defRPr>
      </a:lvl2pPr>
      <a:lvl3pPr marL="1800225" indent="-428625" algn="l" defTabSz="685800" rtl="0" eaLnBrk="1" latinLnBrk="0" hangingPunct="1">
        <a:spcBef>
          <a:spcPct val="20000"/>
        </a:spcBef>
        <a:spcAft>
          <a:spcPts val="900"/>
        </a:spcAft>
        <a:buClr>
          <a:schemeClr val="accent1">
            <a:lumMod val="75000"/>
          </a:schemeClr>
        </a:buClr>
        <a:buSzPct val="145000"/>
        <a:buFont typeface="Arial"/>
        <a:buChar char="•"/>
        <a:defRPr sz="2700" kern="1200" cap="none">
          <a:solidFill>
            <a:schemeClr val="tx1"/>
          </a:solidFill>
          <a:effectLst/>
          <a:latin typeface="+mn-lt"/>
          <a:ea typeface="+mn-ea"/>
          <a:cs typeface="+mn-cs"/>
        </a:defRPr>
      </a:lvl3pPr>
      <a:lvl4pPr marL="2314575" indent="-257175" algn="l" defTabSz="685800" rtl="0" eaLnBrk="1" latinLnBrk="0" hangingPunct="1">
        <a:spcBef>
          <a:spcPct val="20000"/>
        </a:spcBef>
        <a:spcAft>
          <a:spcPts val="900"/>
        </a:spcAft>
        <a:buClr>
          <a:schemeClr val="accent1">
            <a:lumMod val="75000"/>
          </a:schemeClr>
        </a:buClr>
        <a:buSzPct val="145000"/>
        <a:buFont typeface="Arial"/>
        <a:buChar char="•"/>
        <a:defRPr sz="2400" kern="1200" cap="none">
          <a:solidFill>
            <a:schemeClr val="tx1"/>
          </a:solidFill>
          <a:effectLst/>
          <a:latin typeface="+mn-lt"/>
          <a:ea typeface="+mn-ea"/>
          <a:cs typeface="+mn-cs"/>
        </a:defRPr>
      </a:lvl4pPr>
      <a:lvl5pPr marL="3000375" indent="-257175" algn="l" defTabSz="685800" rtl="0" eaLnBrk="1" latinLnBrk="0" hangingPunct="1">
        <a:spcBef>
          <a:spcPct val="20000"/>
        </a:spcBef>
        <a:spcAft>
          <a:spcPts val="900"/>
        </a:spcAft>
        <a:buClr>
          <a:schemeClr val="accent1">
            <a:lumMod val="75000"/>
          </a:schemeClr>
        </a:buClr>
        <a:buSzPct val="145000"/>
        <a:buFont typeface="Arial"/>
        <a:buChar char="•"/>
        <a:defRPr sz="2100" kern="1200" cap="none">
          <a:solidFill>
            <a:schemeClr val="tx1"/>
          </a:solidFill>
          <a:effectLst/>
          <a:latin typeface="+mn-lt"/>
          <a:ea typeface="+mn-ea"/>
          <a:cs typeface="+mn-cs"/>
        </a:defRPr>
      </a:lvl5pPr>
      <a:lvl6pPr marL="3771900" indent="-342900" algn="l" defTabSz="685800" rtl="0" eaLnBrk="1" latinLnBrk="0" hangingPunct="1">
        <a:spcBef>
          <a:spcPct val="20000"/>
        </a:spcBef>
        <a:spcAft>
          <a:spcPts val="900"/>
        </a:spcAft>
        <a:buClr>
          <a:schemeClr val="accent1">
            <a:lumMod val="75000"/>
          </a:schemeClr>
        </a:buClr>
        <a:buSzPct val="145000"/>
        <a:buFont typeface="Arial"/>
        <a:buChar char="•"/>
        <a:defRPr sz="2100" kern="1200" cap="none">
          <a:solidFill>
            <a:schemeClr val="tx1"/>
          </a:solidFill>
          <a:effectLst/>
          <a:latin typeface="+mn-lt"/>
          <a:ea typeface="+mn-ea"/>
          <a:cs typeface="+mn-cs"/>
        </a:defRPr>
      </a:lvl6pPr>
      <a:lvl7pPr marL="4457700" indent="-342900" algn="l" defTabSz="685800" rtl="0" eaLnBrk="1" latinLnBrk="0" hangingPunct="1">
        <a:spcBef>
          <a:spcPct val="20000"/>
        </a:spcBef>
        <a:spcAft>
          <a:spcPts val="900"/>
        </a:spcAft>
        <a:buClr>
          <a:schemeClr val="accent1">
            <a:lumMod val="75000"/>
          </a:schemeClr>
        </a:buClr>
        <a:buSzPct val="145000"/>
        <a:buFont typeface="Arial"/>
        <a:buChar char="•"/>
        <a:defRPr sz="2100" kern="1200" cap="none">
          <a:solidFill>
            <a:schemeClr val="tx1"/>
          </a:solidFill>
          <a:effectLst/>
          <a:latin typeface="+mn-lt"/>
          <a:ea typeface="+mn-ea"/>
          <a:cs typeface="+mn-cs"/>
        </a:defRPr>
      </a:lvl7pPr>
      <a:lvl8pPr marL="5143500" indent="-342900" algn="l" defTabSz="685800" rtl="0" eaLnBrk="1" latinLnBrk="0" hangingPunct="1">
        <a:spcBef>
          <a:spcPct val="20000"/>
        </a:spcBef>
        <a:spcAft>
          <a:spcPts val="900"/>
        </a:spcAft>
        <a:buClr>
          <a:schemeClr val="accent1">
            <a:lumMod val="75000"/>
          </a:schemeClr>
        </a:buClr>
        <a:buSzPct val="145000"/>
        <a:buFont typeface="Arial"/>
        <a:buChar char="•"/>
        <a:defRPr sz="2100" kern="1200" cap="none">
          <a:solidFill>
            <a:schemeClr val="tx1"/>
          </a:solidFill>
          <a:effectLst/>
          <a:latin typeface="+mn-lt"/>
          <a:ea typeface="+mn-ea"/>
          <a:cs typeface="+mn-cs"/>
        </a:defRPr>
      </a:lvl8pPr>
      <a:lvl9pPr marL="5829300" indent="-342900" algn="l" defTabSz="685800" rtl="0" eaLnBrk="1" latinLnBrk="0" hangingPunct="1">
        <a:spcBef>
          <a:spcPct val="20000"/>
        </a:spcBef>
        <a:spcAft>
          <a:spcPts val="900"/>
        </a:spcAft>
        <a:buClr>
          <a:schemeClr val="accent1">
            <a:lumMod val="75000"/>
          </a:schemeClr>
        </a:buClr>
        <a:buSzPct val="145000"/>
        <a:buFont typeface="Arial"/>
        <a:buChar char="•"/>
        <a:defRPr sz="2100" kern="1200" cap="none">
          <a:solidFill>
            <a:schemeClr val="tx1"/>
          </a:solidFill>
          <a:effectLst/>
          <a:latin typeface="+mn-lt"/>
          <a:ea typeface="+mn-ea"/>
          <a:cs typeface="+mn-cs"/>
        </a:defRPr>
      </a:lvl9pPr>
    </p:bodyStyle>
    <p:other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7.svg"/><Relationship Id="rId2" Type="http://schemas.openxmlformats.org/officeDocument/2006/relationships/image" Target="../media/image2.svg"/><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7.svg"/><Relationship Id="rId2" Type="http://schemas.openxmlformats.org/officeDocument/2006/relationships/image" Target="../media/image2.svg"/><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slides/_rels/slide5.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hyperlink" Target="https://www.kaggle.com/datasets/pavansubhasht/ibm-hr-analytics-attrition-dataset?utm_source=chatgpt.com" TargetMode="External"/><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slides/_rels/slide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svg"/></Relationships>
</file>

<file path=ppt/slides/_rels/slide7.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14.pn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slides/_rels/slide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3.jpeg"/><Relationship Id="rId7"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5.svg"/></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5.svg"/></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5.svg"/></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5.svg"/></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5.svg"/></Relationships>
</file>

<file path=ppt/slides/_rels/slide1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7.svg"/><Relationship Id="rId2" Type="http://schemas.openxmlformats.org/officeDocument/2006/relationships/image" Target="../media/image2.svg"/><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slides/_rels/slide15.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21.sv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7.svg"/><Relationship Id="rId2" Type="http://schemas.openxmlformats.org/officeDocument/2006/relationships/image" Target="../media/image2.svg"/><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590701" y="-2352224"/>
            <a:ext cx="10818956" cy="6761848"/>
          </a:xfrm>
          <a:custGeom>
            <a:avLst/>
            <a:gdLst/>
            <a:ahLst/>
            <a:cxnLst/>
            <a:rect l="l" t="t" r="r" b="b"/>
            <a:pathLst>
              <a:path w="10818956" h="6761848">
                <a:moveTo>
                  <a:pt x="0" y="0"/>
                </a:moveTo>
                <a:lnTo>
                  <a:pt x="10818956" y="0"/>
                </a:lnTo>
                <a:lnTo>
                  <a:pt x="10818956" y="6761848"/>
                </a:lnTo>
                <a:lnTo>
                  <a:pt x="0" y="676184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a:off x="0" y="0"/>
            <a:ext cx="18288000" cy="12184380"/>
          </a:xfrm>
          <a:custGeom>
            <a:avLst/>
            <a:gdLst/>
            <a:ahLst/>
            <a:cxnLst/>
            <a:rect l="l" t="t" r="r" b="b"/>
            <a:pathLst>
              <a:path w="18288000" h="12184380">
                <a:moveTo>
                  <a:pt x="0" y="0"/>
                </a:moveTo>
                <a:lnTo>
                  <a:pt x="18288000" y="0"/>
                </a:lnTo>
                <a:lnTo>
                  <a:pt x="18288000" y="12184380"/>
                </a:lnTo>
                <a:lnTo>
                  <a:pt x="0" y="12184380"/>
                </a:lnTo>
                <a:lnTo>
                  <a:pt x="0" y="0"/>
                </a:lnTo>
                <a:close/>
              </a:path>
            </a:pathLst>
          </a:custGeom>
          <a:blipFill>
            <a:blip r:embed="rId3">
              <a:alphaModFix amt="26000"/>
            </a:blip>
            <a:stretch>
              <a:fillRect/>
            </a:stretch>
          </a:blipFill>
        </p:spPr>
        <p:txBody>
          <a:bodyPr/>
          <a:lstStyle/>
          <a:p>
            <a:endParaRPr lang="en-IN"/>
          </a:p>
        </p:txBody>
      </p:sp>
      <p:sp>
        <p:nvSpPr>
          <p:cNvPr id="4" name="Freeform 4"/>
          <p:cNvSpPr/>
          <p:nvPr/>
        </p:nvSpPr>
        <p:spPr>
          <a:xfrm>
            <a:off x="-682599" y="3235102"/>
            <a:ext cx="8249879" cy="8264906"/>
          </a:xfrm>
          <a:custGeom>
            <a:avLst/>
            <a:gdLst/>
            <a:ahLst/>
            <a:cxnLst/>
            <a:rect l="l" t="t" r="r" b="b"/>
            <a:pathLst>
              <a:path w="8249879" h="8264906">
                <a:moveTo>
                  <a:pt x="0" y="0"/>
                </a:moveTo>
                <a:lnTo>
                  <a:pt x="8249879" y="0"/>
                </a:lnTo>
                <a:lnTo>
                  <a:pt x="8249879" y="8264905"/>
                </a:lnTo>
                <a:lnTo>
                  <a:pt x="0" y="826490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5" name="Freeform 5"/>
          <p:cNvSpPr/>
          <p:nvPr/>
        </p:nvSpPr>
        <p:spPr>
          <a:xfrm>
            <a:off x="8173342" y="-1065755"/>
            <a:ext cx="11109641" cy="2819072"/>
          </a:xfrm>
          <a:custGeom>
            <a:avLst/>
            <a:gdLst/>
            <a:ahLst/>
            <a:cxnLst/>
            <a:rect l="l" t="t" r="r" b="b"/>
            <a:pathLst>
              <a:path w="11109641" h="2819072">
                <a:moveTo>
                  <a:pt x="0" y="0"/>
                </a:moveTo>
                <a:lnTo>
                  <a:pt x="11109642" y="0"/>
                </a:lnTo>
                <a:lnTo>
                  <a:pt x="11109642" y="2819071"/>
                </a:lnTo>
                <a:lnTo>
                  <a:pt x="0" y="281907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sp>
        <p:nvSpPr>
          <p:cNvPr id="6" name="Freeform 6"/>
          <p:cNvSpPr/>
          <p:nvPr/>
        </p:nvSpPr>
        <p:spPr>
          <a:xfrm rot="5400000">
            <a:off x="13127809" y="6100510"/>
            <a:ext cx="6730886" cy="6722065"/>
          </a:xfrm>
          <a:custGeom>
            <a:avLst/>
            <a:gdLst/>
            <a:ahLst/>
            <a:cxnLst/>
            <a:rect l="l" t="t" r="r" b="b"/>
            <a:pathLst>
              <a:path w="6730886" h="6722065">
                <a:moveTo>
                  <a:pt x="0" y="0"/>
                </a:moveTo>
                <a:lnTo>
                  <a:pt x="6730886" y="0"/>
                </a:lnTo>
                <a:lnTo>
                  <a:pt x="6730886" y="6722065"/>
                </a:lnTo>
                <a:lnTo>
                  <a:pt x="0" y="6722065"/>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IN"/>
          </a:p>
        </p:txBody>
      </p:sp>
      <p:sp>
        <p:nvSpPr>
          <p:cNvPr id="7" name="Freeform 7"/>
          <p:cNvSpPr/>
          <p:nvPr/>
        </p:nvSpPr>
        <p:spPr>
          <a:xfrm rot="7119350">
            <a:off x="-2131722" y="-460619"/>
            <a:ext cx="7280753" cy="4114800"/>
          </a:xfrm>
          <a:custGeom>
            <a:avLst/>
            <a:gdLst/>
            <a:ahLst/>
            <a:cxnLst/>
            <a:rect l="l" t="t" r="r" b="b"/>
            <a:pathLst>
              <a:path w="7280753" h="4114800">
                <a:moveTo>
                  <a:pt x="0" y="0"/>
                </a:moveTo>
                <a:lnTo>
                  <a:pt x="7280754" y="0"/>
                </a:lnTo>
                <a:lnTo>
                  <a:pt x="7280754" y="4114800"/>
                </a:lnTo>
                <a:lnTo>
                  <a:pt x="0" y="4114800"/>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IN"/>
          </a:p>
        </p:txBody>
      </p:sp>
      <p:sp>
        <p:nvSpPr>
          <p:cNvPr id="8" name="TextBox 8"/>
          <p:cNvSpPr txBox="1"/>
          <p:nvPr/>
        </p:nvSpPr>
        <p:spPr>
          <a:xfrm>
            <a:off x="1085411" y="2724114"/>
            <a:ext cx="17048698" cy="2318583"/>
          </a:xfrm>
          <a:prstGeom prst="rect">
            <a:avLst/>
          </a:prstGeom>
        </p:spPr>
        <p:txBody>
          <a:bodyPr wrap="square" lIns="0" tIns="0" rIns="0" bIns="0" rtlCol="0" anchor="t">
            <a:spAutoFit/>
          </a:bodyPr>
          <a:lstStyle/>
          <a:p>
            <a:pPr algn="ctr">
              <a:lnSpc>
                <a:spcPct val="150000"/>
              </a:lnSpc>
              <a:spcBef>
                <a:spcPct val="0"/>
              </a:spcBef>
            </a:pPr>
            <a:r>
              <a:rPr lang="en-US" sz="6600">
                <a:solidFill>
                  <a:srgbClr val="000000"/>
                </a:solidFill>
                <a:latin typeface="Norwester"/>
                <a:ea typeface="Norwester"/>
                <a:cs typeface="Norwester"/>
                <a:sym typeface="Norwester"/>
              </a:rPr>
              <a:t>PRESENTATION</a:t>
            </a:r>
          </a:p>
          <a:p>
            <a:pPr algn="ctr">
              <a:lnSpc>
                <a:spcPct val="150000"/>
              </a:lnSpc>
              <a:spcBef>
                <a:spcPct val="0"/>
              </a:spcBef>
            </a:pPr>
            <a:r>
              <a:rPr lang="en-US" sz="4000">
                <a:solidFill>
                  <a:srgbClr val="000000"/>
                </a:solidFill>
                <a:latin typeface="Norwester"/>
                <a:ea typeface="Norwester"/>
                <a:cs typeface="Norwester"/>
                <a:sym typeface="Norwester"/>
              </a:rPr>
              <a:t>    HR Analytics Dashboard: Employee Attrition and Retention Insights</a:t>
            </a:r>
          </a:p>
        </p:txBody>
      </p:sp>
      <p:sp>
        <p:nvSpPr>
          <p:cNvPr id="9" name="TextBox 9"/>
          <p:cNvSpPr txBox="1"/>
          <p:nvPr/>
        </p:nvSpPr>
        <p:spPr>
          <a:xfrm>
            <a:off x="8947972" y="6426038"/>
            <a:ext cx="8368494" cy="1381597"/>
          </a:xfrm>
          <a:prstGeom prst="rect">
            <a:avLst/>
          </a:prstGeom>
        </p:spPr>
        <p:txBody>
          <a:bodyPr lIns="0" tIns="0" rIns="0" bIns="0" rtlCol="0" anchor="t">
            <a:spAutoFit/>
          </a:bodyPr>
          <a:lstStyle/>
          <a:p>
            <a:pPr algn="ctr">
              <a:lnSpc>
                <a:spcPts val="12929"/>
              </a:lnSpc>
              <a:spcBef>
                <a:spcPct val="0"/>
              </a:spcBef>
            </a:pPr>
            <a:r>
              <a:rPr lang="en-US" sz="4400">
                <a:solidFill>
                  <a:srgbClr val="000000"/>
                </a:solidFill>
                <a:latin typeface="Norwester" panose="020B0604020202020204" charset="0"/>
                <a:ea typeface="Arapey"/>
                <a:cs typeface="Arapey"/>
                <a:sym typeface="Arapey"/>
              </a:rPr>
              <a:t>By Group 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2184380"/>
          </a:xfrm>
          <a:custGeom>
            <a:avLst/>
            <a:gdLst/>
            <a:ahLst/>
            <a:cxnLst/>
            <a:rect l="l" t="t" r="r" b="b"/>
            <a:pathLst>
              <a:path w="18288000" h="12184380">
                <a:moveTo>
                  <a:pt x="0" y="0"/>
                </a:moveTo>
                <a:lnTo>
                  <a:pt x="18288000" y="0"/>
                </a:lnTo>
                <a:lnTo>
                  <a:pt x="18288000" y="12184380"/>
                </a:lnTo>
                <a:lnTo>
                  <a:pt x="0" y="12184380"/>
                </a:lnTo>
                <a:lnTo>
                  <a:pt x="0" y="0"/>
                </a:lnTo>
                <a:close/>
              </a:path>
            </a:pathLst>
          </a:custGeom>
          <a:blipFill>
            <a:blip r:embed="rId3">
              <a:alphaModFix amt="26000"/>
            </a:blip>
            <a:stretch>
              <a:fillRect/>
            </a:stretch>
          </a:blipFill>
        </p:spPr>
        <p:txBody>
          <a:bodyPr/>
          <a:lstStyle/>
          <a:p>
            <a:endParaRPr lang="en-IN"/>
          </a:p>
        </p:txBody>
      </p:sp>
      <p:sp>
        <p:nvSpPr>
          <p:cNvPr id="3" name="Freeform 3"/>
          <p:cNvSpPr/>
          <p:nvPr/>
        </p:nvSpPr>
        <p:spPr>
          <a:xfrm>
            <a:off x="8173342" y="-1065755"/>
            <a:ext cx="11109641" cy="2819072"/>
          </a:xfrm>
          <a:custGeom>
            <a:avLst/>
            <a:gdLst/>
            <a:ahLst/>
            <a:cxnLst/>
            <a:rect l="l" t="t" r="r" b="b"/>
            <a:pathLst>
              <a:path w="11109641" h="2819072">
                <a:moveTo>
                  <a:pt x="0" y="0"/>
                </a:moveTo>
                <a:lnTo>
                  <a:pt x="11109642" y="0"/>
                </a:lnTo>
                <a:lnTo>
                  <a:pt x="11109642" y="2819071"/>
                </a:lnTo>
                <a:lnTo>
                  <a:pt x="0" y="281907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4" name="Freeform 4"/>
          <p:cNvSpPr/>
          <p:nvPr/>
        </p:nvSpPr>
        <p:spPr>
          <a:xfrm rot="5519627">
            <a:off x="15212169" y="3220447"/>
            <a:ext cx="7280753" cy="4114800"/>
          </a:xfrm>
          <a:custGeom>
            <a:avLst/>
            <a:gdLst/>
            <a:ahLst/>
            <a:cxnLst/>
            <a:rect l="l" t="t" r="r" b="b"/>
            <a:pathLst>
              <a:path w="7280753" h="4114800">
                <a:moveTo>
                  <a:pt x="0" y="0"/>
                </a:moveTo>
                <a:lnTo>
                  <a:pt x="7280753" y="0"/>
                </a:lnTo>
                <a:lnTo>
                  <a:pt x="7280753"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sp>
        <p:nvSpPr>
          <p:cNvPr id="5" name="Freeform 5"/>
          <p:cNvSpPr/>
          <p:nvPr/>
        </p:nvSpPr>
        <p:spPr>
          <a:xfrm>
            <a:off x="0" y="6517459"/>
            <a:ext cx="18633464" cy="9350611"/>
          </a:xfrm>
          <a:custGeom>
            <a:avLst/>
            <a:gdLst/>
            <a:ahLst/>
            <a:cxnLst/>
            <a:rect l="l" t="t" r="r" b="b"/>
            <a:pathLst>
              <a:path w="18633464" h="9350611">
                <a:moveTo>
                  <a:pt x="0" y="0"/>
                </a:moveTo>
                <a:lnTo>
                  <a:pt x="18633464" y="0"/>
                </a:lnTo>
                <a:lnTo>
                  <a:pt x="18633464" y="9350611"/>
                </a:lnTo>
                <a:lnTo>
                  <a:pt x="0" y="935061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IN"/>
          </a:p>
        </p:txBody>
      </p:sp>
      <p:grpSp>
        <p:nvGrpSpPr>
          <p:cNvPr id="6" name="Group 6"/>
          <p:cNvGrpSpPr/>
          <p:nvPr/>
        </p:nvGrpSpPr>
        <p:grpSpPr>
          <a:xfrm>
            <a:off x="1195457" y="967684"/>
            <a:ext cx="15897086" cy="8351632"/>
            <a:chOff x="0" y="0"/>
            <a:chExt cx="4186887" cy="2199607"/>
          </a:xfrm>
        </p:grpSpPr>
        <p:sp>
          <p:nvSpPr>
            <p:cNvPr id="7" name="Freeform 7"/>
            <p:cNvSpPr/>
            <p:nvPr/>
          </p:nvSpPr>
          <p:spPr>
            <a:xfrm>
              <a:off x="0" y="0"/>
              <a:ext cx="4186887" cy="2199607"/>
            </a:xfrm>
            <a:custGeom>
              <a:avLst/>
              <a:gdLst/>
              <a:ahLst/>
              <a:cxnLst/>
              <a:rect l="l" t="t" r="r" b="b"/>
              <a:pathLst>
                <a:path w="4186887" h="2199607">
                  <a:moveTo>
                    <a:pt x="24837" y="0"/>
                  </a:moveTo>
                  <a:lnTo>
                    <a:pt x="4162050" y="0"/>
                  </a:lnTo>
                  <a:cubicBezTo>
                    <a:pt x="4175767" y="0"/>
                    <a:pt x="4186887" y="11120"/>
                    <a:pt x="4186887" y="24837"/>
                  </a:cubicBezTo>
                  <a:lnTo>
                    <a:pt x="4186887" y="2174770"/>
                  </a:lnTo>
                  <a:cubicBezTo>
                    <a:pt x="4186887" y="2181357"/>
                    <a:pt x="4184270" y="2187674"/>
                    <a:pt x="4179612" y="2192332"/>
                  </a:cubicBezTo>
                  <a:cubicBezTo>
                    <a:pt x="4174954" y="2196990"/>
                    <a:pt x="4168637" y="2199607"/>
                    <a:pt x="4162050" y="2199607"/>
                  </a:cubicBezTo>
                  <a:lnTo>
                    <a:pt x="24837" y="2199607"/>
                  </a:lnTo>
                  <a:cubicBezTo>
                    <a:pt x="11120" y="2199607"/>
                    <a:pt x="0" y="2188487"/>
                    <a:pt x="0" y="2174770"/>
                  </a:cubicBezTo>
                  <a:lnTo>
                    <a:pt x="0" y="24837"/>
                  </a:lnTo>
                  <a:cubicBezTo>
                    <a:pt x="0" y="11120"/>
                    <a:pt x="11120" y="0"/>
                    <a:pt x="24837" y="0"/>
                  </a:cubicBezTo>
                  <a:close/>
                </a:path>
              </a:pathLst>
            </a:custGeom>
            <a:solidFill>
              <a:srgbClr val="FFFFFF">
                <a:alpha val="60784"/>
              </a:srgbClr>
            </a:solidFill>
          </p:spPr>
          <p:txBody>
            <a:bodyPr/>
            <a:lstStyle/>
            <a:p>
              <a:endParaRPr lang="en-IN"/>
            </a:p>
          </p:txBody>
        </p:sp>
        <p:sp>
          <p:nvSpPr>
            <p:cNvPr id="8" name="TextBox 8"/>
            <p:cNvSpPr txBox="1"/>
            <p:nvPr/>
          </p:nvSpPr>
          <p:spPr>
            <a:xfrm>
              <a:off x="0" y="-38100"/>
              <a:ext cx="4186887" cy="2237707"/>
            </a:xfrm>
            <a:prstGeom prst="rect">
              <a:avLst/>
            </a:prstGeom>
          </p:spPr>
          <p:txBody>
            <a:bodyPr lIns="50800" tIns="50800" rIns="50800" bIns="50800" rtlCol="0" anchor="ctr"/>
            <a:lstStyle/>
            <a:p>
              <a:pPr algn="ctr">
                <a:lnSpc>
                  <a:spcPts val="2659"/>
                </a:lnSpc>
                <a:spcBef>
                  <a:spcPct val="0"/>
                </a:spcBef>
              </a:pPr>
              <a:endParaRPr/>
            </a:p>
          </p:txBody>
        </p:sp>
      </p:grpSp>
      <p:sp>
        <p:nvSpPr>
          <p:cNvPr id="65" name="TextBox 10">
            <a:extLst>
              <a:ext uri="{FF2B5EF4-FFF2-40B4-BE49-F238E27FC236}">
                <a16:creationId xmlns:a16="http://schemas.microsoft.com/office/drawing/2014/main" id="{80720443-3814-124A-2BCF-9B71C6FB97EB}"/>
              </a:ext>
            </a:extLst>
          </p:cNvPr>
          <p:cNvSpPr txBox="1"/>
          <p:nvPr/>
        </p:nvSpPr>
        <p:spPr>
          <a:xfrm>
            <a:off x="2238909" y="1256203"/>
            <a:ext cx="6680068" cy="1519327"/>
          </a:xfrm>
          <a:prstGeom prst="rect">
            <a:avLst/>
          </a:prstGeom>
        </p:spPr>
        <p:txBody>
          <a:bodyPr lIns="0" tIns="0" rIns="0" bIns="0" rtlCol="0" anchor="t">
            <a:spAutoFit/>
          </a:bodyPr>
          <a:lstStyle/>
          <a:p>
            <a:pPr algn="l">
              <a:lnSpc>
                <a:spcPts val="13396"/>
              </a:lnSpc>
              <a:spcBef>
                <a:spcPct val="0"/>
              </a:spcBef>
            </a:pPr>
            <a:r>
              <a:rPr lang="en-US" sz="7200">
                <a:solidFill>
                  <a:srgbClr val="000000"/>
                </a:solidFill>
                <a:latin typeface="Arapey"/>
                <a:ea typeface="Arapey"/>
                <a:cs typeface="Arapey"/>
                <a:sym typeface="Arapey"/>
              </a:rPr>
              <a:t>Agenda</a:t>
            </a:r>
          </a:p>
        </p:txBody>
      </p:sp>
      <p:sp>
        <p:nvSpPr>
          <p:cNvPr id="62" name="TextBox 8">
            <a:extLst>
              <a:ext uri="{FF2B5EF4-FFF2-40B4-BE49-F238E27FC236}">
                <a16:creationId xmlns:a16="http://schemas.microsoft.com/office/drawing/2014/main" id="{B15AC76D-8701-B06C-59DE-7D10DCDBDE3B}"/>
              </a:ext>
            </a:extLst>
          </p:cNvPr>
          <p:cNvSpPr txBox="1"/>
          <p:nvPr/>
        </p:nvSpPr>
        <p:spPr>
          <a:xfrm>
            <a:off x="3362500" y="3450890"/>
            <a:ext cx="786418" cy="327030"/>
          </a:xfrm>
          <a:prstGeom prst="rect">
            <a:avLst/>
          </a:prstGeom>
        </p:spPr>
        <p:txBody>
          <a:bodyPr lIns="50800" tIns="50800" rIns="50800" bIns="50800" rtlCol="0" anchor="ctr"/>
          <a:lstStyle/>
          <a:p>
            <a:pPr algn="ctr">
              <a:lnSpc>
                <a:spcPts val="2481"/>
              </a:lnSpc>
            </a:pPr>
            <a:endParaRPr sz="3200"/>
          </a:p>
        </p:txBody>
      </p:sp>
      <p:sp>
        <p:nvSpPr>
          <p:cNvPr id="60" name="TextBox 14">
            <a:extLst>
              <a:ext uri="{FF2B5EF4-FFF2-40B4-BE49-F238E27FC236}">
                <a16:creationId xmlns:a16="http://schemas.microsoft.com/office/drawing/2014/main" id="{F3CA5423-80B7-D91D-2EBE-A12F2171CF80}"/>
              </a:ext>
            </a:extLst>
          </p:cNvPr>
          <p:cNvSpPr txBox="1"/>
          <p:nvPr/>
        </p:nvSpPr>
        <p:spPr>
          <a:xfrm>
            <a:off x="3362500" y="5203533"/>
            <a:ext cx="786418" cy="327030"/>
          </a:xfrm>
          <a:prstGeom prst="rect">
            <a:avLst/>
          </a:prstGeom>
        </p:spPr>
        <p:txBody>
          <a:bodyPr lIns="50800" tIns="50800" rIns="50800" bIns="50800" rtlCol="0" anchor="ctr"/>
          <a:lstStyle/>
          <a:p>
            <a:pPr algn="ctr">
              <a:lnSpc>
                <a:spcPts val="2481"/>
              </a:lnSpc>
            </a:pPr>
            <a:endParaRPr sz="3200"/>
          </a:p>
        </p:txBody>
      </p:sp>
      <p:sp>
        <p:nvSpPr>
          <p:cNvPr id="58" name="TextBox 26">
            <a:extLst>
              <a:ext uri="{FF2B5EF4-FFF2-40B4-BE49-F238E27FC236}">
                <a16:creationId xmlns:a16="http://schemas.microsoft.com/office/drawing/2014/main" id="{272E1BEA-EAB1-1288-8EB1-5D850EB5927C}"/>
              </a:ext>
            </a:extLst>
          </p:cNvPr>
          <p:cNvSpPr txBox="1"/>
          <p:nvPr/>
        </p:nvSpPr>
        <p:spPr>
          <a:xfrm>
            <a:off x="9460966" y="6065890"/>
            <a:ext cx="786419" cy="327029"/>
          </a:xfrm>
          <a:prstGeom prst="rect">
            <a:avLst/>
          </a:prstGeom>
        </p:spPr>
        <p:txBody>
          <a:bodyPr lIns="50800" tIns="50800" rIns="50800" bIns="50800" rtlCol="0" anchor="ctr"/>
          <a:lstStyle/>
          <a:p>
            <a:pPr algn="ctr">
              <a:lnSpc>
                <a:spcPts val="2481"/>
              </a:lnSpc>
            </a:pPr>
            <a:endParaRPr sz="3200"/>
          </a:p>
        </p:txBody>
      </p:sp>
      <p:sp>
        <p:nvSpPr>
          <p:cNvPr id="56" name="TextBox 11">
            <a:extLst>
              <a:ext uri="{FF2B5EF4-FFF2-40B4-BE49-F238E27FC236}">
                <a16:creationId xmlns:a16="http://schemas.microsoft.com/office/drawing/2014/main" id="{D8645122-D959-7FFC-9C40-0C1A30D13689}"/>
              </a:ext>
            </a:extLst>
          </p:cNvPr>
          <p:cNvSpPr txBox="1"/>
          <p:nvPr/>
        </p:nvSpPr>
        <p:spPr>
          <a:xfrm>
            <a:off x="3362496" y="4406128"/>
            <a:ext cx="786418" cy="327030"/>
          </a:xfrm>
          <a:prstGeom prst="rect">
            <a:avLst/>
          </a:prstGeom>
        </p:spPr>
        <p:txBody>
          <a:bodyPr lIns="50800" tIns="50800" rIns="50800" bIns="50800" rtlCol="0" anchor="ctr"/>
          <a:lstStyle/>
          <a:p>
            <a:pPr algn="ctr">
              <a:lnSpc>
                <a:spcPts val="2481"/>
              </a:lnSpc>
            </a:pPr>
            <a:endParaRPr sz="3200"/>
          </a:p>
        </p:txBody>
      </p:sp>
      <p:sp>
        <p:nvSpPr>
          <p:cNvPr id="53" name="Freeform 16">
            <a:extLst>
              <a:ext uri="{FF2B5EF4-FFF2-40B4-BE49-F238E27FC236}">
                <a16:creationId xmlns:a16="http://schemas.microsoft.com/office/drawing/2014/main" id="{BFC16629-4068-0C18-624D-542789EC201A}"/>
              </a:ext>
            </a:extLst>
          </p:cNvPr>
          <p:cNvSpPr/>
          <p:nvPr/>
        </p:nvSpPr>
        <p:spPr>
          <a:xfrm>
            <a:off x="4648200" y="3512769"/>
            <a:ext cx="475545" cy="563931"/>
          </a:xfrm>
          <a:custGeom>
            <a:avLst/>
            <a:gdLst/>
            <a:ahLst/>
            <a:cxnLst/>
            <a:rect l="l" t="t" r="r" b="b"/>
            <a:pathLst>
              <a:path w="208786" h="165842">
                <a:moveTo>
                  <a:pt x="0" y="0"/>
                </a:moveTo>
                <a:lnTo>
                  <a:pt x="208786" y="0"/>
                </a:lnTo>
                <a:lnTo>
                  <a:pt x="208786" y="165842"/>
                </a:lnTo>
                <a:lnTo>
                  <a:pt x="0" y="165842"/>
                </a:lnTo>
                <a:close/>
              </a:path>
            </a:pathLst>
          </a:custGeom>
          <a:solidFill>
            <a:srgbClr val="78A6CB">
              <a:alpha val="33725"/>
            </a:srgbClr>
          </a:solidFill>
        </p:spPr>
        <p:txBody>
          <a:bodyPr/>
          <a:lstStyle/>
          <a:p>
            <a:endParaRPr lang="en-IN" sz="3200"/>
          </a:p>
        </p:txBody>
      </p:sp>
      <p:sp>
        <p:nvSpPr>
          <p:cNvPr id="54" name="TextBox 17">
            <a:extLst>
              <a:ext uri="{FF2B5EF4-FFF2-40B4-BE49-F238E27FC236}">
                <a16:creationId xmlns:a16="http://schemas.microsoft.com/office/drawing/2014/main" id="{0285A7FF-98B8-DE76-AE47-6DA283AAA7AB}"/>
              </a:ext>
            </a:extLst>
          </p:cNvPr>
          <p:cNvSpPr txBox="1"/>
          <p:nvPr/>
        </p:nvSpPr>
        <p:spPr>
          <a:xfrm>
            <a:off x="9460962" y="3515841"/>
            <a:ext cx="786418" cy="327029"/>
          </a:xfrm>
          <a:prstGeom prst="rect">
            <a:avLst/>
          </a:prstGeom>
        </p:spPr>
        <p:txBody>
          <a:bodyPr lIns="50800" tIns="50800" rIns="50800" bIns="50800" rtlCol="0" anchor="ctr"/>
          <a:lstStyle/>
          <a:p>
            <a:pPr algn="ctr">
              <a:lnSpc>
                <a:spcPts val="2481"/>
              </a:lnSpc>
            </a:pPr>
            <a:endParaRPr sz="3200"/>
          </a:p>
        </p:txBody>
      </p:sp>
      <p:sp>
        <p:nvSpPr>
          <p:cNvPr id="52" name="TextBox 20">
            <a:extLst>
              <a:ext uri="{FF2B5EF4-FFF2-40B4-BE49-F238E27FC236}">
                <a16:creationId xmlns:a16="http://schemas.microsoft.com/office/drawing/2014/main" id="{BD78680B-D86D-8E35-D8DD-9BCCD1886729}"/>
              </a:ext>
            </a:extLst>
          </p:cNvPr>
          <p:cNvSpPr txBox="1"/>
          <p:nvPr/>
        </p:nvSpPr>
        <p:spPr>
          <a:xfrm>
            <a:off x="9460962" y="4392107"/>
            <a:ext cx="786418" cy="327029"/>
          </a:xfrm>
          <a:prstGeom prst="rect">
            <a:avLst/>
          </a:prstGeom>
        </p:spPr>
        <p:txBody>
          <a:bodyPr lIns="50800" tIns="50800" rIns="50800" bIns="50800" rtlCol="0" anchor="ctr"/>
          <a:lstStyle/>
          <a:p>
            <a:pPr algn="ctr">
              <a:lnSpc>
                <a:spcPts val="2481"/>
              </a:lnSpc>
            </a:pPr>
            <a:endParaRPr sz="3200"/>
          </a:p>
        </p:txBody>
      </p:sp>
      <p:sp>
        <p:nvSpPr>
          <p:cNvPr id="50" name="TextBox 23">
            <a:extLst>
              <a:ext uri="{FF2B5EF4-FFF2-40B4-BE49-F238E27FC236}">
                <a16:creationId xmlns:a16="http://schemas.microsoft.com/office/drawing/2014/main" id="{AFF2B3F4-40A3-1A92-1B87-6F42F7A4F7CF}"/>
              </a:ext>
            </a:extLst>
          </p:cNvPr>
          <p:cNvSpPr txBox="1"/>
          <p:nvPr/>
        </p:nvSpPr>
        <p:spPr>
          <a:xfrm>
            <a:off x="9460962" y="5268484"/>
            <a:ext cx="786419" cy="327030"/>
          </a:xfrm>
          <a:prstGeom prst="rect">
            <a:avLst/>
          </a:prstGeom>
        </p:spPr>
        <p:txBody>
          <a:bodyPr lIns="50800" tIns="50800" rIns="50800" bIns="50800" rtlCol="0" anchor="ctr"/>
          <a:lstStyle/>
          <a:p>
            <a:pPr algn="ctr">
              <a:lnSpc>
                <a:spcPts val="2481"/>
              </a:lnSpc>
            </a:pPr>
            <a:endParaRPr sz="3200"/>
          </a:p>
        </p:txBody>
      </p:sp>
      <p:sp>
        <p:nvSpPr>
          <p:cNvPr id="48" name="TextBox 29">
            <a:extLst>
              <a:ext uri="{FF2B5EF4-FFF2-40B4-BE49-F238E27FC236}">
                <a16:creationId xmlns:a16="http://schemas.microsoft.com/office/drawing/2014/main" id="{62E1A376-389D-E079-4BE2-3464973C25EA}"/>
              </a:ext>
            </a:extLst>
          </p:cNvPr>
          <p:cNvSpPr txBox="1"/>
          <p:nvPr/>
        </p:nvSpPr>
        <p:spPr>
          <a:xfrm>
            <a:off x="3362496" y="6144862"/>
            <a:ext cx="786418" cy="326978"/>
          </a:xfrm>
          <a:prstGeom prst="rect">
            <a:avLst/>
          </a:prstGeom>
        </p:spPr>
        <p:txBody>
          <a:bodyPr lIns="50800" tIns="50800" rIns="50800" bIns="50800" rtlCol="0" anchor="ctr"/>
          <a:lstStyle/>
          <a:p>
            <a:pPr algn="ctr">
              <a:lnSpc>
                <a:spcPts val="2481"/>
              </a:lnSpc>
            </a:pPr>
            <a:endParaRPr sz="3200"/>
          </a:p>
        </p:txBody>
      </p:sp>
      <p:sp>
        <p:nvSpPr>
          <p:cNvPr id="82" name="TextBox 47">
            <a:extLst>
              <a:ext uri="{FF2B5EF4-FFF2-40B4-BE49-F238E27FC236}">
                <a16:creationId xmlns:a16="http://schemas.microsoft.com/office/drawing/2014/main" id="{01BAD01E-7B41-0748-C806-7F448C5E813C}"/>
              </a:ext>
            </a:extLst>
          </p:cNvPr>
          <p:cNvSpPr txBox="1"/>
          <p:nvPr/>
        </p:nvSpPr>
        <p:spPr>
          <a:xfrm>
            <a:off x="4765568" y="3374393"/>
            <a:ext cx="10322032" cy="4355359"/>
          </a:xfrm>
          <a:prstGeom prst="rect">
            <a:avLst/>
          </a:prstGeom>
        </p:spPr>
        <p:txBody>
          <a:bodyPr wrap="square" lIns="0" tIns="0" rIns="0" bIns="0" rtlCol="0" anchor="t">
            <a:spAutoFit/>
          </a:bodyPr>
          <a:lstStyle/>
          <a:p>
            <a:pPr>
              <a:lnSpc>
                <a:spcPct val="150000"/>
              </a:lnSpc>
            </a:pPr>
            <a:r>
              <a:rPr lang="en-US" sz="3200" spc="195">
                <a:solidFill>
                  <a:srgbClr val="0D1C38"/>
                </a:solidFill>
                <a:latin typeface="Assistant"/>
                <a:ea typeface="Assistant"/>
                <a:cs typeface="Assistant"/>
                <a:sym typeface="Assistant"/>
              </a:rPr>
              <a:t>1. Project Overview                  7.  Power BI Dashboard</a:t>
            </a:r>
          </a:p>
          <a:p>
            <a:pPr>
              <a:lnSpc>
                <a:spcPct val="150000"/>
              </a:lnSpc>
            </a:pPr>
            <a:r>
              <a:rPr lang="en-US" sz="3200" spc="195">
                <a:solidFill>
                  <a:srgbClr val="0D1C38"/>
                </a:solidFill>
                <a:latin typeface="Assistant"/>
                <a:ea typeface="Assistant"/>
                <a:cs typeface="Assistant"/>
                <a:sym typeface="Assistant"/>
              </a:rPr>
              <a:t>2. Group Details                        8.  Tableau Dashboard           </a:t>
            </a:r>
          </a:p>
          <a:p>
            <a:pPr>
              <a:lnSpc>
                <a:spcPct val="150000"/>
              </a:lnSpc>
            </a:pPr>
            <a:r>
              <a:rPr lang="en-US" sz="3200" spc="195">
                <a:solidFill>
                  <a:srgbClr val="0D1C38"/>
                </a:solidFill>
                <a:latin typeface="Assistant"/>
                <a:ea typeface="Assistant"/>
                <a:cs typeface="Assistant"/>
                <a:sym typeface="Assistant"/>
              </a:rPr>
              <a:t>3. Dataset Overview                 9.  Key Insights</a:t>
            </a:r>
          </a:p>
          <a:p>
            <a:pPr>
              <a:lnSpc>
                <a:spcPct val="150000"/>
              </a:lnSpc>
            </a:pPr>
            <a:r>
              <a:rPr lang="en-US" sz="3200" spc="195">
                <a:solidFill>
                  <a:srgbClr val="0D1C38"/>
                </a:solidFill>
                <a:latin typeface="Assistant"/>
                <a:ea typeface="Assistant"/>
                <a:cs typeface="Assistant"/>
                <a:sym typeface="Assistant"/>
              </a:rPr>
              <a:t>4. Problem Statement             10. Recommendations   </a:t>
            </a:r>
          </a:p>
          <a:p>
            <a:pPr>
              <a:lnSpc>
                <a:spcPct val="150000"/>
              </a:lnSpc>
            </a:pPr>
            <a:r>
              <a:rPr lang="en-US" sz="3200" spc="195">
                <a:solidFill>
                  <a:srgbClr val="0D1C38"/>
                </a:solidFill>
                <a:latin typeface="Assistant"/>
                <a:ea typeface="Assistant"/>
                <a:cs typeface="Assistant"/>
                <a:sym typeface="Assistant"/>
              </a:rPr>
              <a:t>5. Excel Dashboard                  11. Conclusion</a:t>
            </a:r>
          </a:p>
          <a:p>
            <a:pPr>
              <a:lnSpc>
                <a:spcPct val="150000"/>
              </a:lnSpc>
            </a:pPr>
            <a:r>
              <a:rPr lang="en-US" sz="3200" spc="195">
                <a:solidFill>
                  <a:srgbClr val="0D1C38"/>
                </a:solidFill>
                <a:latin typeface="Assistant"/>
                <a:ea typeface="Assistant"/>
                <a:cs typeface="Assistant"/>
                <a:sym typeface="Assistant"/>
              </a:rPr>
              <a:t>6. MySQL Scripts</a:t>
            </a:r>
          </a:p>
        </p:txBody>
      </p:sp>
      <p:sp>
        <p:nvSpPr>
          <p:cNvPr id="83" name="Freeform 16">
            <a:extLst>
              <a:ext uri="{FF2B5EF4-FFF2-40B4-BE49-F238E27FC236}">
                <a16:creationId xmlns:a16="http://schemas.microsoft.com/office/drawing/2014/main" id="{66896854-AABA-B9A9-74BC-1A45E37FDEF8}"/>
              </a:ext>
            </a:extLst>
          </p:cNvPr>
          <p:cNvSpPr/>
          <p:nvPr/>
        </p:nvSpPr>
        <p:spPr>
          <a:xfrm>
            <a:off x="4648200" y="4303565"/>
            <a:ext cx="475545" cy="458935"/>
          </a:xfrm>
          <a:custGeom>
            <a:avLst/>
            <a:gdLst/>
            <a:ahLst/>
            <a:cxnLst/>
            <a:rect l="l" t="t" r="r" b="b"/>
            <a:pathLst>
              <a:path w="208786" h="165842">
                <a:moveTo>
                  <a:pt x="0" y="0"/>
                </a:moveTo>
                <a:lnTo>
                  <a:pt x="208786" y="0"/>
                </a:lnTo>
                <a:lnTo>
                  <a:pt x="208786" y="165842"/>
                </a:lnTo>
                <a:lnTo>
                  <a:pt x="0" y="165842"/>
                </a:lnTo>
                <a:close/>
              </a:path>
            </a:pathLst>
          </a:custGeom>
          <a:solidFill>
            <a:srgbClr val="78A6CB">
              <a:alpha val="33725"/>
            </a:srgbClr>
          </a:solidFill>
        </p:spPr>
        <p:txBody>
          <a:bodyPr/>
          <a:lstStyle/>
          <a:p>
            <a:endParaRPr lang="en-IN" sz="3200"/>
          </a:p>
        </p:txBody>
      </p:sp>
      <p:sp>
        <p:nvSpPr>
          <p:cNvPr id="84" name="Freeform 16">
            <a:extLst>
              <a:ext uri="{FF2B5EF4-FFF2-40B4-BE49-F238E27FC236}">
                <a16:creationId xmlns:a16="http://schemas.microsoft.com/office/drawing/2014/main" id="{D4A9DDD5-3B3A-2F38-5944-670263E98848}"/>
              </a:ext>
            </a:extLst>
          </p:cNvPr>
          <p:cNvSpPr/>
          <p:nvPr/>
        </p:nvSpPr>
        <p:spPr>
          <a:xfrm>
            <a:off x="4648200" y="4975911"/>
            <a:ext cx="475545" cy="563931"/>
          </a:xfrm>
          <a:custGeom>
            <a:avLst/>
            <a:gdLst/>
            <a:ahLst/>
            <a:cxnLst/>
            <a:rect l="l" t="t" r="r" b="b"/>
            <a:pathLst>
              <a:path w="208786" h="165842">
                <a:moveTo>
                  <a:pt x="0" y="0"/>
                </a:moveTo>
                <a:lnTo>
                  <a:pt x="208786" y="0"/>
                </a:lnTo>
                <a:lnTo>
                  <a:pt x="208786" y="165842"/>
                </a:lnTo>
                <a:lnTo>
                  <a:pt x="0" y="165842"/>
                </a:lnTo>
                <a:close/>
              </a:path>
            </a:pathLst>
          </a:custGeom>
          <a:solidFill>
            <a:srgbClr val="78A6CB">
              <a:alpha val="33725"/>
            </a:srgbClr>
          </a:solidFill>
        </p:spPr>
        <p:txBody>
          <a:bodyPr/>
          <a:lstStyle/>
          <a:p>
            <a:endParaRPr lang="en-IN" sz="3200"/>
          </a:p>
        </p:txBody>
      </p:sp>
      <p:sp>
        <p:nvSpPr>
          <p:cNvPr id="85" name="Freeform 16">
            <a:extLst>
              <a:ext uri="{FF2B5EF4-FFF2-40B4-BE49-F238E27FC236}">
                <a16:creationId xmlns:a16="http://schemas.microsoft.com/office/drawing/2014/main" id="{6EDFFE16-584E-C1C7-3234-F30B450BDBFB}"/>
              </a:ext>
            </a:extLst>
          </p:cNvPr>
          <p:cNvSpPr/>
          <p:nvPr/>
        </p:nvSpPr>
        <p:spPr>
          <a:xfrm>
            <a:off x="4648200" y="5726663"/>
            <a:ext cx="475545" cy="563931"/>
          </a:xfrm>
          <a:custGeom>
            <a:avLst/>
            <a:gdLst/>
            <a:ahLst/>
            <a:cxnLst/>
            <a:rect l="l" t="t" r="r" b="b"/>
            <a:pathLst>
              <a:path w="208786" h="165842">
                <a:moveTo>
                  <a:pt x="0" y="0"/>
                </a:moveTo>
                <a:lnTo>
                  <a:pt x="208786" y="0"/>
                </a:lnTo>
                <a:lnTo>
                  <a:pt x="208786" y="165842"/>
                </a:lnTo>
                <a:lnTo>
                  <a:pt x="0" y="165842"/>
                </a:lnTo>
                <a:close/>
              </a:path>
            </a:pathLst>
          </a:custGeom>
          <a:solidFill>
            <a:srgbClr val="78A6CB">
              <a:alpha val="33725"/>
            </a:srgbClr>
          </a:solidFill>
        </p:spPr>
        <p:txBody>
          <a:bodyPr/>
          <a:lstStyle/>
          <a:p>
            <a:endParaRPr lang="en-IN" sz="3200"/>
          </a:p>
        </p:txBody>
      </p:sp>
      <p:sp>
        <p:nvSpPr>
          <p:cNvPr id="86" name="Freeform 16">
            <a:extLst>
              <a:ext uri="{FF2B5EF4-FFF2-40B4-BE49-F238E27FC236}">
                <a16:creationId xmlns:a16="http://schemas.microsoft.com/office/drawing/2014/main" id="{295A2E38-434F-D8BC-6619-55F45DFE6FB1}"/>
              </a:ext>
            </a:extLst>
          </p:cNvPr>
          <p:cNvSpPr/>
          <p:nvPr/>
        </p:nvSpPr>
        <p:spPr>
          <a:xfrm>
            <a:off x="4648200" y="6435255"/>
            <a:ext cx="475545" cy="563931"/>
          </a:xfrm>
          <a:custGeom>
            <a:avLst/>
            <a:gdLst/>
            <a:ahLst/>
            <a:cxnLst/>
            <a:rect l="l" t="t" r="r" b="b"/>
            <a:pathLst>
              <a:path w="208786" h="165842">
                <a:moveTo>
                  <a:pt x="0" y="0"/>
                </a:moveTo>
                <a:lnTo>
                  <a:pt x="208786" y="0"/>
                </a:lnTo>
                <a:lnTo>
                  <a:pt x="208786" y="165842"/>
                </a:lnTo>
                <a:lnTo>
                  <a:pt x="0" y="165842"/>
                </a:lnTo>
                <a:close/>
              </a:path>
            </a:pathLst>
          </a:custGeom>
          <a:solidFill>
            <a:srgbClr val="78A6CB">
              <a:alpha val="33725"/>
            </a:srgbClr>
          </a:solidFill>
        </p:spPr>
        <p:txBody>
          <a:bodyPr/>
          <a:lstStyle/>
          <a:p>
            <a:endParaRPr lang="en-IN" sz="3200"/>
          </a:p>
        </p:txBody>
      </p:sp>
      <p:sp>
        <p:nvSpPr>
          <p:cNvPr id="87" name="Freeform 16">
            <a:extLst>
              <a:ext uri="{FF2B5EF4-FFF2-40B4-BE49-F238E27FC236}">
                <a16:creationId xmlns:a16="http://schemas.microsoft.com/office/drawing/2014/main" id="{C035C1E3-C78E-A529-5A03-ACC32F6192C2}"/>
              </a:ext>
            </a:extLst>
          </p:cNvPr>
          <p:cNvSpPr/>
          <p:nvPr/>
        </p:nvSpPr>
        <p:spPr>
          <a:xfrm>
            <a:off x="4648200" y="7160918"/>
            <a:ext cx="475545" cy="563931"/>
          </a:xfrm>
          <a:custGeom>
            <a:avLst/>
            <a:gdLst/>
            <a:ahLst/>
            <a:cxnLst/>
            <a:rect l="l" t="t" r="r" b="b"/>
            <a:pathLst>
              <a:path w="208786" h="165842">
                <a:moveTo>
                  <a:pt x="0" y="0"/>
                </a:moveTo>
                <a:lnTo>
                  <a:pt x="208786" y="0"/>
                </a:lnTo>
                <a:lnTo>
                  <a:pt x="208786" y="165842"/>
                </a:lnTo>
                <a:lnTo>
                  <a:pt x="0" y="165842"/>
                </a:lnTo>
                <a:close/>
              </a:path>
            </a:pathLst>
          </a:custGeom>
          <a:solidFill>
            <a:srgbClr val="78A6CB">
              <a:alpha val="33725"/>
            </a:srgbClr>
          </a:solidFill>
        </p:spPr>
        <p:txBody>
          <a:bodyPr/>
          <a:lstStyle/>
          <a:p>
            <a:endParaRPr lang="en-IN" sz="3200"/>
          </a:p>
        </p:txBody>
      </p:sp>
      <p:sp>
        <p:nvSpPr>
          <p:cNvPr id="88" name="Freeform 16">
            <a:extLst>
              <a:ext uri="{FF2B5EF4-FFF2-40B4-BE49-F238E27FC236}">
                <a16:creationId xmlns:a16="http://schemas.microsoft.com/office/drawing/2014/main" id="{374D116C-AD27-7076-D861-08186E194BA2}"/>
              </a:ext>
            </a:extLst>
          </p:cNvPr>
          <p:cNvSpPr/>
          <p:nvPr/>
        </p:nvSpPr>
        <p:spPr>
          <a:xfrm>
            <a:off x="10247380" y="3532728"/>
            <a:ext cx="475545" cy="563931"/>
          </a:xfrm>
          <a:custGeom>
            <a:avLst/>
            <a:gdLst/>
            <a:ahLst/>
            <a:cxnLst/>
            <a:rect l="l" t="t" r="r" b="b"/>
            <a:pathLst>
              <a:path w="208786" h="165842">
                <a:moveTo>
                  <a:pt x="0" y="0"/>
                </a:moveTo>
                <a:lnTo>
                  <a:pt x="208786" y="0"/>
                </a:lnTo>
                <a:lnTo>
                  <a:pt x="208786" y="165842"/>
                </a:lnTo>
                <a:lnTo>
                  <a:pt x="0" y="165842"/>
                </a:lnTo>
                <a:close/>
              </a:path>
            </a:pathLst>
          </a:custGeom>
          <a:solidFill>
            <a:srgbClr val="78A6CB">
              <a:alpha val="33725"/>
            </a:srgbClr>
          </a:solidFill>
        </p:spPr>
        <p:txBody>
          <a:bodyPr/>
          <a:lstStyle/>
          <a:p>
            <a:endParaRPr lang="en-IN" sz="3200"/>
          </a:p>
        </p:txBody>
      </p:sp>
      <p:sp>
        <p:nvSpPr>
          <p:cNvPr id="89" name="Freeform 16">
            <a:extLst>
              <a:ext uri="{FF2B5EF4-FFF2-40B4-BE49-F238E27FC236}">
                <a16:creationId xmlns:a16="http://schemas.microsoft.com/office/drawing/2014/main" id="{63919498-B340-D7C5-FFE8-4BA02990E0F3}"/>
              </a:ext>
            </a:extLst>
          </p:cNvPr>
          <p:cNvSpPr/>
          <p:nvPr/>
        </p:nvSpPr>
        <p:spPr>
          <a:xfrm>
            <a:off x="10269326" y="4254994"/>
            <a:ext cx="475545" cy="508980"/>
          </a:xfrm>
          <a:custGeom>
            <a:avLst/>
            <a:gdLst/>
            <a:ahLst/>
            <a:cxnLst/>
            <a:rect l="l" t="t" r="r" b="b"/>
            <a:pathLst>
              <a:path w="208786" h="165842">
                <a:moveTo>
                  <a:pt x="0" y="0"/>
                </a:moveTo>
                <a:lnTo>
                  <a:pt x="208786" y="0"/>
                </a:lnTo>
                <a:lnTo>
                  <a:pt x="208786" y="165842"/>
                </a:lnTo>
                <a:lnTo>
                  <a:pt x="0" y="165842"/>
                </a:lnTo>
                <a:close/>
              </a:path>
            </a:pathLst>
          </a:custGeom>
          <a:solidFill>
            <a:srgbClr val="78A6CB">
              <a:alpha val="33725"/>
            </a:srgbClr>
          </a:solidFill>
        </p:spPr>
        <p:txBody>
          <a:bodyPr/>
          <a:lstStyle/>
          <a:p>
            <a:endParaRPr lang="en-IN" sz="3200"/>
          </a:p>
        </p:txBody>
      </p:sp>
      <p:sp>
        <p:nvSpPr>
          <p:cNvPr id="90" name="Freeform 16">
            <a:extLst>
              <a:ext uri="{FF2B5EF4-FFF2-40B4-BE49-F238E27FC236}">
                <a16:creationId xmlns:a16="http://schemas.microsoft.com/office/drawing/2014/main" id="{6A265801-1A54-5F5E-1236-5CD302C53D16}"/>
              </a:ext>
            </a:extLst>
          </p:cNvPr>
          <p:cNvSpPr/>
          <p:nvPr/>
        </p:nvSpPr>
        <p:spPr>
          <a:xfrm>
            <a:off x="10269326" y="4965107"/>
            <a:ext cx="475545" cy="563931"/>
          </a:xfrm>
          <a:custGeom>
            <a:avLst/>
            <a:gdLst/>
            <a:ahLst/>
            <a:cxnLst/>
            <a:rect l="l" t="t" r="r" b="b"/>
            <a:pathLst>
              <a:path w="208786" h="165842">
                <a:moveTo>
                  <a:pt x="0" y="0"/>
                </a:moveTo>
                <a:lnTo>
                  <a:pt x="208786" y="0"/>
                </a:lnTo>
                <a:lnTo>
                  <a:pt x="208786" y="165842"/>
                </a:lnTo>
                <a:lnTo>
                  <a:pt x="0" y="165842"/>
                </a:lnTo>
                <a:close/>
              </a:path>
            </a:pathLst>
          </a:custGeom>
          <a:solidFill>
            <a:srgbClr val="78A6CB">
              <a:alpha val="33725"/>
            </a:srgbClr>
          </a:solidFill>
        </p:spPr>
        <p:txBody>
          <a:bodyPr/>
          <a:lstStyle/>
          <a:p>
            <a:endParaRPr lang="en-IN" sz="3200"/>
          </a:p>
        </p:txBody>
      </p:sp>
      <p:sp>
        <p:nvSpPr>
          <p:cNvPr id="91" name="Freeform 16">
            <a:extLst>
              <a:ext uri="{FF2B5EF4-FFF2-40B4-BE49-F238E27FC236}">
                <a16:creationId xmlns:a16="http://schemas.microsoft.com/office/drawing/2014/main" id="{6DF45190-1C98-79E8-ACEB-CFD8FA5487D4}"/>
              </a:ext>
            </a:extLst>
          </p:cNvPr>
          <p:cNvSpPr/>
          <p:nvPr/>
        </p:nvSpPr>
        <p:spPr>
          <a:xfrm>
            <a:off x="10247380" y="5744421"/>
            <a:ext cx="616655" cy="508980"/>
          </a:xfrm>
          <a:custGeom>
            <a:avLst/>
            <a:gdLst/>
            <a:ahLst/>
            <a:cxnLst/>
            <a:rect l="l" t="t" r="r" b="b"/>
            <a:pathLst>
              <a:path w="208786" h="165842">
                <a:moveTo>
                  <a:pt x="0" y="0"/>
                </a:moveTo>
                <a:lnTo>
                  <a:pt x="208786" y="0"/>
                </a:lnTo>
                <a:lnTo>
                  <a:pt x="208786" y="165842"/>
                </a:lnTo>
                <a:lnTo>
                  <a:pt x="0" y="165842"/>
                </a:lnTo>
                <a:close/>
              </a:path>
            </a:pathLst>
          </a:custGeom>
          <a:solidFill>
            <a:srgbClr val="78A6CB">
              <a:alpha val="33725"/>
            </a:srgbClr>
          </a:solidFill>
        </p:spPr>
        <p:txBody>
          <a:bodyPr/>
          <a:lstStyle/>
          <a:p>
            <a:endParaRPr lang="en-IN" sz="3200"/>
          </a:p>
        </p:txBody>
      </p:sp>
      <p:sp>
        <p:nvSpPr>
          <p:cNvPr id="92" name="Freeform 16">
            <a:extLst>
              <a:ext uri="{FF2B5EF4-FFF2-40B4-BE49-F238E27FC236}">
                <a16:creationId xmlns:a16="http://schemas.microsoft.com/office/drawing/2014/main" id="{4063181B-DBB0-59D8-7978-E3B65EB1439B}"/>
              </a:ext>
            </a:extLst>
          </p:cNvPr>
          <p:cNvSpPr/>
          <p:nvPr/>
        </p:nvSpPr>
        <p:spPr>
          <a:xfrm>
            <a:off x="10268655" y="6438900"/>
            <a:ext cx="577035" cy="508981"/>
          </a:xfrm>
          <a:custGeom>
            <a:avLst/>
            <a:gdLst/>
            <a:ahLst/>
            <a:cxnLst/>
            <a:rect l="l" t="t" r="r" b="b"/>
            <a:pathLst>
              <a:path w="208786" h="165842">
                <a:moveTo>
                  <a:pt x="0" y="0"/>
                </a:moveTo>
                <a:lnTo>
                  <a:pt x="208786" y="0"/>
                </a:lnTo>
                <a:lnTo>
                  <a:pt x="208786" y="165842"/>
                </a:lnTo>
                <a:lnTo>
                  <a:pt x="0" y="165842"/>
                </a:lnTo>
                <a:close/>
              </a:path>
            </a:pathLst>
          </a:custGeom>
          <a:solidFill>
            <a:srgbClr val="78A6CB">
              <a:alpha val="33725"/>
            </a:srgbClr>
          </a:solidFill>
        </p:spPr>
        <p:txBody>
          <a:bodyPr/>
          <a:lstStyle/>
          <a:p>
            <a:endParaRPr lang="en-IN" sz="32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590701" y="-2352224"/>
            <a:ext cx="10818956" cy="6761848"/>
          </a:xfrm>
          <a:custGeom>
            <a:avLst/>
            <a:gdLst/>
            <a:ahLst/>
            <a:cxnLst/>
            <a:rect l="l" t="t" r="r" b="b"/>
            <a:pathLst>
              <a:path w="10818956" h="6761848">
                <a:moveTo>
                  <a:pt x="0" y="0"/>
                </a:moveTo>
                <a:lnTo>
                  <a:pt x="10818956" y="0"/>
                </a:lnTo>
                <a:lnTo>
                  <a:pt x="10818956" y="6761848"/>
                </a:lnTo>
                <a:lnTo>
                  <a:pt x="0" y="676184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a:off x="0" y="0"/>
            <a:ext cx="18288000" cy="12184380"/>
          </a:xfrm>
          <a:custGeom>
            <a:avLst/>
            <a:gdLst/>
            <a:ahLst/>
            <a:cxnLst/>
            <a:rect l="l" t="t" r="r" b="b"/>
            <a:pathLst>
              <a:path w="18288000" h="12184380">
                <a:moveTo>
                  <a:pt x="0" y="0"/>
                </a:moveTo>
                <a:lnTo>
                  <a:pt x="18288000" y="0"/>
                </a:lnTo>
                <a:lnTo>
                  <a:pt x="18288000" y="12184380"/>
                </a:lnTo>
                <a:lnTo>
                  <a:pt x="0" y="12184380"/>
                </a:lnTo>
                <a:lnTo>
                  <a:pt x="0" y="0"/>
                </a:lnTo>
                <a:close/>
              </a:path>
            </a:pathLst>
          </a:custGeom>
          <a:blipFill>
            <a:blip r:embed="rId3">
              <a:alphaModFix amt="26000"/>
            </a:blip>
            <a:stretch>
              <a:fillRect/>
            </a:stretch>
          </a:blipFill>
        </p:spPr>
        <p:txBody>
          <a:bodyPr/>
          <a:lstStyle/>
          <a:p>
            <a:endParaRPr lang="en-IN"/>
          </a:p>
        </p:txBody>
      </p:sp>
      <p:sp>
        <p:nvSpPr>
          <p:cNvPr id="4" name="Freeform 4"/>
          <p:cNvSpPr/>
          <p:nvPr/>
        </p:nvSpPr>
        <p:spPr>
          <a:xfrm>
            <a:off x="-682599" y="3235102"/>
            <a:ext cx="8249879" cy="8264906"/>
          </a:xfrm>
          <a:custGeom>
            <a:avLst/>
            <a:gdLst/>
            <a:ahLst/>
            <a:cxnLst/>
            <a:rect l="l" t="t" r="r" b="b"/>
            <a:pathLst>
              <a:path w="8249879" h="8264906">
                <a:moveTo>
                  <a:pt x="0" y="0"/>
                </a:moveTo>
                <a:lnTo>
                  <a:pt x="8249879" y="0"/>
                </a:lnTo>
                <a:lnTo>
                  <a:pt x="8249879" y="8264905"/>
                </a:lnTo>
                <a:lnTo>
                  <a:pt x="0" y="826490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5" name="Freeform 5"/>
          <p:cNvSpPr/>
          <p:nvPr/>
        </p:nvSpPr>
        <p:spPr>
          <a:xfrm>
            <a:off x="8173342" y="-1065755"/>
            <a:ext cx="11109641" cy="2819072"/>
          </a:xfrm>
          <a:custGeom>
            <a:avLst/>
            <a:gdLst/>
            <a:ahLst/>
            <a:cxnLst/>
            <a:rect l="l" t="t" r="r" b="b"/>
            <a:pathLst>
              <a:path w="11109641" h="2819072">
                <a:moveTo>
                  <a:pt x="0" y="0"/>
                </a:moveTo>
                <a:lnTo>
                  <a:pt x="11109642" y="0"/>
                </a:lnTo>
                <a:lnTo>
                  <a:pt x="11109642" y="2819071"/>
                </a:lnTo>
                <a:lnTo>
                  <a:pt x="0" y="281907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sp>
        <p:nvSpPr>
          <p:cNvPr id="6" name="Freeform 6"/>
          <p:cNvSpPr/>
          <p:nvPr/>
        </p:nvSpPr>
        <p:spPr>
          <a:xfrm rot="5400000">
            <a:off x="13127809" y="6100510"/>
            <a:ext cx="6730886" cy="6722065"/>
          </a:xfrm>
          <a:custGeom>
            <a:avLst/>
            <a:gdLst/>
            <a:ahLst/>
            <a:cxnLst/>
            <a:rect l="l" t="t" r="r" b="b"/>
            <a:pathLst>
              <a:path w="6730886" h="6722065">
                <a:moveTo>
                  <a:pt x="0" y="0"/>
                </a:moveTo>
                <a:lnTo>
                  <a:pt x="6730886" y="0"/>
                </a:lnTo>
                <a:lnTo>
                  <a:pt x="6730886" y="6722065"/>
                </a:lnTo>
                <a:lnTo>
                  <a:pt x="0" y="6722065"/>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IN"/>
          </a:p>
        </p:txBody>
      </p:sp>
      <p:sp>
        <p:nvSpPr>
          <p:cNvPr id="7" name="Freeform 7"/>
          <p:cNvSpPr/>
          <p:nvPr/>
        </p:nvSpPr>
        <p:spPr>
          <a:xfrm rot="7119350">
            <a:off x="-2131722" y="-460619"/>
            <a:ext cx="7280753" cy="4114800"/>
          </a:xfrm>
          <a:custGeom>
            <a:avLst/>
            <a:gdLst/>
            <a:ahLst/>
            <a:cxnLst/>
            <a:rect l="l" t="t" r="r" b="b"/>
            <a:pathLst>
              <a:path w="7280753" h="4114800">
                <a:moveTo>
                  <a:pt x="0" y="0"/>
                </a:moveTo>
                <a:lnTo>
                  <a:pt x="7280754" y="0"/>
                </a:lnTo>
                <a:lnTo>
                  <a:pt x="7280754" y="4114800"/>
                </a:lnTo>
                <a:lnTo>
                  <a:pt x="0" y="4114800"/>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IN"/>
          </a:p>
        </p:txBody>
      </p:sp>
      <p:grpSp>
        <p:nvGrpSpPr>
          <p:cNvPr id="8" name="Group 8"/>
          <p:cNvGrpSpPr/>
          <p:nvPr/>
        </p:nvGrpSpPr>
        <p:grpSpPr>
          <a:xfrm>
            <a:off x="1195457" y="967684"/>
            <a:ext cx="15897086" cy="8351632"/>
            <a:chOff x="0" y="0"/>
            <a:chExt cx="4186887" cy="2199607"/>
          </a:xfrm>
        </p:grpSpPr>
        <p:sp>
          <p:nvSpPr>
            <p:cNvPr id="9" name="Freeform 9"/>
            <p:cNvSpPr/>
            <p:nvPr/>
          </p:nvSpPr>
          <p:spPr>
            <a:xfrm>
              <a:off x="0" y="0"/>
              <a:ext cx="4186887" cy="2199607"/>
            </a:xfrm>
            <a:custGeom>
              <a:avLst/>
              <a:gdLst/>
              <a:ahLst/>
              <a:cxnLst/>
              <a:rect l="l" t="t" r="r" b="b"/>
              <a:pathLst>
                <a:path w="4186887" h="2199607">
                  <a:moveTo>
                    <a:pt x="24837" y="0"/>
                  </a:moveTo>
                  <a:lnTo>
                    <a:pt x="4162050" y="0"/>
                  </a:lnTo>
                  <a:cubicBezTo>
                    <a:pt x="4175767" y="0"/>
                    <a:pt x="4186887" y="11120"/>
                    <a:pt x="4186887" y="24837"/>
                  </a:cubicBezTo>
                  <a:lnTo>
                    <a:pt x="4186887" y="2174770"/>
                  </a:lnTo>
                  <a:cubicBezTo>
                    <a:pt x="4186887" y="2181357"/>
                    <a:pt x="4184270" y="2187674"/>
                    <a:pt x="4179612" y="2192332"/>
                  </a:cubicBezTo>
                  <a:cubicBezTo>
                    <a:pt x="4174954" y="2196990"/>
                    <a:pt x="4168637" y="2199607"/>
                    <a:pt x="4162050" y="2199607"/>
                  </a:cubicBezTo>
                  <a:lnTo>
                    <a:pt x="24837" y="2199607"/>
                  </a:lnTo>
                  <a:cubicBezTo>
                    <a:pt x="11120" y="2199607"/>
                    <a:pt x="0" y="2188487"/>
                    <a:pt x="0" y="2174770"/>
                  </a:cubicBezTo>
                  <a:lnTo>
                    <a:pt x="0" y="24837"/>
                  </a:lnTo>
                  <a:cubicBezTo>
                    <a:pt x="0" y="11120"/>
                    <a:pt x="11120" y="0"/>
                    <a:pt x="24837" y="0"/>
                  </a:cubicBezTo>
                  <a:close/>
                </a:path>
              </a:pathLst>
            </a:custGeom>
            <a:solidFill>
              <a:srgbClr val="FFFFFF">
                <a:alpha val="60784"/>
              </a:srgbClr>
            </a:solidFill>
          </p:spPr>
          <p:txBody>
            <a:bodyPr/>
            <a:lstStyle/>
            <a:p>
              <a:endParaRPr lang="en-IN"/>
            </a:p>
          </p:txBody>
        </p:sp>
        <p:sp>
          <p:nvSpPr>
            <p:cNvPr id="10" name="TextBox 10"/>
            <p:cNvSpPr txBox="1"/>
            <p:nvPr/>
          </p:nvSpPr>
          <p:spPr>
            <a:xfrm>
              <a:off x="0" y="-38100"/>
              <a:ext cx="4186887" cy="2237707"/>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0">
            <a:extLst>
              <a:ext uri="{FF2B5EF4-FFF2-40B4-BE49-F238E27FC236}">
                <a16:creationId xmlns:a16="http://schemas.microsoft.com/office/drawing/2014/main" id="{6AD8C5DB-C047-89C0-C7A4-D3E35D91B23B}"/>
              </a:ext>
            </a:extLst>
          </p:cNvPr>
          <p:cNvSpPr txBox="1"/>
          <p:nvPr/>
        </p:nvSpPr>
        <p:spPr>
          <a:xfrm>
            <a:off x="2209800" y="1660166"/>
            <a:ext cx="6680068" cy="1519327"/>
          </a:xfrm>
          <a:prstGeom prst="rect">
            <a:avLst/>
          </a:prstGeom>
        </p:spPr>
        <p:txBody>
          <a:bodyPr lIns="0" tIns="0" rIns="0" bIns="0" rtlCol="0" anchor="t">
            <a:spAutoFit/>
          </a:bodyPr>
          <a:lstStyle/>
          <a:p>
            <a:pPr algn="l">
              <a:lnSpc>
                <a:spcPts val="13396"/>
              </a:lnSpc>
              <a:spcBef>
                <a:spcPct val="0"/>
              </a:spcBef>
            </a:pPr>
            <a:r>
              <a:rPr lang="en-US" sz="7200">
                <a:solidFill>
                  <a:srgbClr val="000000"/>
                </a:solidFill>
                <a:latin typeface="Arapey"/>
                <a:ea typeface="Arapey"/>
                <a:cs typeface="Arapey"/>
                <a:sym typeface="Arapey"/>
              </a:rPr>
              <a:t>Project Overview</a:t>
            </a:r>
          </a:p>
        </p:txBody>
      </p:sp>
      <p:sp>
        <p:nvSpPr>
          <p:cNvPr id="11" name="TextBox 9">
            <a:extLst>
              <a:ext uri="{FF2B5EF4-FFF2-40B4-BE49-F238E27FC236}">
                <a16:creationId xmlns:a16="http://schemas.microsoft.com/office/drawing/2014/main" id="{A427A0E9-EF2B-9231-56C1-2D5ADED6F35F}"/>
              </a:ext>
            </a:extLst>
          </p:cNvPr>
          <p:cNvSpPr txBox="1"/>
          <p:nvPr/>
        </p:nvSpPr>
        <p:spPr>
          <a:xfrm>
            <a:off x="2724150" y="3757987"/>
            <a:ext cx="12839700" cy="4801314"/>
          </a:xfrm>
          <a:prstGeom prst="rect">
            <a:avLst/>
          </a:prstGeom>
          <a:noFill/>
        </p:spPr>
        <p:txBody>
          <a:bodyPr wrap="square" lIns="0" tIns="0" rIns="0" bIns="0" rtlCol="0" anchor="t">
            <a:spAutoFit/>
          </a:bodyPr>
          <a:lstStyle/>
          <a:p>
            <a:pPr marL="342900" indent="-342900">
              <a:buFont typeface="Wingdings" panose="05000000000000000000" pitchFamily="2" charset="2"/>
              <a:buChar char="q"/>
            </a:pPr>
            <a:r>
              <a:rPr lang="en-US" sz="2400">
                <a:latin typeface="Calibri" panose="020F0502020204030204" pitchFamily="34" charset="0"/>
                <a:ea typeface="Calibri" panose="020F0502020204030204" pitchFamily="34" charset="0"/>
                <a:cs typeface="Calibri" panose="020F0502020204030204" pitchFamily="34" charset="0"/>
              </a:rPr>
              <a:t>The HR Attrition Analysis project uses HR analytics techniques and interactive dashboards to examine employee turnover patterns across departments, salary groups, job roles, promotions, working experience, and work-life balance factors.</a:t>
            </a:r>
          </a:p>
          <a:p>
            <a:pPr marL="171450" indent="-171450">
              <a:buFont typeface="Wingdings" panose="05000000000000000000" pitchFamily="2" charset="2"/>
              <a:buChar char="q"/>
            </a:pPr>
            <a:endParaRPr lang="en-US" sz="800">
              <a:latin typeface="Calibri" panose="020F0502020204030204" pitchFamily="34" charset="0"/>
              <a:ea typeface="Calibri" panose="020F0502020204030204" pitchFamily="34" charset="0"/>
              <a:cs typeface="Calibri" panose="020F0502020204030204" pitchFamily="34" charset="0"/>
            </a:endParaRPr>
          </a:p>
          <a:p>
            <a:pPr marL="342900" indent="-342900">
              <a:buFont typeface="Wingdings" panose="05000000000000000000" pitchFamily="2" charset="2"/>
              <a:buChar char="q"/>
            </a:pPr>
            <a:r>
              <a:rPr lang="en-US" sz="2400">
                <a:latin typeface="Calibri" panose="020F0502020204030204" pitchFamily="34" charset="0"/>
                <a:ea typeface="Calibri" panose="020F0502020204030204" pitchFamily="34" charset="0"/>
                <a:cs typeface="Calibri" panose="020F0502020204030204" pitchFamily="34" charset="0"/>
              </a:rPr>
              <a:t>The project was developed using </a:t>
            </a:r>
            <a:r>
              <a:rPr lang="en-US" sz="2400" b="1">
                <a:latin typeface="Calibri" panose="020F0502020204030204" pitchFamily="34" charset="0"/>
                <a:ea typeface="Calibri" panose="020F0502020204030204" pitchFamily="34" charset="0"/>
                <a:cs typeface="Calibri" panose="020F0502020204030204" pitchFamily="34" charset="0"/>
              </a:rPr>
              <a:t>Excel, MySQL, Power BI, and Tableau, </a:t>
            </a:r>
            <a:r>
              <a:rPr lang="en-US" sz="2400">
                <a:latin typeface="Calibri" panose="020F0502020204030204" pitchFamily="34" charset="0"/>
                <a:ea typeface="Calibri" panose="020F0502020204030204" pitchFamily="34" charset="0"/>
                <a:cs typeface="Calibri" panose="020F0502020204030204" pitchFamily="34" charset="0"/>
              </a:rPr>
              <a:t>where multiple HR datasets and tables were merged and analyzed using SQL queries, KPI calculations, and dashboard visualizations to generate meaningful workforce insights.</a:t>
            </a:r>
          </a:p>
          <a:p>
            <a:pPr marL="171450" indent="-171450">
              <a:buFont typeface="Wingdings" panose="05000000000000000000" pitchFamily="2" charset="2"/>
              <a:buChar char="q"/>
            </a:pPr>
            <a:endParaRPr lang="en-US" sz="800">
              <a:latin typeface="Calibri" panose="020F0502020204030204" pitchFamily="34" charset="0"/>
              <a:ea typeface="Calibri" panose="020F0502020204030204" pitchFamily="34" charset="0"/>
              <a:cs typeface="Calibri" panose="020F0502020204030204" pitchFamily="34" charset="0"/>
            </a:endParaRPr>
          </a:p>
          <a:p>
            <a:pPr marL="342900" indent="-342900">
              <a:buFont typeface="Wingdings" panose="05000000000000000000" pitchFamily="2" charset="2"/>
              <a:buChar char="q"/>
            </a:pPr>
            <a:r>
              <a:rPr lang="en-US" sz="2400">
                <a:latin typeface="Calibri" panose="020F0502020204030204" pitchFamily="34" charset="0"/>
                <a:ea typeface="Calibri" panose="020F0502020204030204" pitchFamily="34" charset="0"/>
                <a:cs typeface="Calibri" panose="020F0502020204030204" pitchFamily="34" charset="0"/>
              </a:rPr>
              <a:t>The analysis focuses on key HR KPIs such as attrition rate, retention rate, employee income, promotion history, job satisfaction, and average working years to identify workforce trends and high-risk employee groups.</a:t>
            </a:r>
          </a:p>
          <a:p>
            <a:pPr marL="171450" indent="-171450">
              <a:buFont typeface="Wingdings" panose="05000000000000000000" pitchFamily="2" charset="2"/>
              <a:buChar char="q"/>
            </a:pPr>
            <a:endParaRPr lang="en-US" sz="800">
              <a:latin typeface="Calibri" panose="020F0502020204030204" pitchFamily="34" charset="0"/>
              <a:ea typeface="Calibri" panose="020F0502020204030204" pitchFamily="34" charset="0"/>
              <a:cs typeface="Calibri" panose="020F0502020204030204" pitchFamily="34" charset="0"/>
            </a:endParaRPr>
          </a:p>
          <a:p>
            <a:pPr marL="342900" indent="-342900">
              <a:buFont typeface="Wingdings" panose="05000000000000000000" pitchFamily="2" charset="2"/>
              <a:buChar char="q"/>
            </a:pPr>
            <a:r>
              <a:rPr lang="en-US" sz="2400">
                <a:latin typeface="Calibri" panose="020F0502020204030204" pitchFamily="34" charset="0"/>
                <a:ea typeface="Calibri" panose="020F0502020204030204" pitchFamily="34" charset="0"/>
                <a:cs typeface="Calibri" panose="020F0502020204030204" pitchFamily="34" charset="0"/>
              </a:rPr>
              <a:t>Using dashboard reporting and visualization techniques, the project helps management monitor employee behavior, evaluate retention challenges, and support data-driven HR decision-making to improve employee engagement, retention strategies, and long-term workforce stability.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B2CB79-5D38-09B7-197B-13E25A95D43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CCEE075-8E6B-F1F7-7984-9EE1071FDE1A}"/>
              </a:ext>
            </a:extLst>
          </p:cNvPr>
          <p:cNvSpPr/>
          <p:nvPr/>
        </p:nvSpPr>
        <p:spPr>
          <a:xfrm>
            <a:off x="0" y="0"/>
            <a:ext cx="18288000" cy="12184380"/>
          </a:xfrm>
          <a:custGeom>
            <a:avLst/>
            <a:gdLst/>
            <a:ahLst/>
            <a:cxnLst/>
            <a:rect l="l" t="t" r="r" b="b"/>
            <a:pathLst>
              <a:path w="18288000" h="12184380">
                <a:moveTo>
                  <a:pt x="0" y="0"/>
                </a:moveTo>
                <a:lnTo>
                  <a:pt x="18288000" y="0"/>
                </a:lnTo>
                <a:lnTo>
                  <a:pt x="18288000" y="12184380"/>
                </a:lnTo>
                <a:lnTo>
                  <a:pt x="0" y="12184380"/>
                </a:lnTo>
                <a:lnTo>
                  <a:pt x="0" y="0"/>
                </a:lnTo>
                <a:close/>
              </a:path>
            </a:pathLst>
          </a:custGeom>
          <a:blipFill>
            <a:blip r:embed="rId2">
              <a:alphaModFix amt="26000"/>
            </a:blip>
            <a:stretch>
              <a:fillRect/>
            </a:stretch>
          </a:blipFill>
        </p:spPr>
        <p:txBody>
          <a:bodyPr/>
          <a:lstStyle/>
          <a:p>
            <a:endParaRPr lang="en-IN"/>
          </a:p>
        </p:txBody>
      </p:sp>
      <p:sp>
        <p:nvSpPr>
          <p:cNvPr id="3" name="Freeform 3">
            <a:extLst>
              <a:ext uri="{FF2B5EF4-FFF2-40B4-BE49-F238E27FC236}">
                <a16:creationId xmlns:a16="http://schemas.microsoft.com/office/drawing/2014/main" id="{DABF6946-31A4-FB4F-E58D-E7400159DD37}"/>
              </a:ext>
            </a:extLst>
          </p:cNvPr>
          <p:cNvSpPr/>
          <p:nvPr/>
        </p:nvSpPr>
        <p:spPr>
          <a:xfrm>
            <a:off x="10775287" y="8645946"/>
            <a:ext cx="5551100" cy="2547812"/>
          </a:xfrm>
          <a:custGeom>
            <a:avLst/>
            <a:gdLst/>
            <a:ahLst/>
            <a:cxnLst/>
            <a:rect l="l" t="t" r="r" b="b"/>
            <a:pathLst>
              <a:path w="5551100" h="2547812">
                <a:moveTo>
                  <a:pt x="0" y="0"/>
                </a:moveTo>
                <a:lnTo>
                  <a:pt x="5551099" y="0"/>
                </a:lnTo>
                <a:lnTo>
                  <a:pt x="5551099" y="2547813"/>
                </a:lnTo>
                <a:lnTo>
                  <a:pt x="0" y="254781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a:extLst>
              <a:ext uri="{FF2B5EF4-FFF2-40B4-BE49-F238E27FC236}">
                <a16:creationId xmlns:a16="http://schemas.microsoft.com/office/drawing/2014/main" id="{C07D9549-451E-6F84-30CC-C0F614CC887B}"/>
              </a:ext>
            </a:extLst>
          </p:cNvPr>
          <p:cNvSpPr/>
          <p:nvPr/>
        </p:nvSpPr>
        <p:spPr>
          <a:xfrm>
            <a:off x="0" y="-287338"/>
            <a:ext cx="7315200" cy="1802843"/>
          </a:xfrm>
          <a:custGeom>
            <a:avLst/>
            <a:gdLst/>
            <a:ahLst/>
            <a:cxnLst/>
            <a:rect l="l" t="t" r="r" b="b"/>
            <a:pathLst>
              <a:path w="7315200" h="1802843">
                <a:moveTo>
                  <a:pt x="0" y="0"/>
                </a:moveTo>
                <a:lnTo>
                  <a:pt x="7315200" y="0"/>
                </a:lnTo>
                <a:lnTo>
                  <a:pt x="7315200" y="1802843"/>
                </a:lnTo>
                <a:lnTo>
                  <a:pt x="0" y="18028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5" name="Freeform 5">
            <a:extLst>
              <a:ext uri="{FF2B5EF4-FFF2-40B4-BE49-F238E27FC236}">
                <a16:creationId xmlns:a16="http://schemas.microsoft.com/office/drawing/2014/main" id="{DFF817CF-BA17-2BC0-4840-B9815D64FB1B}"/>
              </a:ext>
            </a:extLst>
          </p:cNvPr>
          <p:cNvSpPr/>
          <p:nvPr/>
        </p:nvSpPr>
        <p:spPr>
          <a:xfrm>
            <a:off x="13550836" y="-2599295"/>
            <a:ext cx="7416927" cy="8229600"/>
          </a:xfrm>
          <a:custGeom>
            <a:avLst/>
            <a:gdLst/>
            <a:ahLst/>
            <a:cxnLst/>
            <a:rect l="l" t="t" r="r" b="b"/>
            <a:pathLst>
              <a:path w="7416927" h="8229600">
                <a:moveTo>
                  <a:pt x="0" y="0"/>
                </a:moveTo>
                <a:lnTo>
                  <a:pt x="7416927" y="0"/>
                </a:lnTo>
                <a:lnTo>
                  <a:pt x="7416927" y="8229600"/>
                </a:lnTo>
                <a:lnTo>
                  <a:pt x="0" y="8229600"/>
                </a:lnTo>
                <a:lnTo>
                  <a:pt x="0" y="0"/>
                </a:lnTo>
                <a:close/>
              </a:path>
            </a:pathLst>
          </a:custGeom>
          <a:blipFill>
            <a:blip r:embed="rId5"/>
            <a:stretch>
              <a:fillRect/>
            </a:stretch>
          </a:blipFill>
        </p:spPr>
        <p:txBody>
          <a:bodyPr/>
          <a:lstStyle/>
          <a:p>
            <a:endParaRPr lang="en-IN"/>
          </a:p>
        </p:txBody>
      </p:sp>
      <p:sp>
        <p:nvSpPr>
          <p:cNvPr id="6" name="Freeform 6">
            <a:extLst>
              <a:ext uri="{FF2B5EF4-FFF2-40B4-BE49-F238E27FC236}">
                <a16:creationId xmlns:a16="http://schemas.microsoft.com/office/drawing/2014/main" id="{DF80E427-9D45-F5D8-85DE-E7ED1CF6A701}"/>
              </a:ext>
            </a:extLst>
          </p:cNvPr>
          <p:cNvSpPr/>
          <p:nvPr/>
        </p:nvSpPr>
        <p:spPr>
          <a:xfrm rot="956953">
            <a:off x="-1464555" y="7094451"/>
            <a:ext cx="8397773" cy="7872912"/>
          </a:xfrm>
          <a:custGeom>
            <a:avLst/>
            <a:gdLst/>
            <a:ahLst/>
            <a:cxnLst/>
            <a:rect l="l" t="t" r="r" b="b"/>
            <a:pathLst>
              <a:path w="8397773" h="7872912">
                <a:moveTo>
                  <a:pt x="0" y="0"/>
                </a:moveTo>
                <a:lnTo>
                  <a:pt x="8397773" y="0"/>
                </a:lnTo>
                <a:lnTo>
                  <a:pt x="8397773" y="7872912"/>
                </a:lnTo>
                <a:lnTo>
                  <a:pt x="0" y="787291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IN"/>
          </a:p>
        </p:txBody>
      </p:sp>
      <p:grpSp>
        <p:nvGrpSpPr>
          <p:cNvPr id="7" name="Group 7">
            <a:extLst>
              <a:ext uri="{FF2B5EF4-FFF2-40B4-BE49-F238E27FC236}">
                <a16:creationId xmlns:a16="http://schemas.microsoft.com/office/drawing/2014/main" id="{65A63FFE-A424-7976-1C3D-8B8C6260B9FA}"/>
              </a:ext>
            </a:extLst>
          </p:cNvPr>
          <p:cNvGrpSpPr/>
          <p:nvPr/>
        </p:nvGrpSpPr>
        <p:grpSpPr>
          <a:xfrm>
            <a:off x="1195457" y="967684"/>
            <a:ext cx="15897086" cy="8351632"/>
            <a:chOff x="0" y="0"/>
            <a:chExt cx="4186887" cy="2199607"/>
          </a:xfrm>
        </p:grpSpPr>
        <p:sp>
          <p:nvSpPr>
            <p:cNvPr id="8" name="Freeform 8">
              <a:extLst>
                <a:ext uri="{FF2B5EF4-FFF2-40B4-BE49-F238E27FC236}">
                  <a16:creationId xmlns:a16="http://schemas.microsoft.com/office/drawing/2014/main" id="{CE35D6FC-A693-C0BE-1249-30ADB5F3B0B8}"/>
                </a:ext>
              </a:extLst>
            </p:cNvPr>
            <p:cNvSpPr/>
            <p:nvPr/>
          </p:nvSpPr>
          <p:spPr>
            <a:xfrm>
              <a:off x="0" y="0"/>
              <a:ext cx="4186887" cy="2199607"/>
            </a:xfrm>
            <a:custGeom>
              <a:avLst/>
              <a:gdLst/>
              <a:ahLst/>
              <a:cxnLst/>
              <a:rect l="l" t="t" r="r" b="b"/>
              <a:pathLst>
                <a:path w="4186887" h="2199607">
                  <a:moveTo>
                    <a:pt x="24837" y="0"/>
                  </a:moveTo>
                  <a:lnTo>
                    <a:pt x="4162050" y="0"/>
                  </a:lnTo>
                  <a:cubicBezTo>
                    <a:pt x="4175767" y="0"/>
                    <a:pt x="4186887" y="11120"/>
                    <a:pt x="4186887" y="24837"/>
                  </a:cubicBezTo>
                  <a:lnTo>
                    <a:pt x="4186887" y="2174770"/>
                  </a:lnTo>
                  <a:cubicBezTo>
                    <a:pt x="4186887" y="2181357"/>
                    <a:pt x="4184270" y="2187674"/>
                    <a:pt x="4179612" y="2192332"/>
                  </a:cubicBezTo>
                  <a:cubicBezTo>
                    <a:pt x="4174954" y="2196990"/>
                    <a:pt x="4168637" y="2199607"/>
                    <a:pt x="4162050" y="2199607"/>
                  </a:cubicBezTo>
                  <a:lnTo>
                    <a:pt x="24837" y="2199607"/>
                  </a:lnTo>
                  <a:cubicBezTo>
                    <a:pt x="11120" y="2199607"/>
                    <a:pt x="0" y="2188487"/>
                    <a:pt x="0" y="2174770"/>
                  </a:cubicBezTo>
                  <a:lnTo>
                    <a:pt x="0" y="24837"/>
                  </a:lnTo>
                  <a:cubicBezTo>
                    <a:pt x="0" y="11120"/>
                    <a:pt x="11120" y="0"/>
                    <a:pt x="24837" y="0"/>
                  </a:cubicBezTo>
                  <a:close/>
                </a:path>
              </a:pathLst>
            </a:custGeom>
            <a:solidFill>
              <a:srgbClr val="FFFFFF">
                <a:alpha val="60784"/>
              </a:srgbClr>
            </a:solidFill>
          </p:spPr>
          <p:txBody>
            <a:bodyPr/>
            <a:lstStyle/>
            <a:p>
              <a:endParaRPr lang="en-IN"/>
            </a:p>
          </p:txBody>
        </p:sp>
        <p:sp>
          <p:nvSpPr>
            <p:cNvPr id="9" name="TextBox 9">
              <a:extLst>
                <a:ext uri="{FF2B5EF4-FFF2-40B4-BE49-F238E27FC236}">
                  <a16:creationId xmlns:a16="http://schemas.microsoft.com/office/drawing/2014/main" id="{DC0EDE31-E9EA-0965-E176-691E63E942FE}"/>
                </a:ext>
              </a:extLst>
            </p:cNvPr>
            <p:cNvSpPr txBox="1"/>
            <p:nvPr/>
          </p:nvSpPr>
          <p:spPr>
            <a:xfrm>
              <a:off x="0" y="-38100"/>
              <a:ext cx="4186887" cy="2237707"/>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a:extLst>
              <a:ext uri="{FF2B5EF4-FFF2-40B4-BE49-F238E27FC236}">
                <a16:creationId xmlns:a16="http://schemas.microsoft.com/office/drawing/2014/main" id="{6B4A5EBE-3D51-3E11-D3F2-A9CB3E9A3752}"/>
              </a:ext>
            </a:extLst>
          </p:cNvPr>
          <p:cNvSpPr txBox="1"/>
          <p:nvPr/>
        </p:nvSpPr>
        <p:spPr>
          <a:xfrm>
            <a:off x="2209800" y="1660166"/>
            <a:ext cx="6680068" cy="1519327"/>
          </a:xfrm>
          <a:prstGeom prst="rect">
            <a:avLst/>
          </a:prstGeom>
        </p:spPr>
        <p:txBody>
          <a:bodyPr lIns="0" tIns="0" rIns="0" bIns="0" rtlCol="0" anchor="t">
            <a:spAutoFit/>
          </a:bodyPr>
          <a:lstStyle/>
          <a:p>
            <a:pPr algn="l">
              <a:lnSpc>
                <a:spcPts val="13396"/>
              </a:lnSpc>
              <a:spcBef>
                <a:spcPct val="0"/>
              </a:spcBef>
            </a:pPr>
            <a:r>
              <a:rPr lang="en-US" sz="7200">
                <a:solidFill>
                  <a:srgbClr val="000000"/>
                </a:solidFill>
                <a:latin typeface="Arapey"/>
                <a:ea typeface="Arapey"/>
                <a:cs typeface="Arapey"/>
                <a:sym typeface="Arapey"/>
              </a:rPr>
              <a:t>Group Details</a:t>
            </a:r>
          </a:p>
        </p:txBody>
      </p:sp>
      <p:sp>
        <p:nvSpPr>
          <p:cNvPr id="11" name="TextBox 9">
            <a:extLst>
              <a:ext uri="{FF2B5EF4-FFF2-40B4-BE49-F238E27FC236}">
                <a16:creationId xmlns:a16="http://schemas.microsoft.com/office/drawing/2014/main" id="{43724980-CF99-7F6A-C002-11001665B118}"/>
              </a:ext>
            </a:extLst>
          </p:cNvPr>
          <p:cNvSpPr txBox="1"/>
          <p:nvPr/>
        </p:nvSpPr>
        <p:spPr>
          <a:xfrm>
            <a:off x="5414291" y="3899189"/>
            <a:ext cx="8183987" cy="2340769"/>
          </a:xfrm>
          <a:prstGeom prst="rect">
            <a:avLst/>
          </a:prstGeom>
          <a:noFill/>
        </p:spPr>
        <p:txBody>
          <a:bodyPr lIns="0" tIns="0" rIns="0" bIns="0" rtlCol="0" anchor="t">
            <a:spAutoFit/>
          </a:bodyPr>
          <a:lstStyle/>
          <a:p>
            <a:pPr marL="571500" indent="-571500" algn="just">
              <a:lnSpc>
                <a:spcPts val="4620"/>
              </a:lnSpc>
              <a:buFont typeface="Arial" panose="020B0604020202020204" pitchFamily="34" charset="0"/>
              <a:buChar char="•"/>
            </a:pPr>
            <a:r>
              <a:rPr lang="en-IN" sz="3800"/>
              <a:t>S.Annapurna</a:t>
            </a:r>
          </a:p>
          <a:p>
            <a:pPr marL="571500" indent="-571500" algn="just">
              <a:lnSpc>
                <a:spcPts val="4620"/>
              </a:lnSpc>
              <a:buFont typeface="Arial" panose="020B0604020202020204" pitchFamily="34" charset="0"/>
              <a:buChar char="•"/>
            </a:pPr>
            <a:r>
              <a:rPr lang="en-IN" sz="3800"/>
              <a:t>Praveen S</a:t>
            </a:r>
          </a:p>
          <a:p>
            <a:pPr marL="571500" indent="-571500" algn="just">
              <a:lnSpc>
                <a:spcPts val="4620"/>
              </a:lnSpc>
              <a:buFont typeface="Arial" panose="020B0604020202020204" pitchFamily="34" charset="0"/>
              <a:buChar char="•"/>
            </a:pPr>
            <a:r>
              <a:rPr lang="en-IN" sz="3800"/>
              <a:t>Rushikesh Dayanand Parande	</a:t>
            </a:r>
          </a:p>
          <a:p>
            <a:pPr marL="571500" indent="-571500" algn="just">
              <a:lnSpc>
                <a:spcPts val="4620"/>
              </a:lnSpc>
              <a:buFont typeface="Arial" panose="020B0604020202020204" pitchFamily="34" charset="0"/>
              <a:buChar char="•"/>
            </a:pPr>
            <a:r>
              <a:rPr lang="en-IN" sz="3800"/>
              <a:t>Jafakash Bin Mudhassir	</a:t>
            </a:r>
          </a:p>
        </p:txBody>
      </p:sp>
    </p:spTree>
    <p:extLst>
      <p:ext uri="{BB962C8B-B14F-4D97-AF65-F5344CB8AC3E}">
        <p14:creationId xmlns:p14="http://schemas.microsoft.com/office/powerpoint/2010/main" val="31635702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2184380"/>
          </a:xfrm>
          <a:custGeom>
            <a:avLst/>
            <a:gdLst/>
            <a:ahLst/>
            <a:cxnLst/>
            <a:rect l="l" t="t" r="r" b="b"/>
            <a:pathLst>
              <a:path w="18288000" h="12184380">
                <a:moveTo>
                  <a:pt x="0" y="0"/>
                </a:moveTo>
                <a:lnTo>
                  <a:pt x="18288000" y="0"/>
                </a:lnTo>
                <a:lnTo>
                  <a:pt x="18288000" y="12184380"/>
                </a:lnTo>
                <a:lnTo>
                  <a:pt x="0" y="12184380"/>
                </a:lnTo>
                <a:lnTo>
                  <a:pt x="0" y="0"/>
                </a:lnTo>
                <a:close/>
              </a:path>
            </a:pathLst>
          </a:custGeom>
          <a:blipFill>
            <a:blip r:embed="rId2">
              <a:alphaModFix amt="26000"/>
            </a:blip>
            <a:stretch>
              <a:fillRect/>
            </a:stretch>
          </a:blipFill>
        </p:spPr>
        <p:txBody>
          <a:bodyPr/>
          <a:lstStyle/>
          <a:p>
            <a:endParaRPr lang="en-IN"/>
          </a:p>
        </p:txBody>
      </p:sp>
      <p:sp>
        <p:nvSpPr>
          <p:cNvPr id="3" name="Freeform 3"/>
          <p:cNvSpPr/>
          <p:nvPr/>
        </p:nvSpPr>
        <p:spPr>
          <a:xfrm>
            <a:off x="10775287" y="8645946"/>
            <a:ext cx="5551100" cy="2547812"/>
          </a:xfrm>
          <a:custGeom>
            <a:avLst/>
            <a:gdLst/>
            <a:ahLst/>
            <a:cxnLst/>
            <a:rect l="l" t="t" r="r" b="b"/>
            <a:pathLst>
              <a:path w="5551100" h="2547812">
                <a:moveTo>
                  <a:pt x="0" y="0"/>
                </a:moveTo>
                <a:lnTo>
                  <a:pt x="5551099" y="0"/>
                </a:lnTo>
                <a:lnTo>
                  <a:pt x="5551099" y="2547813"/>
                </a:lnTo>
                <a:lnTo>
                  <a:pt x="0" y="254781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a:off x="0" y="-287338"/>
            <a:ext cx="7315200" cy="1802843"/>
          </a:xfrm>
          <a:custGeom>
            <a:avLst/>
            <a:gdLst/>
            <a:ahLst/>
            <a:cxnLst/>
            <a:rect l="l" t="t" r="r" b="b"/>
            <a:pathLst>
              <a:path w="7315200" h="1802843">
                <a:moveTo>
                  <a:pt x="0" y="0"/>
                </a:moveTo>
                <a:lnTo>
                  <a:pt x="7315200" y="0"/>
                </a:lnTo>
                <a:lnTo>
                  <a:pt x="7315200" y="1802843"/>
                </a:lnTo>
                <a:lnTo>
                  <a:pt x="0" y="18028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5" name="Freeform 5"/>
          <p:cNvSpPr/>
          <p:nvPr/>
        </p:nvSpPr>
        <p:spPr>
          <a:xfrm>
            <a:off x="14097000" y="-3117543"/>
            <a:ext cx="7416927" cy="8229600"/>
          </a:xfrm>
          <a:custGeom>
            <a:avLst/>
            <a:gdLst/>
            <a:ahLst/>
            <a:cxnLst/>
            <a:rect l="l" t="t" r="r" b="b"/>
            <a:pathLst>
              <a:path w="7416927" h="8229600">
                <a:moveTo>
                  <a:pt x="0" y="0"/>
                </a:moveTo>
                <a:lnTo>
                  <a:pt x="7416927" y="0"/>
                </a:lnTo>
                <a:lnTo>
                  <a:pt x="7416927" y="8229600"/>
                </a:lnTo>
                <a:lnTo>
                  <a:pt x="0" y="8229600"/>
                </a:lnTo>
                <a:lnTo>
                  <a:pt x="0" y="0"/>
                </a:lnTo>
                <a:close/>
              </a:path>
            </a:pathLst>
          </a:custGeom>
          <a:blipFill>
            <a:blip r:embed="rId5"/>
            <a:stretch>
              <a:fillRect/>
            </a:stretch>
          </a:blipFill>
        </p:spPr>
        <p:txBody>
          <a:bodyPr/>
          <a:lstStyle/>
          <a:p>
            <a:endParaRPr lang="en-IN"/>
          </a:p>
        </p:txBody>
      </p:sp>
      <p:sp>
        <p:nvSpPr>
          <p:cNvPr id="6" name="Freeform 6"/>
          <p:cNvSpPr/>
          <p:nvPr/>
        </p:nvSpPr>
        <p:spPr>
          <a:xfrm rot="956953">
            <a:off x="-1464555" y="7094451"/>
            <a:ext cx="8397773" cy="7872912"/>
          </a:xfrm>
          <a:custGeom>
            <a:avLst/>
            <a:gdLst/>
            <a:ahLst/>
            <a:cxnLst/>
            <a:rect l="l" t="t" r="r" b="b"/>
            <a:pathLst>
              <a:path w="8397773" h="7872912">
                <a:moveTo>
                  <a:pt x="0" y="0"/>
                </a:moveTo>
                <a:lnTo>
                  <a:pt x="8397773" y="0"/>
                </a:lnTo>
                <a:lnTo>
                  <a:pt x="8397773" y="7872912"/>
                </a:lnTo>
                <a:lnTo>
                  <a:pt x="0" y="787291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IN"/>
          </a:p>
        </p:txBody>
      </p:sp>
      <p:grpSp>
        <p:nvGrpSpPr>
          <p:cNvPr id="7" name="Group 7"/>
          <p:cNvGrpSpPr/>
          <p:nvPr/>
        </p:nvGrpSpPr>
        <p:grpSpPr>
          <a:xfrm>
            <a:off x="1195457" y="967684"/>
            <a:ext cx="15897086" cy="8351632"/>
            <a:chOff x="0" y="0"/>
            <a:chExt cx="4186887" cy="2199607"/>
          </a:xfrm>
        </p:grpSpPr>
        <p:sp>
          <p:nvSpPr>
            <p:cNvPr id="8" name="Freeform 8"/>
            <p:cNvSpPr/>
            <p:nvPr/>
          </p:nvSpPr>
          <p:spPr>
            <a:xfrm>
              <a:off x="0" y="0"/>
              <a:ext cx="4186887" cy="2199607"/>
            </a:xfrm>
            <a:custGeom>
              <a:avLst/>
              <a:gdLst/>
              <a:ahLst/>
              <a:cxnLst/>
              <a:rect l="l" t="t" r="r" b="b"/>
              <a:pathLst>
                <a:path w="4186887" h="2199607">
                  <a:moveTo>
                    <a:pt x="24837" y="0"/>
                  </a:moveTo>
                  <a:lnTo>
                    <a:pt x="4162050" y="0"/>
                  </a:lnTo>
                  <a:cubicBezTo>
                    <a:pt x="4175767" y="0"/>
                    <a:pt x="4186887" y="11120"/>
                    <a:pt x="4186887" y="24837"/>
                  </a:cubicBezTo>
                  <a:lnTo>
                    <a:pt x="4186887" y="2174770"/>
                  </a:lnTo>
                  <a:cubicBezTo>
                    <a:pt x="4186887" y="2181357"/>
                    <a:pt x="4184270" y="2187674"/>
                    <a:pt x="4179612" y="2192332"/>
                  </a:cubicBezTo>
                  <a:cubicBezTo>
                    <a:pt x="4174954" y="2196990"/>
                    <a:pt x="4168637" y="2199607"/>
                    <a:pt x="4162050" y="2199607"/>
                  </a:cubicBezTo>
                  <a:lnTo>
                    <a:pt x="24837" y="2199607"/>
                  </a:lnTo>
                  <a:cubicBezTo>
                    <a:pt x="11120" y="2199607"/>
                    <a:pt x="0" y="2188487"/>
                    <a:pt x="0" y="2174770"/>
                  </a:cubicBezTo>
                  <a:lnTo>
                    <a:pt x="0" y="24837"/>
                  </a:lnTo>
                  <a:cubicBezTo>
                    <a:pt x="0" y="11120"/>
                    <a:pt x="11120" y="0"/>
                    <a:pt x="24837" y="0"/>
                  </a:cubicBezTo>
                  <a:close/>
                </a:path>
              </a:pathLst>
            </a:custGeom>
            <a:solidFill>
              <a:srgbClr val="FFFFFF">
                <a:alpha val="60784"/>
              </a:srgbClr>
            </a:solidFill>
          </p:spPr>
          <p:txBody>
            <a:bodyPr/>
            <a:lstStyle/>
            <a:p>
              <a:endParaRPr lang="en-IN"/>
            </a:p>
          </p:txBody>
        </p:sp>
        <p:sp>
          <p:nvSpPr>
            <p:cNvPr id="9" name="TextBox 9"/>
            <p:cNvSpPr txBox="1"/>
            <p:nvPr/>
          </p:nvSpPr>
          <p:spPr>
            <a:xfrm>
              <a:off x="0" y="-38100"/>
              <a:ext cx="4186887" cy="2237707"/>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9">
            <a:extLst>
              <a:ext uri="{FF2B5EF4-FFF2-40B4-BE49-F238E27FC236}">
                <a16:creationId xmlns:a16="http://schemas.microsoft.com/office/drawing/2014/main" id="{E76BBE2A-966F-48B1-29C3-97BE86CDE785}"/>
              </a:ext>
            </a:extLst>
          </p:cNvPr>
          <p:cNvSpPr txBox="1"/>
          <p:nvPr/>
        </p:nvSpPr>
        <p:spPr>
          <a:xfrm>
            <a:off x="2667000" y="3495675"/>
            <a:ext cx="14020800" cy="4924425"/>
          </a:xfrm>
          <a:prstGeom prst="rect">
            <a:avLst/>
          </a:prstGeom>
          <a:noFill/>
        </p:spPr>
        <p:txBody>
          <a:bodyPr wrap="square" lIns="0" tIns="0" rIns="0" bIns="0" rtlCol="0" anchor="t">
            <a:spAutoFit/>
          </a:bodyPr>
          <a:lstStyle/>
          <a:p>
            <a:r>
              <a:rPr lang="en-US" sz="2000">
                <a:latin typeface="Calibri" panose="020F0502020204030204" pitchFamily="34" charset="0"/>
                <a:ea typeface="Calibri" panose="020F0502020204030204" pitchFamily="34" charset="0"/>
                <a:cs typeface="Calibri" panose="020F0502020204030204" pitchFamily="34" charset="0"/>
              </a:rPr>
              <a:t>The IBM HR Analytics Employee Attrition &amp; Performance dataset is a human resources dataset containing employee-related information such as age, department, education, job role, salary, work experience, job satisfaction, and work-life balance. It provides detailed insights into employees working across different departments of an organization and helps in understanding overall workforce structure and employee characteristics.</a:t>
            </a:r>
          </a:p>
          <a:p>
            <a:endParaRPr lang="en-US" sz="2000">
              <a:latin typeface="Calibri" panose="020F0502020204030204" pitchFamily="34" charset="0"/>
              <a:ea typeface="Calibri" panose="020F0502020204030204" pitchFamily="34" charset="0"/>
              <a:cs typeface="Calibri" panose="020F0502020204030204" pitchFamily="34" charset="0"/>
            </a:endParaRPr>
          </a:p>
          <a:p>
            <a:r>
              <a:rPr lang="en-US" sz="2000">
                <a:latin typeface="Calibri" panose="020F0502020204030204" pitchFamily="34" charset="0"/>
                <a:ea typeface="Calibri" panose="020F0502020204030204" pitchFamily="34" charset="0"/>
                <a:cs typeface="Calibri" panose="020F0502020204030204" pitchFamily="34" charset="0"/>
              </a:rPr>
              <a:t>The dataset was created by combining two separate tables, HR1 and HR2, using an </a:t>
            </a:r>
            <a:r>
              <a:rPr lang="en-US" sz="2000" b="1">
                <a:latin typeface="Calibri" panose="020F0502020204030204" pitchFamily="34" charset="0"/>
                <a:ea typeface="Calibri" panose="020F0502020204030204" pitchFamily="34" charset="0"/>
                <a:cs typeface="Calibri" panose="020F0502020204030204" pitchFamily="34" charset="0"/>
              </a:rPr>
              <a:t>inner join</a:t>
            </a:r>
            <a:r>
              <a:rPr lang="en-US" sz="2000">
                <a:latin typeface="Calibri" panose="020F0502020204030204" pitchFamily="34" charset="0"/>
                <a:ea typeface="Calibri" panose="020F0502020204030204" pitchFamily="34" charset="0"/>
                <a:cs typeface="Calibri" panose="020F0502020204030204" pitchFamily="34" charset="0"/>
              </a:rPr>
              <a:t> based on the unique employee identifiers (EmployeeNumber in HR1 and Employee_ID in HR2). This merging process integrates employee demographic, job-related, salary, and performance information into a single unified dataset.</a:t>
            </a:r>
          </a:p>
          <a:p>
            <a:endParaRPr lang="en-US" sz="2000">
              <a:latin typeface="Calibri" panose="020F0502020204030204" pitchFamily="34" charset="0"/>
              <a:ea typeface="Calibri" panose="020F0502020204030204" pitchFamily="34" charset="0"/>
              <a:cs typeface="Calibri" panose="020F0502020204030204" pitchFamily="34" charset="0"/>
            </a:endParaRPr>
          </a:p>
          <a:p>
            <a:r>
              <a:rPr lang="en-US" sz="2000">
                <a:latin typeface="Calibri" panose="020F0502020204030204" pitchFamily="34" charset="0"/>
                <a:ea typeface="Calibri" panose="020F0502020204030204" pitchFamily="34" charset="0"/>
                <a:cs typeface="Calibri" panose="020F0502020204030204" pitchFamily="34" charset="0"/>
              </a:rPr>
              <a:t>In addition to the original attributes, new derived features were added for better analysis, such as Attrition Flag, Monthly Income Band, Years Since Last Promotion Band, and Job Satisfaction Level.</a:t>
            </a:r>
          </a:p>
          <a:p>
            <a:endParaRPr lang="en-US" sz="2000">
              <a:latin typeface="Calibri" panose="020F0502020204030204" pitchFamily="34" charset="0"/>
              <a:ea typeface="Calibri" panose="020F0502020204030204" pitchFamily="34" charset="0"/>
              <a:cs typeface="Calibri" panose="020F0502020204030204" pitchFamily="34" charset="0"/>
            </a:endParaRPr>
          </a:p>
          <a:p>
            <a:r>
              <a:rPr lang="en-US" sz="2000">
                <a:latin typeface="Calibri" panose="020F0502020204030204" pitchFamily="34" charset="0"/>
                <a:ea typeface="Calibri" panose="020F0502020204030204" pitchFamily="34" charset="0"/>
                <a:cs typeface="Calibri" panose="020F0502020204030204" pitchFamily="34" charset="0"/>
              </a:rPr>
              <a:t>The dataset also includes important HR factors like monthly income, performance rating, years at company, promotion history, overtime status, and relationship satisfaction. It is widely used for HR reporting, employee attrition analysis, dashboard creation, and organizational studies to support data-driven decision-making in human resource management.</a:t>
            </a:r>
          </a:p>
          <a:p>
            <a:r>
              <a:rPr lang="en-IN" sz="2000">
                <a:latin typeface="Calibri" panose="020F0502020204030204" pitchFamily="34" charset="0"/>
                <a:ea typeface="Calibri" panose="020F0502020204030204" pitchFamily="34" charset="0"/>
                <a:cs typeface="Calibri" panose="020F0502020204030204" pitchFamily="34" charset="0"/>
                <a:hlinkClick r:id="rId7"/>
              </a:rPr>
              <a:t>IBM HR Analytics Employee Attrition &amp; Performance</a:t>
            </a:r>
            <a:endParaRPr lang="en-IN" sz="2000">
              <a:latin typeface="Calibri" panose="020F0502020204030204" pitchFamily="34" charset="0"/>
              <a:ea typeface="Calibri" panose="020F0502020204030204" pitchFamily="34" charset="0"/>
              <a:cs typeface="Calibri" panose="020F0502020204030204" pitchFamily="34" charset="0"/>
            </a:endParaRPr>
          </a:p>
        </p:txBody>
      </p:sp>
      <p:sp>
        <p:nvSpPr>
          <p:cNvPr id="19" name="TextBox 10">
            <a:extLst>
              <a:ext uri="{FF2B5EF4-FFF2-40B4-BE49-F238E27FC236}">
                <a16:creationId xmlns:a16="http://schemas.microsoft.com/office/drawing/2014/main" id="{0AF24A2B-62A5-7FC8-644C-62AA0097A586}"/>
              </a:ext>
            </a:extLst>
          </p:cNvPr>
          <p:cNvSpPr txBox="1"/>
          <p:nvPr/>
        </p:nvSpPr>
        <p:spPr>
          <a:xfrm>
            <a:off x="2209800" y="1660166"/>
            <a:ext cx="6680068" cy="1519327"/>
          </a:xfrm>
          <a:prstGeom prst="rect">
            <a:avLst/>
          </a:prstGeom>
        </p:spPr>
        <p:txBody>
          <a:bodyPr lIns="0" tIns="0" rIns="0" bIns="0" rtlCol="0" anchor="t">
            <a:spAutoFit/>
          </a:bodyPr>
          <a:lstStyle/>
          <a:p>
            <a:pPr algn="l">
              <a:lnSpc>
                <a:spcPts val="13396"/>
              </a:lnSpc>
              <a:spcBef>
                <a:spcPct val="0"/>
              </a:spcBef>
            </a:pPr>
            <a:r>
              <a:rPr lang="en-US" sz="7200">
                <a:solidFill>
                  <a:srgbClr val="000000"/>
                </a:solidFill>
                <a:latin typeface="Arapey"/>
                <a:ea typeface="Arapey"/>
                <a:cs typeface="Arapey"/>
                <a:sym typeface="Arapey"/>
              </a:rPr>
              <a:t>Dataset Overview</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7BC12-AA1C-DE72-CF7A-602A38E50DC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E584976-08D0-8330-B36B-30C5D12A8FE4}"/>
              </a:ext>
            </a:extLst>
          </p:cNvPr>
          <p:cNvSpPr/>
          <p:nvPr/>
        </p:nvSpPr>
        <p:spPr>
          <a:xfrm>
            <a:off x="0" y="0"/>
            <a:ext cx="18288000" cy="12184380"/>
          </a:xfrm>
          <a:custGeom>
            <a:avLst/>
            <a:gdLst/>
            <a:ahLst/>
            <a:cxnLst/>
            <a:rect l="l" t="t" r="r" b="b"/>
            <a:pathLst>
              <a:path w="18288000" h="12184380">
                <a:moveTo>
                  <a:pt x="0" y="0"/>
                </a:moveTo>
                <a:lnTo>
                  <a:pt x="18288000" y="0"/>
                </a:lnTo>
                <a:lnTo>
                  <a:pt x="18288000" y="12184380"/>
                </a:lnTo>
                <a:lnTo>
                  <a:pt x="0" y="12184380"/>
                </a:lnTo>
                <a:lnTo>
                  <a:pt x="0" y="0"/>
                </a:lnTo>
                <a:close/>
              </a:path>
            </a:pathLst>
          </a:custGeom>
          <a:blipFill>
            <a:blip r:embed="rId2">
              <a:alphaModFix amt="26000"/>
            </a:blip>
            <a:stretch>
              <a:fillRect/>
            </a:stretch>
          </a:blipFill>
        </p:spPr>
        <p:txBody>
          <a:bodyPr/>
          <a:lstStyle/>
          <a:p>
            <a:endParaRPr lang="en-IN"/>
          </a:p>
        </p:txBody>
      </p:sp>
      <p:sp>
        <p:nvSpPr>
          <p:cNvPr id="3" name="Freeform 3">
            <a:extLst>
              <a:ext uri="{FF2B5EF4-FFF2-40B4-BE49-F238E27FC236}">
                <a16:creationId xmlns:a16="http://schemas.microsoft.com/office/drawing/2014/main" id="{2DF698DF-DF46-388A-1E41-EEE72DDFEF8D}"/>
              </a:ext>
            </a:extLst>
          </p:cNvPr>
          <p:cNvSpPr/>
          <p:nvPr/>
        </p:nvSpPr>
        <p:spPr>
          <a:xfrm>
            <a:off x="8173342" y="-1065755"/>
            <a:ext cx="11109641" cy="2819072"/>
          </a:xfrm>
          <a:custGeom>
            <a:avLst/>
            <a:gdLst/>
            <a:ahLst/>
            <a:cxnLst/>
            <a:rect l="l" t="t" r="r" b="b"/>
            <a:pathLst>
              <a:path w="11109641" h="2819072">
                <a:moveTo>
                  <a:pt x="0" y="0"/>
                </a:moveTo>
                <a:lnTo>
                  <a:pt x="11109642" y="0"/>
                </a:lnTo>
                <a:lnTo>
                  <a:pt x="11109642" y="2819071"/>
                </a:lnTo>
                <a:lnTo>
                  <a:pt x="0" y="281907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a:extLst>
              <a:ext uri="{FF2B5EF4-FFF2-40B4-BE49-F238E27FC236}">
                <a16:creationId xmlns:a16="http://schemas.microsoft.com/office/drawing/2014/main" id="{E75486DE-AB61-37AB-E555-A723576D9BC2}"/>
              </a:ext>
            </a:extLst>
          </p:cNvPr>
          <p:cNvSpPr/>
          <p:nvPr/>
        </p:nvSpPr>
        <p:spPr>
          <a:xfrm rot="5519627">
            <a:off x="15212169" y="3220447"/>
            <a:ext cx="7280753" cy="4114800"/>
          </a:xfrm>
          <a:custGeom>
            <a:avLst/>
            <a:gdLst/>
            <a:ahLst/>
            <a:cxnLst/>
            <a:rect l="l" t="t" r="r" b="b"/>
            <a:pathLst>
              <a:path w="7280753" h="4114800">
                <a:moveTo>
                  <a:pt x="0" y="0"/>
                </a:moveTo>
                <a:lnTo>
                  <a:pt x="7280753" y="0"/>
                </a:lnTo>
                <a:lnTo>
                  <a:pt x="7280753"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5" name="Freeform 5">
            <a:extLst>
              <a:ext uri="{FF2B5EF4-FFF2-40B4-BE49-F238E27FC236}">
                <a16:creationId xmlns:a16="http://schemas.microsoft.com/office/drawing/2014/main" id="{ED09D23E-1772-51D7-5041-B7F349D1F008}"/>
              </a:ext>
            </a:extLst>
          </p:cNvPr>
          <p:cNvSpPr/>
          <p:nvPr/>
        </p:nvSpPr>
        <p:spPr>
          <a:xfrm>
            <a:off x="0" y="6517459"/>
            <a:ext cx="18633464" cy="9350611"/>
          </a:xfrm>
          <a:custGeom>
            <a:avLst/>
            <a:gdLst/>
            <a:ahLst/>
            <a:cxnLst/>
            <a:rect l="l" t="t" r="r" b="b"/>
            <a:pathLst>
              <a:path w="18633464" h="9350611">
                <a:moveTo>
                  <a:pt x="0" y="0"/>
                </a:moveTo>
                <a:lnTo>
                  <a:pt x="18633464" y="0"/>
                </a:lnTo>
                <a:lnTo>
                  <a:pt x="18633464" y="9350611"/>
                </a:lnTo>
                <a:lnTo>
                  <a:pt x="0" y="935061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grpSp>
        <p:nvGrpSpPr>
          <p:cNvPr id="6" name="Group 6">
            <a:extLst>
              <a:ext uri="{FF2B5EF4-FFF2-40B4-BE49-F238E27FC236}">
                <a16:creationId xmlns:a16="http://schemas.microsoft.com/office/drawing/2014/main" id="{088AACBF-0F98-B364-BE90-0D1F106D37AE}"/>
              </a:ext>
            </a:extLst>
          </p:cNvPr>
          <p:cNvGrpSpPr/>
          <p:nvPr/>
        </p:nvGrpSpPr>
        <p:grpSpPr>
          <a:xfrm>
            <a:off x="1195457" y="967684"/>
            <a:ext cx="15897086" cy="8351632"/>
            <a:chOff x="0" y="0"/>
            <a:chExt cx="4186887" cy="2199607"/>
          </a:xfrm>
        </p:grpSpPr>
        <p:sp>
          <p:nvSpPr>
            <p:cNvPr id="7" name="Freeform 7">
              <a:extLst>
                <a:ext uri="{FF2B5EF4-FFF2-40B4-BE49-F238E27FC236}">
                  <a16:creationId xmlns:a16="http://schemas.microsoft.com/office/drawing/2014/main" id="{7EC7CB39-72E2-814B-854F-8BCC1DFD7247}"/>
                </a:ext>
              </a:extLst>
            </p:cNvPr>
            <p:cNvSpPr/>
            <p:nvPr/>
          </p:nvSpPr>
          <p:spPr>
            <a:xfrm>
              <a:off x="0" y="0"/>
              <a:ext cx="4186887" cy="2199607"/>
            </a:xfrm>
            <a:custGeom>
              <a:avLst/>
              <a:gdLst/>
              <a:ahLst/>
              <a:cxnLst/>
              <a:rect l="l" t="t" r="r" b="b"/>
              <a:pathLst>
                <a:path w="4186887" h="2199607">
                  <a:moveTo>
                    <a:pt x="24837" y="0"/>
                  </a:moveTo>
                  <a:lnTo>
                    <a:pt x="4162050" y="0"/>
                  </a:lnTo>
                  <a:cubicBezTo>
                    <a:pt x="4175767" y="0"/>
                    <a:pt x="4186887" y="11120"/>
                    <a:pt x="4186887" y="24837"/>
                  </a:cubicBezTo>
                  <a:lnTo>
                    <a:pt x="4186887" y="2174770"/>
                  </a:lnTo>
                  <a:cubicBezTo>
                    <a:pt x="4186887" y="2181357"/>
                    <a:pt x="4184270" y="2187674"/>
                    <a:pt x="4179612" y="2192332"/>
                  </a:cubicBezTo>
                  <a:cubicBezTo>
                    <a:pt x="4174954" y="2196990"/>
                    <a:pt x="4168637" y="2199607"/>
                    <a:pt x="4162050" y="2199607"/>
                  </a:cubicBezTo>
                  <a:lnTo>
                    <a:pt x="24837" y="2199607"/>
                  </a:lnTo>
                  <a:cubicBezTo>
                    <a:pt x="11120" y="2199607"/>
                    <a:pt x="0" y="2188487"/>
                    <a:pt x="0" y="2174770"/>
                  </a:cubicBezTo>
                  <a:lnTo>
                    <a:pt x="0" y="24837"/>
                  </a:lnTo>
                  <a:cubicBezTo>
                    <a:pt x="0" y="11120"/>
                    <a:pt x="11120" y="0"/>
                    <a:pt x="24837" y="0"/>
                  </a:cubicBezTo>
                  <a:close/>
                </a:path>
              </a:pathLst>
            </a:custGeom>
            <a:solidFill>
              <a:srgbClr val="FFFFFF">
                <a:alpha val="60784"/>
              </a:srgbClr>
            </a:solidFill>
          </p:spPr>
          <p:txBody>
            <a:bodyPr/>
            <a:lstStyle/>
            <a:p>
              <a:endParaRPr lang="en-IN"/>
            </a:p>
          </p:txBody>
        </p:sp>
        <p:sp>
          <p:nvSpPr>
            <p:cNvPr id="8" name="TextBox 8">
              <a:extLst>
                <a:ext uri="{FF2B5EF4-FFF2-40B4-BE49-F238E27FC236}">
                  <a16:creationId xmlns:a16="http://schemas.microsoft.com/office/drawing/2014/main" id="{C5AD81E1-84FC-1E64-8E03-270073CB6DAE}"/>
                </a:ext>
              </a:extLst>
            </p:cNvPr>
            <p:cNvSpPr txBox="1"/>
            <p:nvPr/>
          </p:nvSpPr>
          <p:spPr>
            <a:xfrm>
              <a:off x="0" y="-38100"/>
              <a:ext cx="4186887" cy="2237707"/>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10">
            <a:extLst>
              <a:ext uri="{FF2B5EF4-FFF2-40B4-BE49-F238E27FC236}">
                <a16:creationId xmlns:a16="http://schemas.microsoft.com/office/drawing/2014/main" id="{3FB2CE05-0441-C352-B86D-8B2B44E9C3D3}"/>
              </a:ext>
            </a:extLst>
          </p:cNvPr>
          <p:cNvSpPr txBox="1"/>
          <p:nvPr/>
        </p:nvSpPr>
        <p:spPr>
          <a:xfrm>
            <a:off x="2209800" y="1660166"/>
            <a:ext cx="7620000" cy="1519327"/>
          </a:xfrm>
          <a:prstGeom prst="rect">
            <a:avLst/>
          </a:prstGeom>
        </p:spPr>
        <p:txBody>
          <a:bodyPr wrap="square" lIns="0" tIns="0" rIns="0" bIns="0" rtlCol="0" anchor="t">
            <a:spAutoFit/>
          </a:bodyPr>
          <a:lstStyle/>
          <a:p>
            <a:pPr algn="l">
              <a:lnSpc>
                <a:spcPts val="13396"/>
              </a:lnSpc>
              <a:spcBef>
                <a:spcPct val="0"/>
              </a:spcBef>
            </a:pPr>
            <a:r>
              <a:rPr lang="en-US" sz="7200">
                <a:solidFill>
                  <a:srgbClr val="000000"/>
                </a:solidFill>
                <a:latin typeface="Arapey"/>
                <a:ea typeface="Arapey"/>
                <a:cs typeface="Arapey"/>
                <a:sym typeface="Arapey"/>
              </a:rPr>
              <a:t>Problem statement</a:t>
            </a:r>
          </a:p>
        </p:txBody>
      </p:sp>
      <p:sp>
        <p:nvSpPr>
          <p:cNvPr id="11" name="TextBox 9">
            <a:extLst>
              <a:ext uri="{FF2B5EF4-FFF2-40B4-BE49-F238E27FC236}">
                <a16:creationId xmlns:a16="http://schemas.microsoft.com/office/drawing/2014/main" id="{B236F2E5-BAF4-81BA-5612-8A000A145430}"/>
              </a:ext>
            </a:extLst>
          </p:cNvPr>
          <p:cNvSpPr txBox="1"/>
          <p:nvPr/>
        </p:nvSpPr>
        <p:spPr>
          <a:xfrm>
            <a:off x="2362200" y="3543300"/>
            <a:ext cx="14343074" cy="5663089"/>
          </a:xfrm>
          <a:prstGeom prst="rect">
            <a:avLst/>
          </a:prstGeom>
          <a:noFill/>
        </p:spPr>
        <p:txBody>
          <a:bodyPr wrap="square" lIns="0" tIns="0" rIns="0" bIns="0" rtlCol="0" anchor="t">
            <a:spAutoFit/>
          </a:bodyPr>
          <a:lstStyle/>
          <a:p>
            <a:r>
              <a:rPr lang="en-US">
                <a:latin typeface="Calibri" panose="020F0502020204030204" pitchFamily="34" charset="0"/>
                <a:ea typeface="Calibri" panose="020F0502020204030204" pitchFamily="34" charset="0"/>
                <a:cs typeface="Calibri" panose="020F0502020204030204" pitchFamily="34" charset="0"/>
              </a:rPr>
              <a:t>Employee attrition is one of the major challenges faced by organizations because it directly impacts productivity, recruitment costs, employee morale, and overall business performance. The company aims to analyze employee attrition patterns by studying factors such as department-wise attrition, salary structure, work-life balance, promotion history, working experience, and job roles.</a:t>
            </a:r>
          </a:p>
          <a:p>
            <a:endParaRPr lang="en-US" sz="800">
              <a:latin typeface="Calibri" panose="020F0502020204030204" pitchFamily="34" charset="0"/>
              <a:ea typeface="Calibri" panose="020F0502020204030204" pitchFamily="34" charset="0"/>
              <a:cs typeface="Calibri" panose="020F0502020204030204" pitchFamily="34" charset="0"/>
            </a:endParaRPr>
          </a:p>
          <a:p>
            <a:r>
              <a:rPr lang="en-US">
                <a:latin typeface="Calibri" panose="020F0502020204030204" pitchFamily="34" charset="0"/>
                <a:ea typeface="Calibri" panose="020F0502020204030204" pitchFamily="34" charset="0"/>
                <a:cs typeface="Calibri" panose="020F0502020204030204" pitchFamily="34" charset="0"/>
              </a:rPr>
              <a:t>The objective of this analysis is to identify the key reasons behind employee attrition and uncover trends that can help management improve employee retention strategies. By using HR analytics dashboards and visual reports, the organization can better understand workforce behavior and make data-driven decisions to enhance employee satisfaction and organizational stability.</a:t>
            </a:r>
          </a:p>
          <a:p>
            <a:endParaRPr lang="en-US">
              <a:latin typeface="Calibri" panose="020F0502020204030204" pitchFamily="34" charset="0"/>
              <a:ea typeface="Calibri" panose="020F0502020204030204" pitchFamily="34" charset="0"/>
              <a:cs typeface="Calibri" panose="020F0502020204030204" pitchFamily="34" charset="0"/>
            </a:endParaRPr>
          </a:p>
          <a:p>
            <a:r>
              <a:rPr lang="en-US">
                <a:latin typeface="Calibri" panose="020F0502020204030204" pitchFamily="34" charset="0"/>
                <a:ea typeface="Calibri" panose="020F0502020204030204" pitchFamily="34" charset="0"/>
                <a:cs typeface="Calibri" panose="020F0502020204030204" pitchFamily="34" charset="0"/>
              </a:rPr>
              <a:t>This report focuses on:</a:t>
            </a:r>
          </a:p>
          <a:p>
            <a:pPr marL="342900" indent="-342900">
              <a:buFont typeface="Wingdings" panose="05000000000000000000" pitchFamily="2" charset="2"/>
              <a:buChar char="§"/>
            </a:pPr>
            <a:r>
              <a:rPr lang="en-US">
                <a:latin typeface="Calibri" panose="020F0502020204030204" pitchFamily="34" charset="0"/>
                <a:ea typeface="Calibri" panose="020F0502020204030204" pitchFamily="34" charset="0"/>
                <a:cs typeface="Calibri" panose="020F0502020204030204" pitchFamily="34" charset="0"/>
              </a:rPr>
              <a:t>Average attrition rate across all departments</a:t>
            </a:r>
          </a:p>
          <a:p>
            <a:pPr marL="342900" indent="-342900">
              <a:buFont typeface="Wingdings" panose="05000000000000000000" pitchFamily="2" charset="2"/>
              <a:buChar char="§"/>
            </a:pPr>
            <a:r>
              <a:rPr lang="en-US">
                <a:latin typeface="Calibri" panose="020F0502020204030204" pitchFamily="34" charset="0"/>
                <a:ea typeface="Calibri" panose="020F0502020204030204" pitchFamily="34" charset="0"/>
                <a:cs typeface="Calibri" panose="020F0502020204030204" pitchFamily="34" charset="0"/>
              </a:rPr>
              <a:t>Average hourly rate of male research scientists</a:t>
            </a:r>
          </a:p>
          <a:p>
            <a:pPr marL="342900" indent="-342900">
              <a:buFont typeface="Wingdings" panose="05000000000000000000" pitchFamily="2" charset="2"/>
              <a:buChar char="§"/>
            </a:pPr>
            <a:r>
              <a:rPr lang="en-US">
                <a:latin typeface="Calibri" panose="020F0502020204030204" pitchFamily="34" charset="0"/>
                <a:ea typeface="Calibri" panose="020F0502020204030204" pitchFamily="34" charset="0"/>
                <a:cs typeface="Calibri" panose="020F0502020204030204" pitchFamily="34" charset="0"/>
              </a:rPr>
              <a:t>Relationship between attrition rate and monthly income stats</a:t>
            </a:r>
          </a:p>
          <a:p>
            <a:pPr marL="342900" indent="-342900">
              <a:buFont typeface="Wingdings" panose="05000000000000000000" pitchFamily="2" charset="2"/>
              <a:buChar char="§"/>
            </a:pPr>
            <a:r>
              <a:rPr lang="en-US">
                <a:latin typeface="Calibri" panose="020F0502020204030204" pitchFamily="34" charset="0"/>
                <a:ea typeface="Calibri" panose="020F0502020204030204" pitchFamily="34" charset="0"/>
                <a:cs typeface="Calibri" panose="020F0502020204030204" pitchFamily="34" charset="0"/>
              </a:rPr>
              <a:t>Average working years for each department</a:t>
            </a:r>
          </a:p>
          <a:p>
            <a:pPr marL="342900" indent="-342900">
              <a:buFont typeface="Wingdings" panose="05000000000000000000" pitchFamily="2" charset="2"/>
              <a:buChar char="§"/>
            </a:pPr>
            <a:r>
              <a:rPr lang="en-US">
                <a:latin typeface="Calibri" panose="020F0502020204030204" pitchFamily="34" charset="0"/>
                <a:ea typeface="Calibri" panose="020F0502020204030204" pitchFamily="34" charset="0"/>
                <a:cs typeface="Calibri" panose="020F0502020204030204" pitchFamily="34" charset="0"/>
              </a:rPr>
              <a:t>Job role versus work-life balance analysis</a:t>
            </a:r>
          </a:p>
          <a:p>
            <a:pPr marL="342900" indent="-342900">
              <a:buFont typeface="Wingdings" panose="05000000000000000000" pitchFamily="2" charset="2"/>
              <a:buChar char="§"/>
            </a:pPr>
            <a:r>
              <a:rPr lang="en-US">
                <a:latin typeface="Calibri" panose="020F0502020204030204" pitchFamily="34" charset="0"/>
                <a:ea typeface="Calibri" panose="020F0502020204030204" pitchFamily="34" charset="0"/>
                <a:cs typeface="Calibri" panose="020F0502020204030204" pitchFamily="34" charset="0"/>
              </a:rPr>
              <a:t>Relationship between attrition rate and years since last promotion</a:t>
            </a:r>
          </a:p>
          <a:p>
            <a:pPr marL="342900" indent="-342900">
              <a:buFont typeface="Wingdings" panose="05000000000000000000" pitchFamily="2" charset="2"/>
              <a:buChar char="§"/>
            </a:pPr>
            <a:r>
              <a:rPr lang="en-US">
                <a:latin typeface="Calibri" panose="020F0502020204030204" pitchFamily="34" charset="0"/>
                <a:ea typeface="Calibri" panose="020F0502020204030204" pitchFamily="34" charset="0"/>
                <a:cs typeface="Calibri" panose="020F0502020204030204" pitchFamily="34" charset="0"/>
              </a:rPr>
              <a:t>Additional optional dashboards and charts for deeper HR insights</a:t>
            </a:r>
          </a:p>
          <a:p>
            <a:endParaRPr lang="en-US">
              <a:latin typeface="Calibri" panose="020F0502020204030204" pitchFamily="34" charset="0"/>
              <a:ea typeface="Calibri" panose="020F0502020204030204" pitchFamily="34" charset="0"/>
              <a:cs typeface="Calibri" panose="020F0502020204030204" pitchFamily="34" charset="0"/>
            </a:endParaRPr>
          </a:p>
          <a:p>
            <a:r>
              <a:rPr lang="en-US">
                <a:latin typeface="Calibri" panose="020F0502020204030204" pitchFamily="34" charset="0"/>
                <a:ea typeface="Calibri" panose="020F0502020204030204" pitchFamily="34" charset="0"/>
                <a:cs typeface="Calibri" panose="020F0502020204030204" pitchFamily="34" charset="0"/>
              </a:rPr>
              <a:t>The analysis will help HR teams identify high-risk employee groups, understand compensation-related concerns, and evaluate whether career growth opportunities and work-life balance influence attrition.</a:t>
            </a:r>
          </a:p>
          <a:p>
            <a:br>
              <a:rPr lang="en-US">
                <a:latin typeface="Calibri" panose="020F0502020204030204" pitchFamily="34" charset="0"/>
                <a:ea typeface="Calibri" panose="020F0502020204030204" pitchFamily="34" charset="0"/>
                <a:cs typeface="Calibri" panose="020F0502020204030204" pitchFamily="34" charset="0"/>
              </a:rPr>
            </a:br>
            <a:endParaRPr lang="en-US">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762921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2184380"/>
          </a:xfrm>
          <a:custGeom>
            <a:avLst/>
            <a:gdLst/>
            <a:ahLst/>
            <a:cxnLst/>
            <a:rect l="l" t="t" r="r" b="b"/>
            <a:pathLst>
              <a:path w="18288000" h="12184380">
                <a:moveTo>
                  <a:pt x="0" y="0"/>
                </a:moveTo>
                <a:lnTo>
                  <a:pt x="18288000" y="0"/>
                </a:lnTo>
                <a:lnTo>
                  <a:pt x="18288000" y="12184380"/>
                </a:lnTo>
                <a:lnTo>
                  <a:pt x="0" y="12184380"/>
                </a:lnTo>
                <a:lnTo>
                  <a:pt x="0" y="0"/>
                </a:lnTo>
                <a:close/>
              </a:path>
            </a:pathLst>
          </a:custGeom>
          <a:blipFill>
            <a:blip r:embed="rId2">
              <a:alphaModFix amt="26000"/>
            </a:blip>
            <a:stretch>
              <a:fillRect/>
            </a:stretch>
          </a:blipFill>
        </p:spPr>
        <p:txBody>
          <a:bodyPr/>
          <a:lstStyle/>
          <a:p>
            <a:endParaRPr lang="en-IN"/>
          </a:p>
        </p:txBody>
      </p:sp>
      <p:sp>
        <p:nvSpPr>
          <p:cNvPr id="3" name="Freeform 3"/>
          <p:cNvSpPr/>
          <p:nvPr/>
        </p:nvSpPr>
        <p:spPr>
          <a:xfrm>
            <a:off x="10775287" y="8645946"/>
            <a:ext cx="5551100" cy="2547812"/>
          </a:xfrm>
          <a:custGeom>
            <a:avLst/>
            <a:gdLst/>
            <a:ahLst/>
            <a:cxnLst/>
            <a:rect l="l" t="t" r="r" b="b"/>
            <a:pathLst>
              <a:path w="5551100" h="2547812">
                <a:moveTo>
                  <a:pt x="0" y="0"/>
                </a:moveTo>
                <a:lnTo>
                  <a:pt x="5551099" y="0"/>
                </a:lnTo>
                <a:lnTo>
                  <a:pt x="5551099" y="2547813"/>
                </a:lnTo>
                <a:lnTo>
                  <a:pt x="0" y="254781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a:off x="0" y="-287338"/>
            <a:ext cx="7315200" cy="1802843"/>
          </a:xfrm>
          <a:custGeom>
            <a:avLst/>
            <a:gdLst/>
            <a:ahLst/>
            <a:cxnLst/>
            <a:rect l="l" t="t" r="r" b="b"/>
            <a:pathLst>
              <a:path w="7315200" h="1802843">
                <a:moveTo>
                  <a:pt x="0" y="0"/>
                </a:moveTo>
                <a:lnTo>
                  <a:pt x="7315200" y="0"/>
                </a:lnTo>
                <a:lnTo>
                  <a:pt x="7315200" y="1802843"/>
                </a:lnTo>
                <a:lnTo>
                  <a:pt x="0" y="18028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5" name="Freeform 5"/>
          <p:cNvSpPr/>
          <p:nvPr/>
        </p:nvSpPr>
        <p:spPr>
          <a:xfrm>
            <a:off x="13550836" y="-2599295"/>
            <a:ext cx="7416927" cy="8229600"/>
          </a:xfrm>
          <a:custGeom>
            <a:avLst/>
            <a:gdLst/>
            <a:ahLst/>
            <a:cxnLst/>
            <a:rect l="l" t="t" r="r" b="b"/>
            <a:pathLst>
              <a:path w="7416927" h="8229600">
                <a:moveTo>
                  <a:pt x="0" y="0"/>
                </a:moveTo>
                <a:lnTo>
                  <a:pt x="7416927" y="0"/>
                </a:lnTo>
                <a:lnTo>
                  <a:pt x="7416927" y="8229600"/>
                </a:lnTo>
                <a:lnTo>
                  <a:pt x="0" y="8229600"/>
                </a:lnTo>
                <a:lnTo>
                  <a:pt x="0" y="0"/>
                </a:lnTo>
                <a:close/>
              </a:path>
            </a:pathLst>
          </a:custGeom>
          <a:blipFill>
            <a:blip r:embed="rId5"/>
            <a:stretch>
              <a:fillRect/>
            </a:stretch>
          </a:blipFill>
        </p:spPr>
        <p:txBody>
          <a:bodyPr/>
          <a:lstStyle/>
          <a:p>
            <a:endParaRPr lang="en-IN"/>
          </a:p>
        </p:txBody>
      </p:sp>
      <p:sp>
        <p:nvSpPr>
          <p:cNvPr id="6" name="Freeform 6"/>
          <p:cNvSpPr/>
          <p:nvPr/>
        </p:nvSpPr>
        <p:spPr>
          <a:xfrm rot="956953">
            <a:off x="-1464555" y="7094451"/>
            <a:ext cx="8397773" cy="7872912"/>
          </a:xfrm>
          <a:custGeom>
            <a:avLst/>
            <a:gdLst/>
            <a:ahLst/>
            <a:cxnLst/>
            <a:rect l="l" t="t" r="r" b="b"/>
            <a:pathLst>
              <a:path w="8397773" h="7872912">
                <a:moveTo>
                  <a:pt x="0" y="0"/>
                </a:moveTo>
                <a:lnTo>
                  <a:pt x="8397773" y="0"/>
                </a:lnTo>
                <a:lnTo>
                  <a:pt x="8397773" y="7872912"/>
                </a:lnTo>
                <a:lnTo>
                  <a:pt x="0" y="787291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IN"/>
          </a:p>
        </p:txBody>
      </p:sp>
      <p:grpSp>
        <p:nvGrpSpPr>
          <p:cNvPr id="7" name="Group 7"/>
          <p:cNvGrpSpPr/>
          <p:nvPr/>
        </p:nvGrpSpPr>
        <p:grpSpPr>
          <a:xfrm>
            <a:off x="1195457" y="967684"/>
            <a:ext cx="15897086" cy="8351632"/>
            <a:chOff x="0" y="0"/>
            <a:chExt cx="4186887" cy="2199607"/>
          </a:xfrm>
        </p:grpSpPr>
        <p:sp>
          <p:nvSpPr>
            <p:cNvPr id="8" name="Freeform 8"/>
            <p:cNvSpPr/>
            <p:nvPr/>
          </p:nvSpPr>
          <p:spPr>
            <a:xfrm>
              <a:off x="0" y="0"/>
              <a:ext cx="4186887" cy="2199607"/>
            </a:xfrm>
            <a:custGeom>
              <a:avLst/>
              <a:gdLst/>
              <a:ahLst/>
              <a:cxnLst/>
              <a:rect l="l" t="t" r="r" b="b"/>
              <a:pathLst>
                <a:path w="4186887" h="2199607">
                  <a:moveTo>
                    <a:pt x="24837" y="0"/>
                  </a:moveTo>
                  <a:lnTo>
                    <a:pt x="4162050" y="0"/>
                  </a:lnTo>
                  <a:cubicBezTo>
                    <a:pt x="4175767" y="0"/>
                    <a:pt x="4186887" y="11120"/>
                    <a:pt x="4186887" y="24837"/>
                  </a:cubicBezTo>
                  <a:lnTo>
                    <a:pt x="4186887" y="2174770"/>
                  </a:lnTo>
                  <a:cubicBezTo>
                    <a:pt x="4186887" y="2181357"/>
                    <a:pt x="4184270" y="2187674"/>
                    <a:pt x="4179612" y="2192332"/>
                  </a:cubicBezTo>
                  <a:cubicBezTo>
                    <a:pt x="4174954" y="2196990"/>
                    <a:pt x="4168637" y="2199607"/>
                    <a:pt x="4162050" y="2199607"/>
                  </a:cubicBezTo>
                  <a:lnTo>
                    <a:pt x="24837" y="2199607"/>
                  </a:lnTo>
                  <a:cubicBezTo>
                    <a:pt x="11120" y="2199607"/>
                    <a:pt x="0" y="2188487"/>
                    <a:pt x="0" y="2174770"/>
                  </a:cubicBezTo>
                  <a:lnTo>
                    <a:pt x="0" y="24837"/>
                  </a:lnTo>
                  <a:cubicBezTo>
                    <a:pt x="0" y="11120"/>
                    <a:pt x="11120" y="0"/>
                    <a:pt x="24837" y="0"/>
                  </a:cubicBezTo>
                  <a:close/>
                </a:path>
              </a:pathLst>
            </a:custGeom>
            <a:solidFill>
              <a:srgbClr val="FFFFFF">
                <a:alpha val="60784"/>
              </a:srgbClr>
            </a:solidFill>
          </p:spPr>
          <p:txBody>
            <a:bodyPr/>
            <a:lstStyle/>
            <a:p>
              <a:endParaRPr lang="en-IN"/>
            </a:p>
          </p:txBody>
        </p:sp>
        <p:sp>
          <p:nvSpPr>
            <p:cNvPr id="9" name="TextBox 9"/>
            <p:cNvSpPr txBox="1"/>
            <p:nvPr/>
          </p:nvSpPr>
          <p:spPr>
            <a:xfrm>
              <a:off x="0" y="-38100"/>
              <a:ext cx="4186887" cy="2237707"/>
            </a:xfrm>
            <a:prstGeom prst="rect">
              <a:avLst/>
            </a:prstGeom>
          </p:spPr>
          <p:txBody>
            <a:bodyPr lIns="50800" tIns="50800" rIns="50800" bIns="50800" rtlCol="0" anchor="ctr"/>
            <a:lstStyle/>
            <a:p>
              <a:pPr algn="ctr">
                <a:lnSpc>
                  <a:spcPts val="2659"/>
                </a:lnSpc>
                <a:spcBef>
                  <a:spcPct val="0"/>
                </a:spcBef>
              </a:pPr>
              <a:endParaRPr/>
            </a:p>
          </p:txBody>
        </p:sp>
      </p:grpSp>
      <p:pic>
        <p:nvPicPr>
          <p:cNvPr id="11" name="Picture 10">
            <a:extLst>
              <a:ext uri="{FF2B5EF4-FFF2-40B4-BE49-F238E27FC236}">
                <a16:creationId xmlns:a16="http://schemas.microsoft.com/office/drawing/2014/main" id="{FA62B2F5-1B03-92C7-4339-0C8A5F6D7BFA}"/>
              </a:ext>
            </a:extLst>
          </p:cNvPr>
          <p:cNvPicPr>
            <a:picLocks noChangeAspect="1"/>
          </p:cNvPicPr>
          <p:nvPr/>
        </p:nvPicPr>
        <p:blipFill>
          <a:blip r:embed="rId7"/>
          <a:stretch>
            <a:fillRect/>
          </a:stretch>
        </p:blipFill>
        <p:spPr>
          <a:xfrm>
            <a:off x="1676400" y="2171700"/>
            <a:ext cx="15011400" cy="7022068"/>
          </a:xfrm>
          <a:prstGeom prst="rect">
            <a:avLst/>
          </a:prstGeom>
        </p:spPr>
      </p:pic>
      <p:sp>
        <p:nvSpPr>
          <p:cNvPr id="12" name="Rectangle: Rounded Corners 11">
            <a:extLst>
              <a:ext uri="{FF2B5EF4-FFF2-40B4-BE49-F238E27FC236}">
                <a16:creationId xmlns:a16="http://schemas.microsoft.com/office/drawing/2014/main" id="{F0A2CB2B-AE97-3B55-33C0-48AC2BAF80F5}"/>
              </a:ext>
            </a:extLst>
          </p:cNvPr>
          <p:cNvSpPr/>
          <p:nvPr/>
        </p:nvSpPr>
        <p:spPr>
          <a:xfrm>
            <a:off x="7115496" y="1343614"/>
            <a:ext cx="3247704" cy="63310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a:solidFill>
                  <a:schemeClr val="tx1"/>
                </a:solidFill>
              </a:rPr>
              <a:t>Excel Dashboard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81652-D320-626D-D096-268FC011CF9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BC403FE-8259-F59B-BA3F-A99E7B266C16}"/>
              </a:ext>
            </a:extLst>
          </p:cNvPr>
          <p:cNvSpPr/>
          <p:nvPr/>
        </p:nvSpPr>
        <p:spPr>
          <a:xfrm>
            <a:off x="0" y="0"/>
            <a:ext cx="18288000" cy="12184380"/>
          </a:xfrm>
          <a:custGeom>
            <a:avLst/>
            <a:gdLst/>
            <a:ahLst/>
            <a:cxnLst/>
            <a:rect l="l" t="t" r="r" b="b"/>
            <a:pathLst>
              <a:path w="18288000" h="12184380">
                <a:moveTo>
                  <a:pt x="0" y="0"/>
                </a:moveTo>
                <a:lnTo>
                  <a:pt x="18288000" y="0"/>
                </a:lnTo>
                <a:lnTo>
                  <a:pt x="18288000" y="12184380"/>
                </a:lnTo>
                <a:lnTo>
                  <a:pt x="0" y="12184380"/>
                </a:lnTo>
                <a:lnTo>
                  <a:pt x="0" y="0"/>
                </a:lnTo>
                <a:close/>
              </a:path>
            </a:pathLst>
          </a:custGeom>
          <a:blipFill>
            <a:blip r:embed="rId3">
              <a:alphaModFix amt="26000"/>
            </a:blip>
            <a:stretch>
              <a:fillRect/>
            </a:stretch>
          </a:blipFill>
        </p:spPr>
        <p:txBody>
          <a:bodyPr/>
          <a:lstStyle/>
          <a:p>
            <a:endParaRPr lang="en-IN"/>
          </a:p>
        </p:txBody>
      </p:sp>
      <p:sp>
        <p:nvSpPr>
          <p:cNvPr id="3" name="Freeform 3">
            <a:extLst>
              <a:ext uri="{FF2B5EF4-FFF2-40B4-BE49-F238E27FC236}">
                <a16:creationId xmlns:a16="http://schemas.microsoft.com/office/drawing/2014/main" id="{42474739-24F9-A584-4886-FF686A98BCD9}"/>
              </a:ext>
            </a:extLst>
          </p:cNvPr>
          <p:cNvSpPr/>
          <p:nvPr/>
        </p:nvSpPr>
        <p:spPr>
          <a:xfrm>
            <a:off x="8173342" y="-1065755"/>
            <a:ext cx="11109641" cy="2819072"/>
          </a:xfrm>
          <a:custGeom>
            <a:avLst/>
            <a:gdLst/>
            <a:ahLst/>
            <a:cxnLst/>
            <a:rect l="l" t="t" r="r" b="b"/>
            <a:pathLst>
              <a:path w="11109641" h="2819072">
                <a:moveTo>
                  <a:pt x="0" y="0"/>
                </a:moveTo>
                <a:lnTo>
                  <a:pt x="11109642" y="0"/>
                </a:lnTo>
                <a:lnTo>
                  <a:pt x="11109642" y="2819071"/>
                </a:lnTo>
                <a:lnTo>
                  <a:pt x="0" y="281907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4" name="Freeform 4">
            <a:extLst>
              <a:ext uri="{FF2B5EF4-FFF2-40B4-BE49-F238E27FC236}">
                <a16:creationId xmlns:a16="http://schemas.microsoft.com/office/drawing/2014/main" id="{5C6A3DEF-0371-665A-E537-A1AFF1E125B7}"/>
              </a:ext>
            </a:extLst>
          </p:cNvPr>
          <p:cNvSpPr/>
          <p:nvPr/>
        </p:nvSpPr>
        <p:spPr>
          <a:xfrm rot="5519627">
            <a:off x="15212169" y="3220447"/>
            <a:ext cx="7280753" cy="4114800"/>
          </a:xfrm>
          <a:custGeom>
            <a:avLst/>
            <a:gdLst/>
            <a:ahLst/>
            <a:cxnLst/>
            <a:rect l="l" t="t" r="r" b="b"/>
            <a:pathLst>
              <a:path w="7280753" h="4114800">
                <a:moveTo>
                  <a:pt x="0" y="0"/>
                </a:moveTo>
                <a:lnTo>
                  <a:pt x="7280753" y="0"/>
                </a:lnTo>
                <a:lnTo>
                  <a:pt x="7280753"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sp>
        <p:nvSpPr>
          <p:cNvPr id="5" name="Freeform 5">
            <a:extLst>
              <a:ext uri="{FF2B5EF4-FFF2-40B4-BE49-F238E27FC236}">
                <a16:creationId xmlns:a16="http://schemas.microsoft.com/office/drawing/2014/main" id="{0496E0F1-F19D-A658-E0F0-F0F62E55630D}"/>
              </a:ext>
            </a:extLst>
          </p:cNvPr>
          <p:cNvSpPr/>
          <p:nvPr/>
        </p:nvSpPr>
        <p:spPr>
          <a:xfrm>
            <a:off x="0" y="6517459"/>
            <a:ext cx="18633464" cy="9350611"/>
          </a:xfrm>
          <a:custGeom>
            <a:avLst/>
            <a:gdLst/>
            <a:ahLst/>
            <a:cxnLst/>
            <a:rect l="l" t="t" r="r" b="b"/>
            <a:pathLst>
              <a:path w="18633464" h="9350611">
                <a:moveTo>
                  <a:pt x="0" y="0"/>
                </a:moveTo>
                <a:lnTo>
                  <a:pt x="18633464" y="0"/>
                </a:lnTo>
                <a:lnTo>
                  <a:pt x="18633464" y="9350611"/>
                </a:lnTo>
                <a:lnTo>
                  <a:pt x="0" y="935061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IN"/>
          </a:p>
        </p:txBody>
      </p:sp>
      <p:grpSp>
        <p:nvGrpSpPr>
          <p:cNvPr id="6" name="Group 6">
            <a:extLst>
              <a:ext uri="{FF2B5EF4-FFF2-40B4-BE49-F238E27FC236}">
                <a16:creationId xmlns:a16="http://schemas.microsoft.com/office/drawing/2014/main" id="{103AFF53-341E-BBF7-EBF1-7D4392EACD76}"/>
              </a:ext>
            </a:extLst>
          </p:cNvPr>
          <p:cNvGrpSpPr/>
          <p:nvPr/>
        </p:nvGrpSpPr>
        <p:grpSpPr>
          <a:xfrm>
            <a:off x="1195457" y="967684"/>
            <a:ext cx="15897086" cy="8351632"/>
            <a:chOff x="0" y="0"/>
            <a:chExt cx="4186887" cy="2199607"/>
          </a:xfrm>
        </p:grpSpPr>
        <p:sp>
          <p:nvSpPr>
            <p:cNvPr id="7" name="Freeform 7">
              <a:extLst>
                <a:ext uri="{FF2B5EF4-FFF2-40B4-BE49-F238E27FC236}">
                  <a16:creationId xmlns:a16="http://schemas.microsoft.com/office/drawing/2014/main" id="{72E21C36-CDD5-E231-1261-5814542DBA0E}"/>
                </a:ext>
              </a:extLst>
            </p:cNvPr>
            <p:cNvSpPr/>
            <p:nvPr/>
          </p:nvSpPr>
          <p:spPr>
            <a:xfrm>
              <a:off x="0" y="0"/>
              <a:ext cx="4186887" cy="2199607"/>
            </a:xfrm>
            <a:custGeom>
              <a:avLst/>
              <a:gdLst/>
              <a:ahLst/>
              <a:cxnLst/>
              <a:rect l="l" t="t" r="r" b="b"/>
              <a:pathLst>
                <a:path w="4186887" h="2199607">
                  <a:moveTo>
                    <a:pt x="24837" y="0"/>
                  </a:moveTo>
                  <a:lnTo>
                    <a:pt x="4162050" y="0"/>
                  </a:lnTo>
                  <a:cubicBezTo>
                    <a:pt x="4175767" y="0"/>
                    <a:pt x="4186887" y="11120"/>
                    <a:pt x="4186887" y="24837"/>
                  </a:cubicBezTo>
                  <a:lnTo>
                    <a:pt x="4186887" y="2174770"/>
                  </a:lnTo>
                  <a:cubicBezTo>
                    <a:pt x="4186887" y="2181357"/>
                    <a:pt x="4184270" y="2187674"/>
                    <a:pt x="4179612" y="2192332"/>
                  </a:cubicBezTo>
                  <a:cubicBezTo>
                    <a:pt x="4174954" y="2196990"/>
                    <a:pt x="4168637" y="2199607"/>
                    <a:pt x="4162050" y="2199607"/>
                  </a:cubicBezTo>
                  <a:lnTo>
                    <a:pt x="24837" y="2199607"/>
                  </a:lnTo>
                  <a:cubicBezTo>
                    <a:pt x="11120" y="2199607"/>
                    <a:pt x="0" y="2188487"/>
                    <a:pt x="0" y="2174770"/>
                  </a:cubicBezTo>
                  <a:lnTo>
                    <a:pt x="0" y="24837"/>
                  </a:lnTo>
                  <a:cubicBezTo>
                    <a:pt x="0" y="11120"/>
                    <a:pt x="11120" y="0"/>
                    <a:pt x="24837" y="0"/>
                  </a:cubicBezTo>
                  <a:close/>
                </a:path>
              </a:pathLst>
            </a:custGeom>
            <a:solidFill>
              <a:srgbClr val="FFFFFF">
                <a:alpha val="60784"/>
              </a:srgbClr>
            </a:solidFill>
          </p:spPr>
          <p:txBody>
            <a:bodyPr/>
            <a:lstStyle/>
            <a:p>
              <a:endParaRPr lang="en-IN"/>
            </a:p>
          </p:txBody>
        </p:sp>
        <p:sp>
          <p:nvSpPr>
            <p:cNvPr id="8" name="TextBox 8">
              <a:extLst>
                <a:ext uri="{FF2B5EF4-FFF2-40B4-BE49-F238E27FC236}">
                  <a16:creationId xmlns:a16="http://schemas.microsoft.com/office/drawing/2014/main" id="{5EF3937C-9C86-56BB-6236-4DDCBF4CF1EE}"/>
                </a:ext>
              </a:extLst>
            </p:cNvPr>
            <p:cNvSpPr txBox="1"/>
            <p:nvPr/>
          </p:nvSpPr>
          <p:spPr>
            <a:xfrm>
              <a:off x="0" y="-38100"/>
              <a:ext cx="4186887" cy="2237707"/>
            </a:xfrm>
            <a:prstGeom prst="rect">
              <a:avLst/>
            </a:prstGeom>
          </p:spPr>
          <p:txBody>
            <a:bodyPr lIns="50800" tIns="50800" rIns="50800" bIns="50800" rtlCol="0" anchor="ctr"/>
            <a:lstStyle/>
            <a:p>
              <a:pPr algn="ctr">
                <a:lnSpc>
                  <a:spcPts val="2659"/>
                </a:lnSpc>
                <a:spcBef>
                  <a:spcPct val="0"/>
                </a:spcBef>
              </a:pPr>
              <a:endParaRPr/>
            </a:p>
          </p:txBody>
        </p:sp>
      </p:grpSp>
      <p:sp>
        <p:nvSpPr>
          <p:cNvPr id="10" name="Rectangle: Rounded Corners 9">
            <a:extLst>
              <a:ext uri="{FF2B5EF4-FFF2-40B4-BE49-F238E27FC236}">
                <a16:creationId xmlns:a16="http://schemas.microsoft.com/office/drawing/2014/main" id="{AFB5FE8A-FABC-72DC-F6D9-1441440B9615}"/>
              </a:ext>
            </a:extLst>
          </p:cNvPr>
          <p:cNvSpPr/>
          <p:nvPr/>
        </p:nvSpPr>
        <p:spPr>
          <a:xfrm>
            <a:off x="7496496" y="1343614"/>
            <a:ext cx="3247704" cy="63310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a:solidFill>
                  <a:schemeClr val="tx1"/>
                </a:solidFill>
              </a:rPr>
              <a:t>MySQL Scripts </a:t>
            </a:r>
          </a:p>
        </p:txBody>
      </p:sp>
      <p:pic>
        <p:nvPicPr>
          <p:cNvPr id="14" name="Picture 13">
            <a:extLst>
              <a:ext uri="{FF2B5EF4-FFF2-40B4-BE49-F238E27FC236}">
                <a16:creationId xmlns:a16="http://schemas.microsoft.com/office/drawing/2014/main" id="{A8B7BBD1-BC81-BB15-A6E6-E7B37114C09E}"/>
              </a:ext>
            </a:extLst>
          </p:cNvPr>
          <p:cNvPicPr>
            <a:picLocks noChangeAspect="1"/>
          </p:cNvPicPr>
          <p:nvPr/>
        </p:nvPicPr>
        <p:blipFill>
          <a:blip r:embed="rId7"/>
          <a:stretch>
            <a:fillRect/>
          </a:stretch>
        </p:blipFill>
        <p:spPr>
          <a:xfrm>
            <a:off x="2209860" y="2352648"/>
            <a:ext cx="6324540" cy="659073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6" name="Picture 15">
            <a:extLst>
              <a:ext uri="{FF2B5EF4-FFF2-40B4-BE49-F238E27FC236}">
                <a16:creationId xmlns:a16="http://schemas.microsoft.com/office/drawing/2014/main" id="{32370A90-6B54-2C92-9B69-D3089E50432B}"/>
              </a:ext>
            </a:extLst>
          </p:cNvPr>
          <p:cNvPicPr>
            <a:picLocks noChangeAspect="1"/>
          </p:cNvPicPr>
          <p:nvPr/>
        </p:nvPicPr>
        <p:blipFill>
          <a:blip r:embed="rId8"/>
          <a:stretch>
            <a:fillRect/>
          </a:stretch>
        </p:blipFill>
        <p:spPr>
          <a:xfrm>
            <a:off x="9067727" y="2939117"/>
            <a:ext cx="7602011" cy="413442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9012877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520D8-D4F9-AB6A-47F1-47909CC8EF9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B3B1AEC-B7D8-803E-4848-446C9C321CCD}"/>
              </a:ext>
            </a:extLst>
          </p:cNvPr>
          <p:cNvSpPr/>
          <p:nvPr/>
        </p:nvSpPr>
        <p:spPr>
          <a:xfrm>
            <a:off x="0" y="0"/>
            <a:ext cx="18288000" cy="12184380"/>
          </a:xfrm>
          <a:custGeom>
            <a:avLst/>
            <a:gdLst/>
            <a:ahLst/>
            <a:cxnLst/>
            <a:rect l="l" t="t" r="r" b="b"/>
            <a:pathLst>
              <a:path w="18288000" h="12184380">
                <a:moveTo>
                  <a:pt x="0" y="0"/>
                </a:moveTo>
                <a:lnTo>
                  <a:pt x="18288000" y="0"/>
                </a:lnTo>
                <a:lnTo>
                  <a:pt x="18288000" y="12184380"/>
                </a:lnTo>
                <a:lnTo>
                  <a:pt x="0" y="12184380"/>
                </a:lnTo>
                <a:lnTo>
                  <a:pt x="0" y="0"/>
                </a:lnTo>
                <a:close/>
              </a:path>
            </a:pathLst>
          </a:custGeom>
          <a:blipFill>
            <a:blip r:embed="rId3">
              <a:alphaModFix amt="26000"/>
            </a:blip>
            <a:stretch>
              <a:fillRect/>
            </a:stretch>
          </a:blipFill>
        </p:spPr>
        <p:txBody>
          <a:bodyPr/>
          <a:lstStyle/>
          <a:p>
            <a:endParaRPr lang="en-IN"/>
          </a:p>
        </p:txBody>
      </p:sp>
      <p:sp>
        <p:nvSpPr>
          <p:cNvPr id="3" name="Freeform 3">
            <a:extLst>
              <a:ext uri="{FF2B5EF4-FFF2-40B4-BE49-F238E27FC236}">
                <a16:creationId xmlns:a16="http://schemas.microsoft.com/office/drawing/2014/main" id="{A2A6BE6A-AECD-5EFD-D466-B11FC2EE17B9}"/>
              </a:ext>
            </a:extLst>
          </p:cNvPr>
          <p:cNvSpPr/>
          <p:nvPr/>
        </p:nvSpPr>
        <p:spPr>
          <a:xfrm>
            <a:off x="8173342" y="-1257300"/>
            <a:ext cx="11109641" cy="2819072"/>
          </a:xfrm>
          <a:custGeom>
            <a:avLst/>
            <a:gdLst/>
            <a:ahLst/>
            <a:cxnLst/>
            <a:rect l="l" t="t" r="r" b="b"/>
            <a:pathLst>
              <a:path w="11109641" h="2819072">
                <a:moveTo>
                  <a:pt x="0" y="0"/>
                </a:moveTo>
                <a:lnTo>
                  <a:pt x="11109642" y="0"/>
                </a:lnTo>
                <a:lnTo>
                  <a:pt x="11109642" y="2819071"/>
                </a:lnTo>
                <a:lnTo>
                  <a:pt x="0" y="281907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4" name="Freeform 4">
            <a:extLst>
              <a:ext uri="{FF2B5EF4-FFF2-40B4-BE49-F238E27FC236}">
                <a16:creationId xmlns:a16="http://schemas.microsoft.com/office/drawing/2014/main" id="{D147AB9C-B90E-6EB8-84E5-B84EA071490A}"/>
              </a:ext>
            </a:extLst>
          </p:cNvPr>
          <p:cNvSpPr/>
          <p:nvPr/>
        </p:nvSpPr>
        <p:spPr>
          <a:xfrm rot="5519627">
            <a:off x="15212169" y="3220447"/>
            <a:ext cx="7280753" cy="4114800"/>
          </a:xfrm>
          <a:custGeom>
            <a:avLst/>
            <a:gdLst/>
            <a:ahLst/>
            <a:cxnLst/>
            <a:rect l="l" t="t" r="r" b="b"/>
            <a:pathLst>
              <a:path w="7280753" h="4114800">
                <a:moveTo>
                  <a:pt x="0" y="0"/>
                </a:moveTo>
                <a:lnTo>
                  <a:pt x="7280753" y="0"/>
                </a:lnTo>
                <a:lnTo>
                  <a:pt x="7280753"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sp>
        <p:nvSpPr>
          <p:cNvPr id="5" name="Freeform 5">
            <a:extLst>
              <a:ext uri="{FF2B5EF4-FFF2-40B4-BE49-F238E27FC236}">
                <a16:creationId xmlns:a16="http://schemas.microsoft.com/office/drawing/2014/main" id="{4C0668EB-1BCA-6622-7A53-7A80E72DA002}"/>
              </a:ext>
            </a:extLst>
          </p:cNvPr>
          <p:cNvSpPr/>
          <p:nvPr/>
        </p:nvSpPr>
        <p:spPr>
          <a:xfrm>
            <a:off x="0" y="6517459"/>
            <a:ext cx="18633464" cy="9350611"/>
          </a:xfrm>
          <a:custGeom>
            <a:avLst/>
            <a:gdLst/>
            <a:ahLst/>
            <a:cxnLst/>
            <a:rect l="l" t="t" r="r" b="b"/>
            <a:pathLst>
              <a:path w="18633464" h="9350611">
                <a:moveTo>
                  <a:pt x="0" y="0"/>
                </a:moveTo>
                <a:lnTo>
                  <a:pt x="18633464" y="0"/>
                </a:lnTo>
                <a:lnTo>
                  <a:pt x="18633464" y="9350611"/>
                </a:lnTo>
                <a:lnTo>
                  <a:pt x="0" y="935061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IN"/>
          </a:p>
        </p:txBody>
      </p:sp>
      <p:grpSp>
        <p:nvGrpSpPr>
          <p:cNvPr id="6" name="Group 6">
            <a:extLst>
              <a:ext uri="{FF2B5EF4-FFF2-40B4-BE49-F238E27FC236}">
                <a16:creationId xmlns:a16="http://schemas.microsoft.com/office/drawing/2014/main" id="{F87434CA-9DB6-F450-32D6-AE2D7D81DF8C}"/>
              </a:ext>
            </a:extLst>
          </p:cNvPr>
          <p:cNvGrpSpPr/>
          <p:nvPr/>
        </p:nvGrpSpPr>
        <p:grpSpPr>
          <a:xfrm>
            <a:off x="1195457" y="967684"/>
            <a:ext cx="15897086" cy="8351632"/>
            <a:chOff x="0" y="0"/>
            <a:chExt cx="4186887" cy="2199607"/>
          </a:xfrm>
        </p:grpSpPr>
        <p:sp>
          <p:nvSpPr>
            <p:cNvPr id="7" name="Freeform 7">
              <a:extLst>
                <a:ext uri="{FF2B5EF4-FFF2-40B4-BE49-F238E27FC236}">
                  <a16:creationId xmlns:a16="http://schemas.microsoft.com/office/drawing/2014/main" id="{B0E92316-89A4-1595-ADBD-3F65FD0D070F}"/>
                </a:ext>
              </a:extLst>
            </p:cNvPr>
            <p:cNvSpPr/>
            <p:nvPr/>
          </p:nvSpPr>
          <p:spPr>
            <a:xfrm>
              <a:off x="0" y="0"/>
              <a:ext cx="4186887" cy="2199607"/>
            </a:xfrm>
            <a:custGeom>
              <a:avLst/>
              <a:gdLst/>
              <a:ahLst/>
              <a:cxnLst/>
              <a:rect l="l" t="t" r="r" b="b"/>
              <a:pathLst>
                <a:path w="4186887" h="2199607">
                  <a:moveTo>
                    <a:pt x="24837" y="0"/>
                  </a:moveTo>
                  <a:lnTo>
                    <a:pt x="4162050" y="0"/>
                  </a:lnTo>
                  <a:cubicBezTo>
                    <a:pt x="4175767" y="0"/>
                    <a:pt x="4186887" y="11120"/>
                    <a:pt x="4186887" y="24837"/>
                  </a:cubicBezTo>
                  <a:lnTo>
                    <a:pt x="4186887" y="2174770"/>
                  </a:lnTo>
                  <a:cubicBezTo>
                    <a:pt x="4186887" y="2181357"/>
                    <a:pt x="4184270" y="2187674"/>
                    <a:pt x="4179612" y="2192332"/>
                  </a:cubicBezTo>
                  <a:cubicBezTo>
                    <a:pt x="4174954" y="2196990"/>
                    <a:pt x="4168637" y="2199607"/>
                    <a:pt x="4162050" y="2199607"/>
                  </a:cubicBezTo>
                  <a:lnTo>
                    <a:pt x="24837" y="2199607"/>
                  </a:lnTo>
                  <a:cubicBezTo>
                    <a:pt x="11120" y="2199607"/>
                    <a:pt x="0" y="2188487"/>
                    <a:pt x="0" y="2174770"/>
                  </a:cubicBezTo>
                  <a:lnTo>
                    <a:pt x="0" y="24837"/>
                  </a:lnTo>
                  <a:cubicBezTo>
                    <a:pt x="0" y="11120"/>
                    <a:pt x="11120" y="0"/>
                    <a:pt x="24837" y="0"/>
                  </a:cubicBezTo>
                  <a:close/>
                </a:path>
              </a:pathLst>
            </a:custGeom>
            <a:solidFill>
              <a:srgbClr val="FFFFFF">
                <a:alpha val="60784"/>
              </a:srgbClr>
            </a:solidFill>
          </p:spPr>
          <p:txBody>
            <a:bodyPr/>
            <a:lstStyle/>
            <a:p>
              <a:endParaRPr lang="en-IN"/>
            </a:p>
          </p:txBody>
        </p:sp>
        <p:sp>
          <p:nvSpPr>
            <p:cNvPr id="8" name="TextBox 8">
              <a:extLst>
                <a:ext uri="{FF2B5EF4-FFF2-40B4-BE49-F238E27FC236}">
                  <a16:creationId xmlns:a16="http://schemas.microsoft.com/office/drawing/2014/main" id="{D360C2B2-0990-CFDC-A634-0CF408C57662}"/>
                </a:ext>
              </a:extLst>
            </p:cNvPr>
            <p:cNvSpPr txBox="1"/>
            <p:nvPr/>
          </p:nvSpPr>
          <p:spPr>
            <a:xfrm>
              <a:off x="0" y="-38100"/>
              <a:ext cx="4186887" cy="2237707"/>
            </a:xfrm>
            <a:prstGeom prst="rect">
              <a:avLst/>
            </a:prstGeom>
          </p:spPr>
          <p:txBody>
            <a:bodyPr lIns="50800" tIns="50800" rIns="50800" bIns="50800" rtlCol="0" anchor="ctr"/>
            <a:lstStyle/>
            <a:p>
              <a:pPr algn="ctr">
                <a:lnSpc>
                  <a:spcPts val="2659"/>
                </a:lnSpc>
                <a:spcBef>
                  <a:spcPct val="0"/>
                </a:spcBef>
              </a:pPr>
              <a:endParaRPr/>
            </a:p>
          </p:txBody>
        </p:sp>
      </p:grpSp>
      <p:pic>
        <p:nvPicPr>
          <p:cNvPr id="12" name="Picture 11">
            <a:extLst>
              <a:ext uri="{FF2B5EF4-FFF2-40B4-BE49-F238E27FC236}">
                <a16:creationId xmlns:a16="http://schemas.microsoft.com/office/drawing/2014/main" id="{1F3EB3D6-33BA-3C8A-2744-2279C7F9B941}"/>
              </a:ext>
            </a:extLst>
          </p:cNvPr>
          <p:cNvPicPr>
            <a:picLocks noChangeAspect="1"/>
          </p:cNvPicPr>
          <p:nvPr/>
        </p:nvPicPr>
        <p:blipFill>
          <a:blip r:embed="rId7"/>
          <a:stretch>
            <a:fillRect/>
          </a:stretch>
        </p:blipFill>
        <p:spPr>
          <a:xfrm>
            <a:off x="1796384" y="2148593"/>
            <a:ext cx="14967616" cy="6983665"/>
          </a:xfrm>
          <a:prstGeom prst="rect">
            <a:avLst/>
          </a:prstGeom>
          <a:ln>
            <a:noFill/>
          </a:ln>
          <a:effectLst>
            <a:softEdge rad="112500"/>
          </a:effectLst>
        </p:spPr>
      </p:pic>
      <p:sp>
        <p:nvSpPr>
          <p:cNvPr id="13" name="Rectangle: Rounded Corners 12">
            <a:extLst>
              <a:ext uri="{FF2B5EF4-FFF2-40B4-BE49-F238E27FC236}">
                <a16:creationId xmlns:a16="http://schemas.microsoft.com/office/drawing/2014/main" id="{ED8D4FCC-4236-BA3B-308E-B6ECE3D2DE81}"/>
              </a:ext>
            </a:extLst>
          </p:cNvPr>
          <p:cNvSpPr/>
          <p:nvPr/>
        </p:nvSpPr>
        <p:spPr>
          <a:xfrm>
            <a:off x="7315200" y="1343614"/>
            <a:ext cx="3505200" cy="63310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a:solidFill>
                  <a:schemeClr val="tx1"/>
                </a:solidFill>
              </a:rPr>
              <a:t>Power BI Dashboard </a:t>
            </a:r>
          </a:p>
        </p:txBody>
      </p:sp>
    </p:spTree>
    <p:extLst>
      <p:ext uri="{BB962C8B-B14F-4D97-AF65-F5344CB8AC3E}">
        <p14:creationId xmlns:p14="http://schemas.microsoft.com/office/powerpoint/2010/main" val="30318123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BAAE1B-BC0F-FCE8-7BF6-B113DCC9770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51AFD13-1E66-80A7-7A8C-A042815AE282}"/>
              </a:ext>
            </a:extLst>
          </p:cNvPr>
          <p:cNvSpPr/>
          <p:nvPr/>
        </p:nvSpPr>
        <p:spPr>
          <a:xfrm>
            <a:off x="0" y="0"/>
            <a:ext cx="18288000" cy="12184380"/>
          </a:xfrm>
          <a:custGeom>
            <a:avLst/>
            <a:gdLst/>
            <a:ahLst/>
            <a:cxnLst/>
            <a:rect l="l" t="t" r="r" b="b"/>
            <a:pathLst>
              <a:path w="18288000" h="12184380">
                <a:moveTo>
                  <a:pt x="0" y="0"/>
                </a:moveTo>
                <a:lnTo>
                  <a:pt x="18288000" y="0"/>
                </a:lnTo>
                <a:lnTo>
                  <a:pt x="18288000" y="12184380"/>
                </a:lnTo>
                <a:lnTo>
                  <a:pt x="0" y="12184380"/>
                </a:lnTo>
                <a:lnTo>
                  <a:pt x="0" y="0"/>
                </a:lnTo>
                <a:close/>
              </a:path>
            </a:pathLst>
          </a:custGeom>
          <a:blipFill>
            <a:blip r:embed="rId3">
              <a:alphaModFix amt="26000"/>
            </a:blip>
            <a:stretch>
              <a:fillRect/>
            </a:stretch>
          </a:blipFill>
        </p:spPr>
        <p:txBody>
          <a:bodyPr/>
          <a:lstStyle/>
          <a:p>
            <a:endParaRPr lang="en-IN"/>
          </a:p>
        </p:txBody>
      </p:sp>
      <p:sp>
        <p:nvSpPr>
          <p:cNvPr id="3" name="Freeform 3">
            <a:extLst>
              <a:ext uri="{FF2B5EF4-FFF2-40B4-BE49-F238E27FC236}">
                <a16:creationId xmlns:a16="http://schemas.microsoft.com/office/drawing/2014/main" id="{BA1CEA69-6D68-4A2D-950B-24681725B69E}"/>
              </a:ext>
            </a:extLst>
          </p:cNvPr>
          <p:cNvSpPr/>
          <p:nvPr/>
        </p:nvSpPr>
        <p:spPr>
          <a:xfrm>
            <a:off x="8173342" y="-1257300"/>
            <a:ext cx="11109641" cy="2819072"/>
          </a:xfrm>
          <a:custGeom>
            <a:avLst/>
            <a:gdLst/>
            <a:ahLst/>
            <a:cxnLst/>
            <a:rect l="l" t="t" r="r" b="b"/>
            <a:pathLst>
              <a:path w="11109641" h="2819072">
                <a:moveTo>
                  <a:pt x="0" y="0"/>
                </a:moveTo>
                <a:lnTo>
                  <a:pt x="11109642" y="0"/>
                </a:lnTo>
                <a:lnTo>
                  <a:pt x="11109642" y="2819071"/>
                </a:lnTo>
                <a:lnTo>
                  <a:pt x="0" y="281907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4" name="Freeform 4">
            <a:extLst>
              <a:ext uri="{FF2B5EF4-FFF2-40B4-BE49-F238E27FC236}">
                <a16:creationId xmlns:a16="http://schemas.microsoft.com/office/drawing/2014/main" id="{4E636593-A1DD-22A9-6CED-A115106D7A55}"/>
              </a:ext>
            </a:extLst>
          </p:cNvPr>
          <p:cNvSpPr/>
          <p:nvPr/>
        </p:nvSpPr>
        <p:spPr>
          <a:xfrm rot="5519627">
            <a:off x="15212169" y="3220447"/>
            <a:ext cx="7280753" cy="4114800"/>
          </a:xfrm>
          <a:custGeom>
            <a:avLst/>
            <a:gdLst/>
            <a:ahLst/>
            <a:cxnLst/>
            <a:rect l="l" t="t" r="r" b="b"/>
            <a:pathLst>
              <a:path w="7280753" h="4114800">
                <a:moveTo>
                  <a:pt x="0" y="0"/>
                </a:moveTo>
                <a:lnTo>
                  <a:pt x="7280753" y="0"/>
                </a:lnTo>
                <a:lnTo>
                  <a:pt x="7280753"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sp>
        <p:nvSpPr>
          <p:cNvPr id="5" name="Freeform 5">
            <a:extLst>
              <a:ext uri="{FF2B5EF4-FFF2-40B4-BE49-F238E27FC236}">
                <a16:creationId xmlns:a16="http://schemas.microsoft.com/office/drawing/2014/main" id="{A91363F6-B668-C448-FE5D-C6CAA34F9F85}"/>
              </a:ext>
            </a:extLst>
          </p:cNvPr>
          <p:cNvSpPr/>
          <p:nvPr/>
        </p:nvSpPr>
        <p:spPr>
          <a:xfrm>
            <a:off x="0" y="6517459"/>
            <a:ext cx="18633464" cy="9350611"/>
          </a:xfrm>
          <a:custGeom>
            <a:avLst/>
            <a:gdLst/>
            <a:ahLst/>
            <a:cxnLst/>
            <a:rect l="l" t="t" r="r" b="b"/>
            <a:pathLst>
              <a:path w="18633464" h="9350611">
                <a:moveTo>
                  <a:pt x="0" y="0"/>
                </a:moveTo>
                <a:lnTo>
                  <a:pt x="18633464" y="0"/>
                </a:lnTo>
                <a:lnTo>
                  <a:pt x="18633464" y="9350611"/>
                </a:lnTo>
                <a:lnTo>
                  <a:pt x="0" y="935061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IN"/>
          </a:p>
        </p:txBody>
      </p:sp>
      <p:grpSp>
        <p:nvGrpSpPr>
          <p:cNvPr id="6" name="Group 6">
            <a:extLst>
              <a:ext uri="{FF2B5EF4-FFF2-40B4-BE49-F238E27FC236}">
                <a16:creationId xmlns:a16="http://schemas.microsoft.com/office/drawing/2014/main" id="{66F6CE9B-3B8E-38AA-FA5C-64B1B014F9BD}"/>
              </a:ext>
            </a:extLst>
          </p:cNvPr>
          <p:cNvGrpSpPr/>
          <p:nvPr/>
        </p:nvGrpSpPr>
        <p:grpSpPr>
          <a:xfrm>
            <a:off x="1195457" y="967684"/>
            <a:ext cx="15897086" cy="8351632"/>
            <a:chOff x="0" y="0"/>
            <a:chExt cx="4186887" cy="2199607"/>
          </a:xfrm>
        </p:grpSpPr>
        <p:sp>
          <p:nvSpPr>
            <p:cNvPr id="7" name="Freeform 7">
              <a:extLst>
                <a:ext uri="{FF2B5EF4-FFF2-40B4-BE49-F238E27FC236}">
                  <a16:creationId xmlns:a16="http://schemas.microsoft.com/office/drawing/2014/main" id="{06175BBC-F34F-407E-1A5C-381E991D734A}"/>
                </a:ext>
              </a:extLst>
            </p:cNvPr>
            <p:cNvSpPr/>
            <p:nvPr/>
          </p:nvSpPr>
          <p:spPr>
            <a:xfrm>
              <a:off x="0" y="0"/>
              <a:ext cx="4186887" cy="2199607"/>
            </a:xfrm>
            <a:custGeom>
              <a:avLst/>
              <a:gdLst/>
              <a:ahLst/>
              <a:cxnLst/>
              <a:rect l="l" t="t" r="r" b="b"/>
              <a:pathLst>
                <a:path w="4186887" h="2199607">
                  <a:moveTo>
                    <a:pt x="24837" y="0"/>
                  </a:moveTo>
                  <a:lnTo>
                    <a:pt x="4162050" y="0"/>
                  </a:lnTo>
                  <a:cubicBezTo>
                    <a:pt x="4175767" y="0"/>
                    <a:pt x="4186887" y="11120"/>
                    <a:pt x="4186887" y="24837"/>
                  </a:cubicBezTo>
                  <a:lnTo>
                    <a:pt x="4186887" y="2174770"/>
                  </a:lnTo>
                  <a:cubicBezTo>
                    <a:pt x="4186887" y="2181357"/>
                    <a:pt x="4184270" y="2187674"/>
                    <a:pt x="4179612" y="2192332"/>
                  </a:cubicBezTo>
                  <a:cubicBezTo>
                    <a:pt x="4174954" y="2196990"/>
                    <a:pt x="4168637" y="2199607"/>
                    <a:pt x="4162050" y="2199607"/>
                  </a:cubicBezTo>
                  <a:lnTo>
                    <a:pt x="24837" y="2199607"/>
                  </a:lnTo>
                  <a:cubicBezTo>
                    <a:pt x="11120" y="2199607"/>
                    <a:pt x="0" y="2188487"/>
                    <a:pt x="0" y="2174770"/>
                  </a:cubicBezTo>
                  <a:lnTo>
                    <a:pt x="0" y="24837"/>
                  </a:lnTo>
                  <a:cubicBezTo>
                    <a:pt x="0" y="11120"/>
                    <a:pt x="11120" y="0"/>
                    <a:pt x="24837" y="0"/>
                  </a:cubicBezTo>
                  <a:close/>
                </a:path>
              </a:pathLst>
            </a:custGeom>
            <a:solidFill>
              <a:srgbClr val="FFFFFF">
                <a:alpha val="60784"/>
              </a:srgbClr>
            </a:solidFill>
          </p:spPr>
          <p:txBody>
            <a:bodyPr/>
            <a:lstStyle/>
            <a:p>
              <a:endParaRPr lang="en-IN"/>
            </a:p>
          </p:txBody>
        </p:sp>
        <p:sp>
          <p:nvSpPr>
            <p:cNvPr id="8" name="TextBox 8">
              <a:extLst>
                <a:ext uri="{FF2B5EF4-FFF2-40B4-BE49-F238E27FC236}">
                  <a16:creationId xmlns:a16="http://schemas.microsoft.com/office/drawing/2014/main" id="{EFFF5BA1-5549-6245-C5F8-51CD9F3EF19A}"/>
                </a:ext>
              </a:extLst>
            </p:cNvPr>
            <p:cNvSpPr txBox="1"/>
            <p:nvPr/>
          </p:nvSpPr>
          <p:spPr>
            <a:xfrm>
              <a:off x="0" y="-38100"/>
              <a:ext cx="4186887" cy="2237707"/>
            </a:xfrm>
            <a:prstGeom prst="rect">
              <a:avLst/>
            </a:prstGeom>
          </p:spPr>
          <p:txBody>
            <a:bodyPr lIns="50800" tIns="50800" rIns="50800" bIns="50800" rtlCol="0" anchor="ctr"/>
            <a:lstStyle/>
            <a:p>
              <a:pPr algn="ctr">
                <a:lnSpc>
                  <a:spcPts val="2659"/>
                </a:lnSpc>
                <a:spcBef>
                  <a:spcPct val="0"/>
                </a:spcBef>
              </a:pPr>
              <a:endParaRPr/>
            </a:p>
          </p:txBody>
        </p:sp>
      </p:grpSp>
      <p:sp>
        <p:nvSpPr>
          <p:cNvPr id="13" name="Rectangle: Rounded Corners 12">
            <a:extLst>
              <a:ext uri="{FF2B5EF4-FFF2-40B4-BE49-F238E27FC236}">
                <a16:creationId xmlns:a16="http://schemas.microsoft.com/office/drawing/2014/main" id="{5B680AFF-7EB2-4F55-D6F7-273CF6B7B0AA}"/>
              </a:ext>
            </a:extLst>
          </p:cNvPr>
          <p:cNvSpPr/>
          <p:nvPr/>
        </p:nvSpPr>
        <p:spPr>
          <a:xfrm>
            <a:off x="7315200" y="1343614"/>
            <a:ext cx="3505200" cy="63310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a:solidFill>
                  <a:schemeClr val="tx1"/>
                </a:solidFill>
              </a:rPr>
              <a:t>Power BI Dashboard </a:t>
            </a:r>
          </a:p>
        </p:txBody>
      </p:sp>
      <p:pic>
        <p:nvPicPr>
          <p:cNvPr id="10" name="Picture 9">
            <a:extLst>
              <a:ext uri="{FF2B5EF4-FFF2-40B4-BE49-F238E27FC236}">
                <a16:creationId xmlns:a16="http://schemas.microsoft.com/office/drawing/2014/main" id="{19988AF2-5D50-9466-34C0-4635ABAC699F}"/>
              </a:ext>
            </a:extLst>
          </p:cNvPr>
          <p:cNvPicPr>
            <a:picLocks noChangeAspect="1"/>
          </p:cNvPicPr>
          <p:nvPr/>
        </p:nvPicPr>
        <p:blipFill>
          <a:blip r:embed="rId7"/>
          <a:stretch>
            <a:fillRect/>
          </a:stretch>
        </p:blipFill>
        <p:spPr>
          <a:xfrm>
            <a:off x="1823026" y="2253344"/>
            <a:ext cx="14846712" cy="6858957"/>
          </a:xfrm>
          <a:prstGeom prst="rect">
            <a:avLst/>
          </a:prstGeom>
          <a:ln>
            <a:noFill/>
          </a:ln>
          <a:effectLst>
            <a:softEdge rad="112500"/>
          </a:effectLst>
        </p:spPr>
      </p:pic>
    </p:spTree>
    <p:extLst>
      <p:ext uri="{BB962C8B-B14F-4D97-AF65-F5344CB8AC3E}">
        <p14:creationId xmlns:p14="http://schemas.microsoft.com/office/powerpoint/2010/main" val="19815711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2184380"/>
          </a:xfrm>
          <a:custGeom>
            <a:avLst/>
            <a:gdLst/>
            <a:ahLst/>
            <a:cxnLst/>
            <a:rect l="l" t="t" r="r" b="b"/>
            <a:pathLst>
              <a:path w="18288000" h="12184380">
                <a:moveTo>
                  <a:pt x="0" y="0"/>
                </a:moveTo>
                <a:lnTo>
                  <a:pt x="18288000" y="0"/>
                </a:lnTo>
                <a:lnTo>
                  <a:pt x="18288000" y="12184380"/>
                </a:lnTo>
                <a:lnTo>
                  <a:pt x="0" y="12184380"/>
                </a:lnTo>
                <a:lnTo>
                  <a:pt x="0" y="0"/>
                </a:lnTo>
                <a:close/>
              </a:path>
            </a:pathLst>
          </a:custGeom>
          <a:blipFill>
            <a:blip r:embed="rId3">
              <a:alphaModFix amt="26000"/>
            </a:blip>
            <a:stretch>
              <a:fillRect/>
            </a:stretch>
          </a:blipFill>
        </p:spPr>
        <p:txBody>
          <a:bodyPr/>
          <a:lstStyle/>
          <a:p>
            <a:endParaRPr lang="en-IN"/>
          </a:p>
        </p:txBody>
      </p:sp>
      <p:sp>
        <p:nvSpPr>
          <p:cNvPr id="3" name="Freeform 3"/>
          <p:cNvSpPr/>
          <p:nvPr/>
        </p:nvSpPr>
        <p:spPr>
          <a:xfrm>
            <a:off x="8173342" y="-1065755"/>
            <a:ext cx="11109641" cy="2819072"/>
          </a:xfrm>
          <a:custGeom>
            <a:avLst/>
            <a:gdLst/>
            <a:ahLst/>
            <a:cxnLst/>
            <a:rect l="l" t="t" r="r" b="b"/>
            <a:pathLst>
              <a:path w="11109641" h="2819072">
                <a:moveTo>
                  <a:pt x="0" y="0"/>
                </a:moveTo>
                <a:lnTo>
                  <a:pt x="11109642" y="0"/>
                </a:lnTo>
                <a:lnTo>
                  <a:pt x="11109642" y="2819071"/>
                </a:lnTo>
                <a:lnTo>
                  <a:pt x="0" y="281907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4" name="Freeform 4"/>
          <p:cNvSpPr/>
          <p:nvPr/>
        </p:nvSpPr>
        <p:spPr>
          <a:xfrm rot="5519627">
            <a:off x="15212169" y="3220447"/>
            <a:ext cx="7280753" cy="4114800"/>
          </a:xfrm>
          <a:custGeom>
            <a:avLst/>
            <a:gdLst/>
            <a:ahLst/>
            <a:cxnLst/>
            <a:rect l="l" t="t" r="r" b="b"/>
            <a:pathLst>
              <a:path w="7280753" h="4114800">
                <a:moveTo>
                  <a:pt x="0" y="0"/>
                </a:moveTo>
                <a:lnTo>
                  <a:pt x="7280753" y="0"/>
                </a:lnTo>
                <a:lnTo>
                  <a:pt x="7280753"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sp>
        <p:nvSpPr>
          <p:cNvPr id="5" name="Freeform 5"/>
          <p:cNvSpPr/>
          <p:nvPr/>
        </p:nvSpPr>
        <p:spPr>
          <a:xfrm>
            <a:off x="0" y="6517459"/>
            <a:ext cx="18633464" cy="9350611"/>
          </a:xfrm>
          <a:custGeom>
            <a:avLst/>
            <a:gdLst/>
            <a:ahLst/>
            <a:cxnLst/>
            <a:rect l="l" t="t" r="r" b="b"/>
            <a:pathLst>
              <a:path w="18633464" h="9350611">
                <a:moveTo>
                  <a:pt x="0" y="0"/>
                </a:moveTo>
                <a:lnTo>
                  <a:pt x="18633464" y="0"/>
                </a:lnTo>
                <a:lnTo>
                  <a:pt x="18633464" y="9350611"/>
                </a:lnTo>
                <a:lnTo>
                  <a:pt x="0" y="935061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IN"/>
          </a:p>
        </p:txBody>
      </p:sp>
      <p:grpSp>
        <p:nvGrpSpPr>
          <p:cNvPr id="6" name="Group 6"/>
          <p:cNvGrpSpPr/>
          <p:nvPr/>
        </p:nvGrpSpPr>
        <p:grpSpPr>
          <a:xfrm>
            <a:off x="1195457" y="967684"/>
            <a:ext cx="15897086" cy="8351632"/>
            <a:chOff x="0" y="0"/>
            <a:chExt cx="4186887" cy="2199607"/>
          </a:xfrm>
        </p:grpSpPr>
        <p:sp>
          <p:nvSpPr>
            <p:cNvPr id="7" name="Freeform 7"/>
            <p:cNvSpPr/>
            <p:nvPr/>
          </p:nvSpPr>
          <p:spPr>
            <a:xfrm>
              <a:off x="0" y="0"/>
              <a:ext cx="4186887" cy="2199607"/>
            </a:xfrm>
            <a:custGeom>
              <a:avLst/>
              <a:gdLst/>
              <a:ahLst/>
              <a:cxnLst/>
              <a:rect l="l" t="t" r="r" b="b"/>
              <a:pathLst>
                <a:path w="4186887" h="2199607">
                  <a:moveTo>
                    <a:pt x="24837" y="0"/>
                  </a:moveTo>
                  <a:lnTo>
                    <a:pt x="4162050" y="0"/>
                  </a:lnTo>
                  <a:cubicBezTo>
                    <a:pt x="4175767" y="0"/>
                    <a:pt x="4186887" y="11120"/>
                    <a:pt x="4186887" y="24837"/>
                  </a:cubicBezTo>
                  <a:lnTo>
                    <a:pt x="4186887" y="2174770"/>
                  </a:lnTo>
                  <a:cubicBezTo>
                    <a:pt x="4186887" y="2181357"/>
                    <a:pt x="4184270" y="2187674"/>
                    <a:pt x="4179612" y="2192332"/>
                  </a:cubicBezTo>
                  <a:cubicBezTo>
                    <a:pt x="4174954" y="2196990"/>
                    <a:pt x="4168637" y="2199607"/>
                    <a:pt x="4162050" y="2199607"/>
                  </a:cubicBezTo>
                  <a:lnTo>
                    <a:pt x="24837" y="2199607"/>
                  </a:lnTo>
                  <a:cubicBezTo>
                    <a:pt x="11120" y="2199607"/>
                    <a:pt x="0" y="2188487"/>
                    <a:pt x="0" y="2174770"/>
                  </a:cubicBezTo>
                  <a:lnTo>
                    <a:pt x="0" y="24837"/>
                  </a:lnTo>
                  <a:cubicBezTo>
                    <a:pt x="0" y="11120"/>
                    <a:pt x="11120" y="0"/>
                    <a:pt x="24837" y="0"/>
                  </a:cubicBezTo>
                  <a:close/>
                </a:path>
              </a:pathLst>
            </a:custGeom>
            <a:solidFill>
              <a:srgbClr val="FFFFFF">
                <a:alpha val="60784"/>
              </a:srgbClr>
            </a:solidFill>
          </p:spPr>
          <p:txBody>
            <a:bodyPr/>
            <a:lstStyle/>
            <a:p>
              <a:endParaRPr lang="en-IN"/>
            </a:p>
          </p:txBody>
        </p:sp>
        <p:sp>
          <p:nvSpPr>
            <p:cNvPr id="8" name="TextBox 8"/>
            <p:cNvSpPr txBox="1"/>
            <p:nvPr/>
          </p:nvSpPr>
          <p:spPr>
            <a:xfrm>
              <a:off x="0" y="-38100"/>
              <a:ext cx="4186887" cy="2237707"/>
            </a:xfrm>
            <a:prstGeom prst="rect">
              <a:avLst/>
            </a:prstGeom>
          </p:spPr>
          <p:txBody>
            <a:bodyPr lIns="50800" tIns="50800" rIns="50800" bIns="50800" rtlCol="0" anchor="ctr"/>
            <a:lstStyle/>
            <a:p>
              <a:pPr algn="ctr">
                <a:lnSpc>
                  <a:spcPts val="2659"/>
                </a:lnSpc>
                <a:spcBef>
                  <a:spcPct val="0"/>
                </a:spcBef>
              </a:pPr>
              <a:endParaRPr/>
            </a:p>
          </p:txBody>
        </p:sp>
      </p:grpSp>
      <p:sp>
        <p:nvSpPr>
          <p:cNvPr id="10" name="Rectangle: Rounded Corners 9">
            <a:extLst>
              <a:ext uri="{FF2B5EF4-FFF2-40B4-BE49-F238E27FC236}">
                <a16:creationId xmlns:a16="http://schemas.microsoft.com/office/drawing/2014/main" id="{CEA3CE6F-3C9E-9ED7-8240-3609D904C314}"/>
              </a:ext>
            </a:extLst>
          </p:cNvPr>
          <p:cNvSpPr/>
          <p:nvPr/>
        </p:nvSpPr>
        <p:spPr>
          <a:xfrm>
            <a:off x="7496496" y="1343614"/>
            <a:ext cx="3247704" cy="63310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a:solidFill>
                  <a:schemeClr val="tx1"/>
                </a:solidFill>
              </a:rPr>
              <a:t>Tableau Dashboard </a:t>
            </a:r>
          </a:p>
        </p:txBody>
      </p:sp>
      <p:pic>
        <p:nvPicPr>
          <p:cNvPr id="12" name="Picture 11">
            <a:extLst>
              <a:ext uri="{FF2B5EF4-FFF2-40B4-BE49-F238E27FC236}">
                <a16:creationId xmlns:a16="http://schemas.microsoft.com/office/drawing/2014/main" id="{F8F3E611-45CF-5213-ADB8-9E9BAC71AFFA}"/>
              </a:ext>
            </a:extLst>
          </p:cNvPr>
          <p:cNvPicPr>
            <a:picLocks noChangeAspect="1"/>
          </p:cNvPicPr>
          <p:nvPr/>
        </p:nvPicPr>
        <p:blipFill>
          <a:blip r:embed="rId7"/>
          <a:stretch>
            <a:fillRect/>
          </a:stretch>
        </p:blipFill>
        <p:spPr>
          <a:xfrm>
            <a:off x="1691628" y="2183076"/>
            <a:ext cx="14978110" cy="694918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B6C9D-1D15-4046-BF72-7BD131A6019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1FB16D1-E6E0-3867-02D4-A84B430CD2B7}"/>
              </a:ext>
            </a:extLst>
          </p:cNvPr>
          <p:cNvSpPr/>
          <p:nvPr/>
        </p:nvSpPr>
        <p:spPr>
          <a:xfrm>
            <a:off x="0" y="0"/>
            <a:ext cx="18288000" cy="12184380"/>
          </a:xfrm>
          <a:custGeom>
            <a:avLst/>
            <a:gdLst/>
            <a:ahLst/>
            <a:cxnLst/>
            <a:rect l="l" t="t" r="r" b="b"/>
            <a:pathLst>
              <a:path w="18288000" h="12184380">
                <a:moveTo>
                  <a:pt x="0" y="0"/>
                </a:moveTo>
                <a:lnTo>
                  <a:pt x="18288000" y="0"/>
                </a:lnTo>
                <a:lnTo>
                  <a:pt x="18288000" y="12184380"/>
                </a:lnTo>
                <a:lnTo>
                  <a:pt x="0" y="12184380"/>
                </a:lnTo>
                <a:lnTo>
                  <a:pt x="0" y="0"/>
                </a:lnTo>
                <a:close/>
              </a:path>
            </a:pathLst>
          </a:custGeom>
          <a:blipFill>
            <a:blip r:embed="rId3">
              <a:alphaModFix amt="26000"/>
            </a:blip>
            <a:stretch>
              <a:fillRect/>
            </a:stretch>
          </a:blipFill>
        </p:spPr>
        <p:txBody>
          <a:bodyPr/>
          <a:lstStyle/>
          <a:p>
            <a:endParaRPr lang="en-IN"/>
          </a:p>
        </p:txBody>
      </p:sp>
      <p:sp>
        <p:nvSpPr>
          <p:cNvPr id="3" name="Freeform 3">
            <a:extLst>
              <a:ext uri="{FF2B5EF4-FFF2-40B4-BE49-F238E27FC236}">
                <a16:creationId xmlns:a16="http://schemas.microsoft.com/office/drawing/2014/main" id="{F499FBA2-9A6C-1631-543D-45E051BF5FFD}"/>
              </a:ext>
            </a:extLst>
          </p:cNvPr>
          <p:cNvSpPr/>
          <p:nvPr/>
        </p:nvSpPr>
        <p:spPr>
          <a:xfrm>
            <a:off x="8173342" y="-1065755"/>
            <a:ext cx="11109641" cy="2819072"/>
          </a:xfrm>
          <a:custGeom>
            <a:avLst/>
            <a:gdLst/>
            <a:ahLst/>
            <a:cxnLst/>
            <a:rect l="l" t="t" r="r" b="b"/>
            <a:pathLst>
              <a:path w="11109641" h="2819072">
                <a:moveTo>
                  <a:pt x="0" y="0"/>
                </a:moveTo>
                <a:lnTo>
                  <a:pt x="11109642" y="0"/>
                </a:lnTo>
                <a:lnTo>
                  <a:pt x="11109642" y="2819071"/>
                </a:lnTo>
                <a:lnTo>
                  <a:pt x="0" y="281907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4" name="Freeform 4">
            <a:extLst>
              <a:ext uri="{FF2B5EF4-FFF2-40B4-BE49-F238E27FC236}">
                <a16:creationId xmlns:a16="http://schemas.microsoft.com/office/drawing/2014/main" id="{3B11A711-3D72-DD9C-49F0-92208621EC46}"/>
              </a:ext>
            </a:extLst>
          </p:cNvPr>
          <p:cNvSpPr/>
          <p:nvPr/>
        </p:nvSpPr>
        <p:spPr>
          <a:xfrm rot="5519627">
            <a:off x="15212169" y="3220447"/>
            <a:ext cx="7280753" cy="4114800"/>
          </a:xfrm>
          <a:custGeom>
            <a:avLst/>
            <a:gdLst/>
            <a:ahLst/>
            <a:cxnLst/>
            <a:rect l="l" t="t" r="r" b="b"/>
            <a:pathLst>
              <a:path w="7280753" h="4114800">
                <a:moveTo>
                  <a:pt x="0" y="0"/>
                </a:moveTo>
                <a:lnTo>
                  <a:pt x="7280753" y="0"/>
                </a:lnTo>
                <a:lnTo>
                  <a:pt x="7280753"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sp>
        <p:nvSpPr>
          <p:cNvPr id="5" name="Freeform 5">
            <a:extLst>
              <a:ext uri="{FF2B5EF4-FFF2-40B4-BE49-F238E27FC236}">
                <a16:creationId xmlns:a16="http://schemas.microsoft.com/office/drawing/2014/main" id="{FC055CF5-136F-8869-93F0-D8DFA3BC108F}"/>
              </a:ext>
            </a:extLst>
          </p:cNvPr>
          <p:cNvSpPr/>
          <p:nvPr/>
        </p:nvSpPr>
        <p:spPr>
          <a:xfrm>
            <a:off x="0" y="6517459"/>
            <a:ext cx="18633464" cy="9350611"/>
          </a:xfrm>
          <a:custGeom>
            <a:avLst/>
            <a:gdLst/>
            <a:ahLst/>
            <a:cxnLst/>
            <a:rect l="l" t="t" r="r" b="b"/>
            <a:pathLst>
              <a:path w="18633464" h="9350611">
                <a:moveTo>
                  <a:pt x="0" y="0"/>
                </a:moveTo>
                <a:lnTo>
                  <a:pt x="18633464" y="0"/>
                </a:lnTo>
                <a:lnTo>
                  <a:pt x="18633464" y="9350611"/>
                </a:lnTo>
                <a:lnTo>
                  <a:pt x="0" y="935061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IN"/>
          </a:p>
        </p:txBody>
      </p:sp>
      <p:grpSp>
        <p:nvGrpSpPr>
          <p:cNvPr id="6" name="Group 6">
            <a:extLst>
              <a:ext uri="{FF2B5EF4-FFF2-40B4-BE49-F238E27FC236}">
                <a16:creationId xmlns:a16="http://schemas.microsoft.com/office/drawing/2014/main" id="{60BB3AFF-6A07-1890-80F5-3F1AF2CD0BA1}"/>
              </a:ext>
            </a:extLst>
          </p:cNvPr>
          <p:cNvGrpSpPr/>
          <p:nvPr/>
        </p:nvGrpSpPr>
        <p:grpSpPr>
          <a:xfrm>
            <a:off x="1195457" y="967684"/>
            <a:ext cx="15897086" cy="8351632"/>
            <a:chOff x="0" y="0"/>
            <a:chExt cx="4186887" cy="2199607"/>
          </a:xfrm>
        </p:grpSpPr>
        <p:sp>
          <p:nvSpPr>
            <p:cNvPr id="7" name="Freeform 7">
              <a:extLst>
                <a:ext uri="{FF2B5EF4-FFF2-40B4-BE49-F238E27FC236}">
                  <a16:creationId xmlns:a16="http://schemas.microsoft.com/office/drawing/2014/main" id="{CE76F524-00D3-C69F-4736-DD39292E761F}"/>
                </a:ext>
              </a:extLst>
            </p:cNvPr>
            <p:cNvSpPr/>
            <p:nvPr/>
          </p:nvSpPr>
          <p:spPr>
            <a:xfrm>
              <a:off x="0" y="0"/>
              <a:ext cx="4186887" cy="2199607"/>
            </a:xfrm>
            <a:custGeom>
              <a:avLst/>
              <a:gdLst/>
              <a:ahLst/>
              <a:cxnLst/>
              <a:rect l="l" t="t" r="r" b="b"/>
              <a:pathLst>
                <a:path w="4186887" h="2199607">
                  <a:moveTo>
                    <a:pt x="24837" y="0"/>
                  </a:moveTo>
                  <a:lnTo>
                    <a:pt x="4162050" y="0"/>
                  </a:lnTo>
                  <a:cubicBezTo>
                    <a:pt x="4175767" y="0"/>
                    <a:pt x="4186887" y="11120"/>
                    <a:pt x="4186887" y="24837"/>
                  </a:cubicBezTo>
                  <a:lnTo>
                    <a:pt x="4186887" y="2174770"/>
                  </a:lnTo>
                  <a:cubicBezTo>
                    <a:pt x="4186887" y="2181357"/>
                    <a:pt x="4184270" y="2187674"/>
                    <a:pt x="4179612" y="2192332"/>
                  </a:cubicBezTo>
                  <a:cubicBezTo>
                    <a:pt x="4174954" y="2196990"/>
                    <a:pt x="4168637" y="2199607"/>
                    <a:pt x="4162050" y="2199607"/>
                  </a:cubicBezTo>
                  <a:lnTo>
                    <a:pt x="24837" y="2199607"/>
                  </a:lnTo>
                  <a:cubicBezTo>
                    <a:pt x="11120" y="2199607"/>
                    <a:pt x="0" y="2188487"/>
                    <a:pt x="0" y="2174770"/>
                  </a:cubicBezTo>
                  <a:lnTo>
                    <a:pt x="0" y="24837"/>
                  </a:lnTo>
                  <a:cubicBezTo>
                    <a:pt x="0" y="11120"/>
                    <a:pt x="11120" y="0"/>
                    <a:pt x="24837" y="0"/>
                  </a:cubicBezTo>
                  <a:close/>
                </a:path>
              </a:pathLst>
            </a:custGeom>
            <a:solidFill>
              <a:srgbClr val="FFFFFF">
                <a:alpha val="60784"/>
              </a:srgbClr>
            </a:solidFill>
          </p:spPr>
          <p:txBody>
            <a:bodyPr/>
            <a:lstStyle/>
            <a:p>
              <a:endParaRPr lang="en-IN"/>
            </a:p>
          </p:txBody>
        </p:sp>
        <p:sp>
          <p:nvSpPr>
            <p:cNvPr id="8" name="TextBox 8">
              <a:extLst>
                <a:ext uri="{FF2B5EF4-FFF2-40B4-BE49-F238E27FC236}">
                  <a16:creationId xmlns:a16="http://schemas.microsoft.com/office/drawing/2014/main" id="{5535FF14-D777-7FE6-AE32-96A0D751FA8B}"/>
                </a:ext>
              </a:extLst>
            </p:cNvPr>
            <p:cNvSpPr txBox="1"/>
            <p:nvPr/>
          </p:nvSpPr>
          <p:spPr>
            <a:xfrm>
              <a:off x="0" y="-38100"/>
              <a:ext cx="4186887" cy="2237707"/>
            </a:xfrm>
            <a:prstGeom prst="rect">
              <a:avLst/>
            </a:prstGeom>
          </p:spPr>
          <p:txBody>
            <a:bodyPr lIns="50800" tIns="50800" rIns="50800" bIns="50800" rtlCol="0" anchor="ctr"/>
            <a:lstStyle/>
            <a:p>
              <a:pPr algn="ctr">
                <a:lnSpc>
                  <a:spcPts val="2659"/>
                </a:lnSpc>
                <a:spcBef>
                  <a:spcPct val="0"/>
                </a:spcBef>
              </a:pPr>
              <a:endParaRPr/>
            </a:p>
          </p:txBody>
        </p:sp>
      </p:grpSp>
      <p:sp>
        <p:nvSpPr>
          <p:cNvPr id="10" name="Rectangle: Rounded Corners 9">
            <a:extLst>
              <a:ext uri="{FF2B5EF4-FFF2-40B4-BE49-F238E27FC236}">
                <a16:creationId xmlns:a16="http://schemas.microsoft.com/office/drawing/2014/main" id="{B159F4D6-30CC-75A8-598D-EA4AFDFBEA7E}"/>
              </a:ext>
            </a:extLst>
          </p:cNvPr>
          <p:cNvSpPr/>
          <p:nvPr/>
        </p:nvSpPr>
        <p:spPr>
          <a:xfrm>
            <a:off x="7496496" y="1343614"/>
            <a:ext cx="3247704" cy="63310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a:solidFill>
                  <a:schemeClr val="tx1"/>
                </a:solidFill>
              </a:rPr>
              <a:t>Tableau Dashboard </a:t>
            </a:r>
          </a:p>
        </p:txBody>
      </p:sp>
      <p:pic>
        <p:nvPicPr>
          <p:cNvPr id="11" name="Picture 10">
            <a:extLst>
              <a:ext uri="{FF2B5EF4-FFF2-40B4-BE49-F238E27FC236}">
                <a16:creationId xmlns:a16="http://schemas.microsoft.com/office/drawing/2014/main" id="{AD9508E8-2022-808E-1BA8-F25486842DA2}"/>
              </a:ext>
            </a:extLst>
          </p:cNvPr>
          <p:cNvPicPr>
            <a:picLocks noChangeAspect="1"/>
          </p:cNvPicPr>
          <p:nvPr/>
        </p:nvPicPr>
        <p:blipFill>
          <a:blip r:embed="rId7"/>
          <a:stretch>
            <a:fillRect/>
          </a:stretch>
        </p:blipFill>
        <p:spPr>
          <a:xfrm>
            <a:off x="1702122" y="2183075"/>
            <a:ext cx="14967616" cy="6949183"/>
          </a:xfrm>
          <a:prstGeom prst="rect">
            <a:avLst/>
          </a:prstGeom>
        </p:spPr>
      </p:pic>
    </p:spTree>
    <p:extLst>
      <p:ext uri="{BB962C8B-B14F-4D97-AF65-F5344CB8AC3E}">
        <p14:creationId xmlns:p14="http://schemas.microsoft.com/office/powerpoint/2010/main" val="38085032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57200" y="202529"/>
            <a:ext cx="18288000" cy="12184380"/>
          </a:xfrm>
          <a:custGeom>
            <a:avLst/>
            <a:gdLst/>
            <a:ahLst/>
            <a:cxnLst/>
            <a:rect l="l" t="t" r="r" b="b"/>
            <a:pathLst>
              <a:path w="18288000" h="12184380">
                <a:moveTo>
                  <a:pt x="0" y="0"/>
                </a:moveTo>
                <a:lnTo>
                  <a:pt x="18288000" y="0"/>
                </a:lnTo>
                <a:lnTo>
                  <a:pt x="18288000" y="12184380"/>
                </a:lnTo>
                <a:lnTo>
                  <a:pt x="0" y="12184380"/>
                </a:lnTo>
                <a:lnTo>
                  <a:pt x="0" y="0"/>
                </a:lnTo>
                <a:close/>
              </a:path>
            </a:pathLst>
          </a:custGeom>
          <a:blipFill>
            <a:blip r:embed="rId2">
              <a:alphaModFix amt="26000"/>
            </a:blip>
            <a:stretch>
              <a:fillRect/>
            </a:stretch>
          </a:blipFill>
        </p:spPr>
        <p:txBody>
          <a:bodyPr/>
          <a:lstStyle/>
          <a:p>
            <a:endParaRPr lang="en-IN"/>
          </a:p>
        </p:txBody>
      </p:sp>
      <p:sp>
        <p:nvSpPr>
          <p:cNvPr id="3" name="Freeform 3"/>
          <p:cNvSpPr/>
          <p:nvPr/>
        </p:nvSpPr>
        <p:spPr>
          <a:xfrm>
            <a:off x="10775287" y="8645946"/>
            <a:ext cx="5551100" cy="2547812"/>
          </a:xfrm>
          <a:custGeom>
            <a:avLst/>
            <a:gdLst/>
            <a:ahLst/>
            <a:cxnLst/>
            <a:rect l="l" t="t" r="r" b="b"/>
            <a:pathLst>
              <a:path w="5551100" h="2547812">
                <a:moveTo>
                  <a:pt x="0" y="0"/>
                </a:moveTo>
                <a:lnTo>
                  <a:pt x="5551099" y="0"/>
                </a:lnTo>
                <a:lnTo>
                  <a:pt x="5551099" y="2547813"/>
                </a:lnTo>
                <a:lnTo>
                  <a:pt x="0" y="254781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a:off x="0" y="-287338"/>
            <a:ext cx="7315200" cy="1802843"/>
          </a:xfrm>
          <a:custGeom>
            <a:avLst/>
            <a:gdLst/>
            <a:ahLst/>
            <a:cxnLst/>
            <a:rect l="l" t="t" r="r" b="b"/>
            <a:pathLst>
              <a:path w="7315200" h="1802843">
                <a:moveTo>
                  <a:pt x="0" y="0"/>
                </a:moveTo>
                <a:lnTo>
                  <a:pt x="7315200" y="0"/>
                </a:lnTo>
                <a:lnTo>
                  <a:pt x="7315200" y="1802843"/>
                </a:lnTo>
                <a:lnTo>
                  <a:pt x="0" y="18028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5" name="Freeform 5"/>
          <p:cNvSpPr/>
          <p:nvPr/>
        </p:nvSpPr>
        <p:spPr>
          <a:xfrm>
            <a:off x="14230854" y="-3457363"/>
            <a:ext cx="7416927" cy="8229600"/>
          </a:xfrm>
          <a:custGeom>
            <a:avLst/>
            <a:gdLst/>
            <a:ahLst/>
            <a:cxnLst/>
            <a:rect l="l" t="t" r="r" b="b"/>
            <a:pathLst>
              <a:path w="7416927" h="8229600">
                <a:moveTo>
                  <a:pt x="0" y="0"/>
                </a:moveTo>
                <a:lnTo>
                  <a:pt x="7416927" y="0"/>
                </a:lnTo>
                <a:lnTo>
                  <a:pt x="7416927" y="8229600"/>
                </a:lnTo>
                <a:lnTo>
                  <a:pt x="0" y="8229600"/>
                </a:lnTo>
                <a:lnTo>
                  <a:pt x="0" y="0"/>
                </a:lnTo>
                <a:close/>
              </a:path>
            </a:pathLst>
          </a:custGeom>
          <a:blipFill>
            <a:blip r:embed="rId5"/>
            <a:stretch>
              <a:fillRect/>
            </a:stretch>
          </a:blipFill>
        </p:spPr>
        <p:txBody>
          <a:bodyPr/>
          <a:lstStyle/>
          <a:p>
            <a:endParaRPr lang="en-IN"/>
          </a:p>
        </p:txBody>
      </p:sp>
      <p:sp>
        <p:nvSpPr>
          <p:cNvPr id="6" name="Freeform 6"/>
          <p:cNvSpPr/>
          <p:nvPr/>
        </p:nvSpPr>
        <p:spPr>
          <a:xfrm rot="956953">
            <a:off x="-1464555" y="7698327"/>
            <a:ext cx="8397773" cy="7872912"/>
          </a:xfrm>
          <a:custGeom>
            <a:avLst/>
            <a:gdLst/>
            <a:ahLst/>
            <a:cxnLst/>
            <a:rect l="l" t="t" r="r" b="b"/>
            <a:pathLst>
              <a:path w="8397773" h="7872912">
                <a:moveTo>
                  <a:pt x="0" y="0"/>
                </a:moveTo>
                <a:lnTo>
                  <a:pt x="8397773" y="0"/>
                </a:lnTo>
                <a:lnTo>
                  <a:pt x="8397773" y="7872912"/>
                </a:lnTo>
                <a:lnTo>
                  <a:pt x="0" y="787291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IN"/>
          </a:p>
        </p:txBody>
      </p:sp>
      <p:grpSp>
        <p:nvGrpSpPr>
          <p:cNvPr id="7" name="Group 7"/>
          <p:cNvGrpSpPr/>
          <p:nvPr/>
        </p:nvGrpSpPr>
        <p:grpSpPr>
          <a:xfrm>
            <a:off x="1195457" y="967684"/>
            <a:ext cx="15897086" cy="8351632"/>
            <a:chOff x="0" y="0"/>
            <a:chExt cx="4186887" cy="2199607"/>
          </a:xfrm>
        </p:grpSpPr>
        <p:sp>
          <p:nvSpPr>
            <p:cNvPr id="8" name="Freeform 8"/>
            <p:cNvSpPr/>
            <p:nvPr/>
          </p:nvSpPr>
          <p:spPr>
            <a:xfrm>
              <a:off x="0" y="0"/>
              <a:ext cx="4186887" cy="2199607"/>
            </a:xfrm>
            <a:custGeom>
              <a:avLst/>
              <a:gdLst/>
              <a:ahLst/>
              <a:cxnLst/>
              <a:rect l="l" t="t" r="r" b="b"/>
              <a:pathLst>
                <a:path w="4186887" h="2199607">
                  <a:moveTo>
                    <a:pt x="24837" y="0"/>
                  </a:moveTo>
                  <a:lnTo>
                    <a:pt x="4162050" y="0"/>
                  </a:lnTo>
                  <a:cubicBezTo>
                    <a:pt x="4175767" y="0"/>
                    <a:pt x="4186887" y="11120"/>
                    <a:pt x="4186887" y="24837"/>
                  </a:cubicBezTo>
                  <a:lnTo>
                    <a:pt x="4186887" y="2174770"/>
                  </a:lnTo>
                  <a:cubicBezTo>
                    <a:pt x="4186887" y="2181357"/>
                    <a:pt x="4184270" y="2187674"/>
                    <a:pt x="4179612" y="2192332"/>
                  </a:cubicBezTo>
                  <a:cubicBezTo>
                    <a:pt x="4174954" y="2196990"/>
                    <a:pt x="4168637" y="2199607"/>
                    <a:pt x="4162050" y="2199607"/>
                  </a:cubicBezTo>
                  <a:lnTo>
                    <a:pt x="24837" y="2199607"/>
                  </a:lnTo>
                  <a:cubicBezTo>
                    <a:pt x="11120" y="2199607"/>
                    <a:pt x="0" y="2188487"/>
                    <a:pt x="0" y="2174770"/>
                  </a:cubicBezTo>
                  <a:lnTo>
                    <a:pt x="0" y="24837"/>
                  </a:lnTo>
                  <a:cubicBezTo>
                    <a:pt x="0" y="11120"/>
                    <a:pt x="11120" y="0"/>
                    <a:pt x="24837" y="0"/>
                  </a:cubicBezTo>
                  <a:close/>
                </a:path>
              </a:pathLst>
            </a:custGeom>
            <a:solidFill>
              <a:srgbClr val="FFFFFF">
                <a:alpha val="60784"/>
              </a:srgbClr>
            </a:solidFill>
          </p:spPr>
          <p:txBody>
            <a:bodyPr/>
            <a:lstStyle/>
            <a:p>
              <a:endParaRPr lang="en-IN"/>
            </a:p>
          </p:txBody>
        </p:sp>
        <p:sp>
          <p:nvSpPr>
            <p:cNvPr id="9" name="TextBox 9"/>
            <p:cNvSpPr txBox="1"/>
            <p:nvPr/>
          </p:nvSpPr>
          <p:spPr>
            <a:xfrm>
              <a:off x="0" y="-38100"/>
              <a:ext cx="4186887" cy="2237707"/>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0">
            <a:extLst>
              <a:ext uri="{FF2B5EF4-FFF2-40B4-BE49-F238E27FC236}">
                <a16:creationId xmlns:a16="http://schemas.microsoft.com/office/drawing/2014/main" id="{F24F69B5-46BD-F4D5-5F53-D9414C1439EC}"/>
              </a:ext>
            </a:extLst>
          </p:cNvPr>
          <p:cNvSpPr txBox="1"/>
          <p:nvPr/>
        </p:nvSpPr>
        <p:spPr>
          <a:xfrm>
            <a:off x="2006732" y="1181100"/>
            <a:ext cx="6680068" cy="1519327"/>
          </a:xfrm>
          <a:prstGeom prst="rect">
            <a:avLst/>
          </a:prstGeom>
        </p:spPr>
        <p:txBody>
          <a:bodyPr lIns="0" tIns="0" rIns="0" bIns="0" rtlCol="0" anchor="t">
            <a:spAutoFit/>
          </a:bodyPr>
          <a:lstStyle/>
          <a:p>
            <a:pPr algn="l">
              <a:lnSpc>
                <a:spcPts val="13396"/>
              </a:lnSpc>
              <a:spcBef>
                <a:spcPct val="0"/>
              </a:spcBef>
            </a:pPr>
            <a:r>
              <a:rPr lang="en-US" sz="7200">
                <a:solidFill>
                  <a:srgbClr val="000000"/>
                </a:solidFill>
                <a:latin typeface="Arapey"/>
                <a:ea typeface="Arapey"/>
                <a:cs typeface="Arapey"/>
                <a:sym typeface="Arapey"/>
              </a:rPr>
              <a:t>Key Insights</a:t>
            </a:r>
          </a:p>
        </p:txBody>
      </p:sp>
      <p:sp>
        <p:nvSpPr>
          <p:cNvPr id="10" name="TextBox 9">
            <a:extLst>
              <a:ext uri="{FF2B5EF4-FFF2-40B4-BE49-F238E27FC236}">
                <a16:creationId xmlns:a16="http://schemas.microsoft.com/office/drawing/2014/main" id="{E782F4F9-8A85-F469-209C-72F2509191EF}"/>
              </a:ext>
            </a:extLst>
          </p:cNvPr>
          <p:cNvSpPr txBox="1"/>
          <p:nvPr/>
        </p:nvSpPr>
        <p:spPr>
          <a:xfrm>
            <a:off x="2133600" y="3009900"/>
            <a:ext cx="14741908" cy="6001643"/>
          </a:xfrm>
          <a:prstGeom prst="rect">
            <a:avLst/>
          </a:prstGeom>
          <a:noFill/>
        </p:spPr>
        <p:txBody>
          <a:bodyPr wrap="square" lIns="0" tIns="0" rIns="0" bIns="0" rtlCol="0" anchor="t">
            <a:spAutoFit/>
          </a:bodyPr>
          <a:lstStyle/>
          <a:p>
            <a:pPr marL="285750" indent="-285750">
              <a:buFont typeface="Wingdings" panose="05000000000000000000" pitchFamily="2" charset="2"/>
              <a:buChar char="§"/>
            </a:pPr>
            <a:r>
              <a:rPr lang="en-US">
                <a:latin typeface="Calibri" panose="020F0502020204030204" pitchFamily="34" charset="0"/>
                <a:ea typeface="Calibri" panose="020F0502020204030204" pitchFamily="34" charset="0"/>
                <a:cs typeface="Calibri" panose="020F0502020204030204" pitchFamily="34" charset="0"/>
              </a:rPr>
              <a:t> KPI analysis shows the </a:t>
            </a:r>
            <a:r>
              <a:rPr lang="en-US" b="1">
                <a:latin typeface="Calibri" panose="020F0502020204030204" pitchFamily="34" charset="0"/>
                <a:ea typeface="Calibri" panose="020F0502020204030204" pitchFamily="34" charset="0"/>
                <a:cs typeface="Calibri" panose="020F0502020204030204" pitchFamily="34" charset="0"/>
              </a:rPr>
              <a:t>Average Monthly Income is 26.02K</a:t>
            </a:r>
            <a:r>
              <a:rPr lang="en-US">
                <a:latin typeface="Calibri" panose="020F0502020204030204" pitchFamily="34" charset="0"/>
                <a:ea typeface="Calibri" panose="020F0502020204030204" pitchFamily="34" charset="0"/>
                <a:cs typeface="Calibri" panose="020F0502020204030204" pitchFamily="34" charset="0"/>
              </a:rPr>
              <a:t>, yet employees in the </a:t>
            </a:r>
            <a:r>
              <a:rPr lang="en-US" b="1">
                <a:latin typeface="Calibri" panose="020F0502020204030204" pitchFamily="34" charset="0"/>
                <a:ea typeface="Calibri" panose="020F0502020204030204" pitchFamily="34" charset="0"/>
                <a:cs typeface="Calibri" panose="020F0502020204030204" pitchFamily="34" charset="0"/>
              </a:rPr>
              <a:t>Very High-Income group still show the highest attrition at 50.88%</a:t>
            </a:r>
            <a:r>
              <a:rPr lang="en-US">
                <a:latin typeface="Calibri" panose="020F0502020204030204" pitchFamily="34" charset="0"/>
                <a:ea typeface="Calibri" panose="020F0502020204030204" pitchFamily="34" charset="0"/>
                <a:cs typeface="Calibri" panose="020F0502020204030204" pitchFamily="34" charset="0"/>
              </a:rPr>
              <a:t>, proving compensation alone is not sufficient to improve employee retention or organizational stability.</a:t>
            </a:r>
          </a:p>
          <a:p>
            <a:pPr marL="285750" indent="-285750">
              <a:buFont typeface="Wingdings" panose="05000000000000000000" pitchFamily="2" charset="2"/>
              <a:buChar char="§"/>
            </a:pPr>
            <a:endParaRPr lang="en-US" sz="80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
            </a:pPr>
            <a:r>
              <a:rPr lang="en-US">
                <a:latin typeface="Calibri" panose="020F0502020204030204" pitchFamily="34" charset="0"/>
                <a:ea typeface="Calibri" panose="020F0502020204030204" pitchFamily="34" charset="0"/>
                <a:cs typeface="Calibri" panose="020F0502020204030204" pitchFamily="34" charset="0"/>
              </a:rPr>
              <a:t> Department-wise attrition analysis identifies </a:t>
            </a:r>
            <a:r>
              <a:rPr lang="en-US" b="1">
                <a:latin typeface="Calibri" panose="020F0502020204030204" pitchFamily="34" charset="0"/>
                <a:ea typeface="Calibri" panose="020F0502020204030204" pitchFamily="34" charset="0"/>
                <a:cs typeface="Calibri" panose="020F0502020204030204" pitchFamily="34" charset="0"/>
              </a:rPr>
              <a:t>Research &amp; Development as the highest attrition department at 51.21%</a:t>
            </a:r>
            <a:r>
              <a:rPr lang="en-US">
                <a:latin typeface="Calibri" panose="020F0502020204030204" pitchFamily="34" charset="0"/>
                <a:ea typeface="Calibri" panose="020F0502020204030204" pitchFamily="34" charset="0"/>
                <a:cs typeface="Calibri" panose="020F0502020204030204" pitchFamily="34" charset="0"/>
              </a:rPr>
              <a:t>, followed by Software at </a:t>
            </a:r>
            <a:r>
              <a:rPr lang="en-US" b="1">
                <a:latin typeface="Calibri" panose="020F0502020204030204" pitchFamily="34" charset="0"/>
                <a:ea typeface="Calibri" panose="020F0502020204030204" pitchFamily="34" charset="0"/>
                <a:cs typeface="Calibri" panose="020F0502020204030204" pitchFamily="34" charset="0"/>
              </a:rPr>
              <a:t>50.54%</a:t>
            </a:r>
            <a:r>
              <a:rPr lang="en-US">
                <a:latin typeface="Calibri" panose="020F0502020204030204" pitchFamily="34" charset="0"/>
                <a:ea typeface="Calibri" panose="020F0502020204030204" pitchFamily="34" charset="0"/>
                <a:cs typeface="Calibri" panose="020F0502020204030204" pitchFamily="34" charset="0"/>
              </a:rPr>
              <a:t>, while Hardware records the lowest attrition at </a:t>
            </a:r>
            <a:r>
              <a:rPr lang="en-US" b="1">
                <a:latin typeface="Calibri" panose="020F0502020204030204" pitchFamily="34" charset="0"/>
                <a:ea typeface="Calibri" panose="020F0502020204030204" pitchFamily="34" charset="0"/>
                <a:cs typeface="Calibri" panose="020F0502020204030204" pitchFamily="34" charset="0"/>
              </a:rPr>
              <a:t>49.44%</a:t>
            </a:r>
            <a:r>
              <a:rPr lang="en-US">
                <a:latin typeface="Calibri" panose="020F0502020204030204" pitchFamily="34" charset="0"/>
                <a:ea typeface="Calibri" panose="020F0502020204030204" pitchFamily="34" charset="0"/>
                <a:cs typeface="Calibri" panose="020F0502020204030204" pitchFamily="34" charset="0"/>
              </a:rPr>
              <a:t>, indicating employee turnover is consistently high across all departments and significantly affects workforce productivity and operational performance.</a:t>
            </a:r>
          </a:p>
          <a:p>
            <a:pPr marL="285750" indent="-285750">
              <a:buFont typeface="Wingdings" panose="05000000000000000000" pitchFamily="2" charset="2"/>
              <a:buChar char="§"/>
            </a:pPr>
            <a:endParaRPr lang="en-US" sz="80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
            </a:pPr>
            <a:r>
              <a:rPr lang="en-US">
                <a:latin typeface="Calibri" panose="020F0502020204030204" pitchFamily="34" charset="0"/>
                <a:ea typeface="Calibri" panose="020F0502020204030204" pitchFamily="34" charset="0"/>
                <a:cs typeface="Calibri" panose="020F0502020204030204" pitchFamily="34" charset="0"/>
              </a:rPr>
              <a:t>Attrition versus promotion analysis shows employees waiting </a:t>
            </a:r>
            <a:r>
              <a:rPr lang="en-US" b="1">
                <a:latin typeface="Calibri" panose="020F0502020204030204" pitchFamily="34" charset="0"/>
                <a:ea typeface="Calibri" panose="020F0502020204030204" pitchFamily="34" charset="0"/>
                <a:cs typeface="Calibri" panose="020F0502020204030204" pitchFamily="34" charset="0"/>
              </a:rPr>
              <a:t>21–30 years for promotion experience the highest attrition at 50.96%</a:t>
            </a:r>
            <a:r>
              <a:rPr lang="en-US">
                <a:latin typeface="Calibri" panose="020F0502020204030204" pitchFamily="34" charset="0"/>
                <a:ea typeface="Calibri" panose="020F0502020204030204" pitchFamily="34" charset="0"/>
                <a:cs typeface="Calibri" panose="020F0502020204030204" pitchFamily="34" charset="0"/>
              </a:rPr>
              <a:t>, while employees promoted within </a:t>
            </a:r>
            <a:r>
              <a:rPr lang="en-US" b="1">
                <a:latin typeface="Calibri" panose="020F0502020204030204" pitchFamily="34" charset="0"/>
                <a:ea typeface="Calibri" panose="020F0502020204030204" pitchFamily="34" charset="0"/>
                <a:cs typeface="Calibri" panose="020F0502020204030204" pitchFamily="34" charset="0"/>
              </a:rPr>
              <a:t>11–15 years show comparatively lower attrition at 49.66%</a:t>
            </a:r>
            <a:r>
              <a:rPr lang="en-US">
                <a:latin typeface="Calibri" panose="020F0502020204030204" pitchFamily="34" charset="0"/>
                <a:ea typeface="Calibri" panose="020F0502020204030204" pitchFamily="34" charset="0"/>
                <a:cs typeface="Calibri" panose="020F0502020204030204" pitchFamily="34" charset="0"/>
              </a:rPr>
              <a:t>. Additionally, only </a:t>
            </a:r>
            <a:r>
              <a:rPr lang="en-US" b="1">
                <a:latin typeface="Calibri" panose="020F0502020204030204" pitchFamily="34" charset="0"/>
                <a:ea typeface="Calibri" panose="020F0502020204030204" pitchFamily="34" charset="0"/>
                <a:cs typeface="Calibri" panose="020F0502020204030204" pitchFamily="34" charset="0"/>
              </a:rPr>
              <a:t>24.85% employees received recent promotions</a:t>
            </a:r>
            <a:r>
              <a:rPr lang="en-US">
                <a:latin typeface="Calibri" panose="020F0502020204030204" pitchFamily="34" charset="0"/>
                <a:ea typeface="Calibri" panose="020F0502020204030204" pitchFamily="34" charset="0"/>
                <a:cs typeface="Calibri" panose="020F0502020204030204" pitchFamily="34" charset="0"/>
              </a:rPr>
              <a:t>, highlighting weak internal mobility and limited career growth opportunities.</a:t>
            </a:r>
          </a:p>
          <a:p>
            <a:pPr marL="285750" indent="-285750">
              <a:buFont typeface="Wingdings" panose="05000000000000000000" pitchFamily="2" charset="2"/>
              <a:buChar char="§"/>
            </a:pPr>
            <a:endParaRPr lang="en-US" sz="80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
            </a:pPr>
            <a:r>
              <a:rPr lang="en-US">
                <a:latin typeface="Calibri" panose="020F0502020204030204" pitchFamily="34" charset="0"/>
                <a:ea typeface="Calibri" panose="020F0502020204030204" pitchFamily="34" charset="0"/>
                <a:cs typeface="Calibri" panose="020F0502020204030204" pitchFamily="34" charset="0"/>
              </a:rPr>
              <a:t>Work-life balance analysis indicates moderate employee satisfaction levels, with the average </a:t>
            </a:r>
            <a:r>
              <a:rPr lang="en-US" b="1">
                <a:latin typeface="Calibri" panose="020F0502020204030204" pitchFamily="34" charset="0"/>
                <a:ea typeface="Calibri" panose="020F0502020204030204" pitchFamily="34" charset="0"/>
                <a:cs typeface="Calibri" panose="020F0502020204030204" pitchFamily="34" charset="0"/>
              </a:rPr>
              <a:t>Work-Life Balance KPI remaining at 2.50</a:t>
            </a:r>
            <a:r>
              <a:rPr lang="en-US">
                <a:latin typeface="Calibri" panose="020F0502020204030204" pitchFamily="34" charset="0"/>
                <a:ea typeface="Calibri" panose="020F0502020204030204" pitchFamily="34" charset="0"/>
                <a:cs typeface="Calibri" panose="020F0502020204030204" pitchFamily="34" charset="0"/>
              </a:rPr>
              <a:t>. Attrition also remains almost equally distributed across all satisfaction levels at approximately </a:t>
            </a:r>
            <a:r>
              <a:rPr lang="en-US" b="1">
                <a:latin typeface="Calibri" panose="020F0502020204030204" pitchFamily="34" charset="0"/>
                <a:ea typeface="Calibri" panose="020F0502020204030204" pitchFamily="34" charset="0"/>
                <a:cs typeface="Calibri" panose="020F0502020204030204" pitchFamily="34" charset="0"/>
              </a:rPr>
              <a:t>25% each</a:t>
            </a:r>
            <a:r>
              <a:rPr lang="en-US">
                <a:latin typeface="Calibri" panose="020F0502020204030204" pitchFamily="34" charset="0"/>
                <a:ea typeface="Calibri" panose="020F0502020204030204" pitchFamily="34" charset="0"/>
                <a:cs typeface="Calibri" panose="020F0502020204030204" pitchFamily="34" charset="0"/>
              </a:rPr>
              <a:t>, suggesting workload pressure, stress, and organizational environment strongly influence employee turnover.</a:t>
            </a:r>
          </a:p>
          <a:p>
            <a:pPr marL="285750" indent="-285750">
              <a:buFont typeface="Wingdings" panose="05000000000000000000" pitchFamily="2" charset="2"/>
              <a:buChar char="§"/>
            </a:pPr>
            <a:endParaRPr lang="en-US" sz="80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
            </a:pPr>
            <a:r>
              <a:rPr lang="en-US">
                <a:latin typeface="Calibri" panose="020F0502020204030204" pitchFamily="34" charset="0"/>
                <a:ea typeface="Calibri" panose="020F0502020204030204" pitchFamily="34" charset="0"/>
                <a:cs typeface="Calibri" panose="020F0502020204030204" pitchFamily="34" charset="0"/>
              </a:rPr>
              <a:t>Average Working Years analysis shows Software employees have the highest experience at </a:t>
            </a:r>
            <a:r>
              <a:rPr lang="en-US" b="1">
                <a:latin typeface="Calibri" panose="020F0502020204030204" pitchFamily="34" charset="0"/>
                <a:ea typeface="Calibri" panose="020F0502020204030204" pitchFamily="34" charset="0"/>
                <a:cs typeface="Calibri" panose="020F0502020204030204" pitchFamily="34" charset="0"/>
              </a:rPr>
              <a:t>20.65 years</a:t>
            </a:r>
            <a:r>
              <a:rPr lang="en-US">
                <a:latin typeface="Calibri" panose="020F0502020204030204" pitchFamily="34" charset="0"/>
                <a:ea typeface="Calibri" panose="020F0502020204030204" pitchFamily="34" charset="0"/>
                <a:cs typeface="Calibri" panose="020F0502020204030204" pitchFamily="34" charset="0"/>
              </a:rPr>
              <a:t>, while Research &amp; Development has the lowest at </a:t>
            </a:r>
            <a:r>
              <a:rPr lang="en-US" b="1">
                <a:latin typeface="Calibri" panose="020F0502020204030204" pitchFamily="34" charset="0"/>
                <a:ea typeface="Calibri" panose="020F0502020204030204" pitchFamily="34" charset="0"/>
                <a:cs typeface="Calibri" panose="020F0502020204030204" pitchFamily="34" charset="0"/>
              </a:rPr>
              <a:t>20.30 years</a:t>
            </a:r>
            <a:r>
              <a:rPr lang="en-US">
                <a:latin typeface="Calibri" panose="020F0502020204030204" pitchFamily="34" charset="0"/>
                <a:ea typeface="Calibri" panose="020F0502020204030204" pitchFamily="34" charset="0"/>
                <a:cs typeface="Calibri" panose="020F0502020204030204" pitchFamily="34" charset="0"/>
              </a:rPr>
              <a:t>. Despite high employee experience across departments, attrition remains consistently high.</a:t>
            </a:r>
          </a:p>
          <a:p>
            <a:pPr marL="285750" indent="-285750">
              <a:buFont typeface="Wingdings" panose="05000000000000000000" pitchFamily="2" charset="2"/>
              <a:buChar char="§"/>
            </a:pPr>
            <a:endParaRPr lang="en-US" sz="80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
            </a:pPr>
            <a:r>
              <a:rPr lang="en-US">
                <a:latin typeface="Calibri" panose="020F0502020204030204" pitchFamily="34" charset="0"/>
                <a:ea typeface="Calibri" panose="020F0502020204030204" pitchFamily="34" charset="0"/>
                <a:cs typeface="Calibri" panose="020F0502020204030204" pitchFamily="34" charset="0"/>
              </a:rPr>
              <a:t>Attrition by Job Satisfaction remains almost equally distributed across all satisfaction levels, with </a:t>
            </a:r>
            <a:r>
              <a:rPr lang="en-US" b="1">
                <a:latin typeface="Calibri" panose="020F0502020204030204" pitchFamily="34" charset="0"/>
                <a:ea typeface="Calibri" panose="020F0502020204030204" pitchFamily="34" charset="0"/>
                <a:cs typeface="Calibri" panose="020F0502020204030204" pitchFamily="34" charset="0"/>
              </a:rPr>
              <a:t>High Satisfaction at 25.13%</a:t>
            </a:r>
            <a:r>
              <a:rPr lang="en-US">
                <a:latin typeface="Calibri" panose="020F0502020204030204" pitchFamily="34" charset="0"/>
                <a:ea typeface="Calibri" panose="020F0502020204030204" pitchFamily="34" charset="0"/>
                <a:cs typeface="Calibri" panose="020F0502020204030204" pitchFamily="34" charset="0"/>
              </a:rPr>
              <a:t>, Medium at </a:t>
            </a:r>
            <a:r>
              <a:rPr lang="en-US" b="1">
                <a:latin typeface="Calibri" panose="020F0502020204030204" pitchFamily="34" charset="0"/>
                <a:ea typeface="Calibri" panose="020F0502020204030204" pitchFamily="34" charset="0"/>
                <a:cs typeface="Calibri" panose="020F0502020204030204" pitchFamily="34" charset="0"/>
              </a:rPr>
              <a:t>24.98%</a:t>
            </a:r>
            <a:r>
              <a:rPr lang="en-US">
                <a:latin typeface="Calibri" panose="020F0502020204030204" pitchFamily="34" charset="0"/>
                <a:ea typeface="Calibri" panose="020F0502020204030204" pitchFamily="34" charset="0"/>
                <a:cs typeface="Calibri" panose="020F0502020204030204" pitchFamily="34" charset="0"/>
              </a:rPr>
              <a:t>, Very High at </a:t>
            </a:r>
            <a:r>
              <a:rPr lang="en-US" b="1">
                <a:latin typeface="Calibri" panose="020F0502020204030204" pitchFamily="34" charset="0"/>
                <a:ea typeface="Calibri" panose="020F0502020204030204" pitchFamily="34" charset="0"/>
                <a:cs typeface="Calibri" panose="020F0502020204030204" pitchFamily="34" charset="0"/>
              </a:rPr>
              <a:t>24.97%</a:t>
            </a:r>
            <a:r>
              <a:rPr lang="en-US">
                <a:latin typeface="Calibri" panose="020F0502020204030204" pitchFamily="34" charset="0"/>
                <a:ea typeface="Calibri" panose="020F0502020204030204" pitchFamily="34" charset="0"/>
                <a:cs typeface="Calibri" panose="020F0502020204030204" pitchFamily="34" charset="0"/>
              </a:rPr>
              <a:t>, and Low Satisfaction at </a:t>
            </a:r>
            <a:r>
              <a:rPr lang="en-US" b="1">
                <a:latin typeface="Calibri" panose="020F0502020204030204" pitchFamily="34" charset="0"/>
                <a:ea typeface="Calibri" panose="020F0502020204030204" pitchFamily="34" charset="0"/>
                <a:cs typeface="Calibri" panose="020F0502020204030204" pitchFamily="34" charset="0"/>
              </a:rPr>
              <a:t>24.91%</a:t>
            </a:r>
            <a:r>
              <a:rPr lang="en-US">
                <a:latin typeface="Calibri" panose="020F0502020204030204" pitchFamily="34" charset="0"/>
                <a:ea typeface="Calibri" panose="020F0502020204030204" pitchFamily="34" charset="0"/>
                <a:cs typeface="Calibri" panose="020F0502020204030204" pitchFamily="34" charset="0"/>
              </a:rPr>
              <a:t>, indicating satisfaction alone does not significantly reduce attrition.</a:t>
            </a:r>
          </a:p>
          <a:p>
            <a:pPr marL="285750" indent="-285750">
              <a:buFont typeface="Wingdings" panose="05000000000000000000" pitchFamily="2" charset="2"/>
              <a:buChar char="§"/>
            </a:pPr>
            <a:endParaRPr lang="en-US" sz="80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
            </a:pPr>
            <a:r>
              <a:rPr lang="en-US">
                <a:latin typeface="Calibri" panose="020F0502020204030204" pitchFamily="34" charset="0"/>
                <a:ea typeface="Calibri" panose="020F0502020204030204" pitchFamily="34" charset="0"/>
                <a:cs typeface="Calibri" panose="020F0502020204030204" pitchFamily="34" charset="0"/>
              </a:rPr>
              <a:t>Overall Retention Dashboard analysis shows Hardware records the highest retention at </a:t>
            </a:r>
            <a:r>
              <a:rPr lang="en-US" b="1">
                <a:latin typeface="Calibri" panose="020F0502020204030204" pitchFamily="34" charset="0"/>
                <a:ea typeface="Calibri" panose="020F0502020204030204" pitchFamily="34" charset="0"/>
                <a:cs typeface="Calibri" panose="020F0502020204030204" pitchFamily="34" charset="0"/>
              </a:rPr>
              <a:t>50.56%</a:t>
            </a:r>
            <a:r>
              <a:rPr lang="en-US">
                <a:latin typeface="Calibri" panose="020F0502020204030204" pitchFamily="34" charset="0"/>
                <a:ea typeface="Calibri" panose="020F0502020204030204" pitchFamily="34" charset="0"/>
                <a:cs typeface="Calibri" panose="020F0502020204030204" pitchFamily="34" charset="0"/>
              </a:rPr>
              <a:t>, while Research &amp; Development shows the lowest retention at </a:t>
            </a:r>
            <a:r>
              <a:rPr lang="en-US" b="1">
                <a:latin typeface="Calibri" panose="020F0502020204030204" pitchFamily="34" charset="0"/>
                <a:ea typeface="Calibri" panose="020F0502020204030204" pitchFamily="34" charset="0"/>
                <a:cs typeface="Calibri" panose="020F0502020204030204" pitchFamily="34" charset="0"/>
              </a:rPr>
              <a:t>48.79%</a:t>
            </a:r>
            <a:r>
              <a:rPr lang="en-US">
                <a:latin typeface="Calibri" panose="020F0502020204030204" pitchFamily="34" charset="0"/>
                <a:ea typeface="Calibri" panose="020F0502020204030204" pitchFamily="34" charset="0"/>
                <a:cs typeface="Calibri" panose="020F0502020204030204" pitchFamily="34" charset="0"/>
              </a:rPr>
              <a:t>, confirming technical departments face greater workforce instability. Employees receiving promotions within </a:t>
            </a:r>
            <a:r>
              <a:rPr lang="en-US" b="1">
                <a:latin typeface="Calibri" panose="020F0502020204030204" pitchFamily="34" charset="0"/>
                <a:ea typeface="Calibri" panose="020F0502020204030204" pitchFamily="34" charset="0"/>
                <a:cs typeface="Calibri" panose="020F0502020204030204" pitchFamily="34" charset="0"/>
              </a:rPr>
              <a:t>11–15 years demonstrate comparatively stronger retention</a:t>
            </a:r>
            <a:r>
              <a:rPr lang="en-US">
                <a:latin typeface="Calibri" panose="020F0502020204030204" pitchFamily="34" charset="0"/>
                <a:ea typeface="Calibri" panose="020F0502020204030204" pitchFamily="34" charset="0"/>
                <a:cs typeface="Calibri" panose="020F0502020204030204" pitchFamily="34" charset="0"/>
              </a:rPr>
              <a:t>, while employees waiting </a:t>
            </a:r>
            <a:r>
              <a:rPr lang="en-US" b="1">
                <a:latin typeface="Calibri" panose="020F0502020204030204" pitchFamily="34" charset="0"/>
                <a:ea typeface="Calibri" panose="020F0502020204030204" pitchFamily="34" charset="0"/>
                <a:cs typeface="Calibri" panose="020F0502020204030204" pitchFamily="34" charset="0"/>
              </a:rPr>
              <a:t>21–30 years for promotions show the weakest retention</a:t>
            </a:r>
            <a:r>
              <a:rPr lang="en-US">
                <a:latin typeface="Calibri" panose="020F0502020204030204" pitchFamily="34" charset="0"/>
                <a:ea typeface="Calibri" panose="020F0502020204030204" pitchFamily="34" charset="0"/>
                <a:cs typeface="Calibri" panose="020F0502020204030204" pitchFamily="34" charset="0"/>
              </a:rPr>
              <a:t>, highlighting the strong impact of career growth opportunities on employee loyalty and workforce stability.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590701" y="-2352224"/>
            <a:ext cx="10818956" cy="6761848"/>
          </a:xfrm>
          <a:custGeom>
            <a:avLst/>
            <a:gdLst/>
            <a:ahLst/>
            <a:cxnLst/>
            <a:rect l="l" t="t" r="r" b="b"/>
            <a:pathLst>
              <a:path w="10818956" h="6761848">
                <a:moveTo>
                  <a:pt x="0" y="0"/>
                </a:moveTo>
                <a:lnTo>
                  <a:pt x="10818956" y="0"/>
                </a:lnTo>
                <a:lnTo>
                  <a:pt x="10818956" y="6761848"/>
                </a:lnTo>
                <a:lnTo>
                  <a:pt x="0" y="676184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a:off x="0" y="0"/>
            <a:ext cx="18288000" cy="12184380"/>
          </a:xfrm>
          <a:custGeom>
            <a:avLst/>
            <a:gdLst/>
            <a:ahLst/>
            <a:cxnLst/>
            <a:rect l="l" t="t" r="r" b="b"/>
            <a:pathLst>
              <a:path w="18288000" h="12184380">
                <a:moveTo>
                  <a:pt x="0" y="0"/>
                </a:moveTo>
                <a:lnTo>
                  <a:pt x="18288000" y="0"/>
                </a:lnTo>
                <a:lnTo>
                  <a:pt x="18288000" y="12184380"/>
                </a:lnTo>
                <a:lnTo>
                  <a:pt x="0" y="12184380"/>
                </a:lnTo>
                <a:lnTo>
                  <a:pt x="0" y="0"/>
                </a:lnTo>
                <a:close/>
              </a:path>
            </a:pathLst>
          </a:custGeom>
          <a:blipFill>
            <a:blip r:embed="rId3">
              <a:alphaModFix amt="26000"/>
            </a:blip>
            <a:stretch>
              <a:fillRect/>
            </a:stretch>
          </a:blipFill>
        </p:spPr>
        <p:txBody>
          <a:bodyPr/>
          <a:lstStyle/>
          <a:p>
            <a:endParaRPr lang="en-IN"/>
          </a:p>
        </p:txBody>
      </p:sp>
      <p:sp>
        <p:nvSpPr>
          <p:cNvPr id="4" name="Freeform 4"/>
          <p:cNvSpPr/>
          <p:nvPr/>
        </p:nvSpPr>
        <p:spPr>
          <a:xfrm>
            <a:off x="-682599" y="3235102"/>
            <a:ext cx="8249879" cy="8264906"/>
          </a:xfrm>
          <a:custGeom>
            <a:avLst/>
            <a:gdLst/>
            <a:ahLst/>
            <a:cxnLst/>
            <a:rect l="l" t="t" r="r" b="b"/>
            <a:pathLst>
              <a:path w="8249879" h="8264906">
                <a:moveTo>
                  <a:pt x="0" y="0"/>
                </a:moveTo>
                <a:lnTo>
                  <a:pt x="8249879" y="0"/>
                </a:lnTo>
                <a:lnTo>
                  <a:pt x="8249879" y="8264905"/>
                </a:lnTo>
                <a:lnTo>
                  <a:pt x="0" y="826490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5" name="Freeform 5"/>
          <p:cNvSpPr/>
          <p:nvPr/>
        </p:nvSpPr>
        <p:spPr>
          <a:xfrm>
            <a:off x="8173342" y="-1065755"/>
            <a:ext cx="11109641" cy="2819072"/>
          </a:xfrm>
          <a:custGeom>
            <a:avLst/>
            <a:gdLst/>
            <a:ahLst/>
            <a:cxnLst/>
            <a:rect l="l" t="t" r="r" b="b"/>
            <a:pathLst>
              <a:path w="11109641" h="2819072">
                <a:moveTo>
                  <a:pt x="0" y="0"/>
                </a:moveTo>
                <a:lnTo>
                  <a:pt x="11109642" y="0"/>
                </a:lnTo>
                <a:lnTo>
                  <a:pt x="11109642" y="2819071"/>
                </a:lnTo>
                <a:lnTo>
                  <a:pt x="0" y="281907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sp>
        <p:nvSpPr>
          <p:cNvPr id="6" name="Freeform 6"/>
          <p:cNvSpPr/>
          <p:nvPr/>
        </p:nvSpPr>
        <p:spPr>
          <a:xfrm rot="5400000">
            <a:off x="13127809" y="6100510"/>
            <a:ext cx="6730886" cy="6722065"/>
          </a:xfrm>
          <a:custGeom>
            <a:avLst/>
            <a:gdLst/>
            <a:ahLst/>
            <a:cxnLst/>
            <a:rect l="l" t="t" r="r" b="b"/>
            <a:pathLst>
              <a:path w="6730886" h="6722065">
                <a:moveTo>
                  <a:pt x="0" y="0"/>
                </a:moveTo>
                <a:lnTo>
                  <a:pt x="6730886" y="0"/>
                </a:lnTo>
                <a:lnTo>
                  <a:pt x="6730886" y="6722065"/>
                </a:lnTo>
                <a:lnTo>
                  <a:pt x="0" y="6722065"/>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IN"/>
          </a:p>
        </p:txBody>
      </p:sp>
      <p:sp>
        <p:nvSpPr>
          <p:cNvPr id="7" name="Freeform 7"/>
          <p:cNvSpPr/>
          <p:nvPr/>
        </p:nvSpPr>
        <p:spPr>
          <a:xfrm rot="7119350">
            <a:off x="-2375242" y="-657590"/>
            <a:ext cx="7280753" cy="4114800"/>
          </a:xfrm>
          <a:custGeom>
            <a:avLst/>
            <a:gdLst/>
            <a:ahLst/>
            <a:cxnLst/>
            <a:rect l="l" t="t" r="r" b="b"/>
            <a:pathLst>
              <a:path w="7280753" h="4114800">
                <a:moveTo>
                  <a:pt x="0" y="0"/>
                </a:moveTo>
                <a:lnTo>
                  <a:pt x="7280754" y="0"/>
                </a:lnTo>
                <a:lnTo>
                  <a:pt x="7280754" y="4114800"/>
                </a:lnTo>
                <a:lnTo>
                  <a:pt x="0" y="4114800"/>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IN"/>
          </a:p>
        </p:txBody>
      </p:sp>
      <p:grpSp>
        <p:nvGrpSpPr>
          <p:cNvPr id="8" name="Group 8"/>
          <p:cNvGrpSpPr/>
          <p:nvPr/>
        </p:nvGrpSpPr>
        <p:grpSpPr>
          <a:xfrm>
            <a:off x="1195457" y="967684"/>
            <a:ext cx="15897086" cy="8351632"/>
            <a:chOff x="0" y="0"/>
            <a:chExt cx="4186887" cy="2199607"/>
          </a:xfrm>
        </p:grpSpPr>
        <p:sp>
          <p:nvSpPr>
            <p:cNvPr id="9" name="Freeform 9"/>
            <p:cNvSpPr/>
            <p:nvPr/>
          </p:nvSpPr>
          <p:spPr>
            <a:xfrm>
              <a:off x="0" y="0"/>
              <a:ext cx="4186887" cy="2199607"/>
            </a:xfrm>
            <a:custGeom>
              <a:avLst/>
              <a:gdLst/>
              <a:ahLst/>
              <a:cxnLst/>
              <a:rect l="l" t="t" r="r" b="b"/>
              <a:pathLst>
                <a:path w="4186887" h="2199607">
                  <a:moveTo>
                    <a:pt x="24837" y="0"/>
                  </a:moveTo>
                  <a:lnTo>
                    <a:pt x="4162050" y="0"/>
                  </a:lnTo>
                  <a:cubicBezTo>
                    <a:pt x="4175767" y="0"/>
                    <a:pt x="4186887" y="11120"/>
                    <a:pt x="4186887" y="24837"/>
                  </a:cubicBezTo>
                  <a:lnTo>
                    <a:pt x="4186887" y="2174770"/>
                  </a:lnTo>
                  <a:cubicBezTo>
                    <a:pt x="4186887" y="2181357"/>
                    <a:pt x="4184270" y="2187674"/>
                    <a:pt x="4179612" y="2192332"/>
                  </a:cubicBezTo>
                  <a:cubicBezTo>
                    <a:pt x="4174954" y="2196990"/>
                    <a:pt x="4168637" y="2199607"/>
                    <a:pt x="4162050" y="2199607"/>
                  </a:cubicBezTo>
                  <a:lnTo>
                    <a:pt x="24837" y="2199607"/>
                  </a:lnTo>
                  <a:cubicBezTo>
                    <a:pt x="11120" y="2199607"/>
                    <a:pt x="0" y="2188487"/>
                    <a:pt x="0" y="2174770"/>
                  </a:cubicBezTo>
                  <a:lnTo>
                    <a:pt x="0" y="24837"/>
                  </a:lnTo>
                  <a:cubicBezTo>
                    <a:pt x="0" y="11120"/>
                    <a:pt x="11120" y="0"/>
                    <a:pt x="24837" y="0"/>
                  </a:cubicBezTo>
                  <a:close/>
                </a:path>
              </a:pathLst>
            </a:custGeom>
            <a:solidFill>
              <a:srgbClr val="FFFFFF">
                <a:alpha val="60784"/>
              </a:srgbClr>
            </a:solidFill>
          </p:spPr>
          <p:txBody>
            <a:bodyPr/>
            <a:lstStyle/>
            <a:p>
              <a:endParaRPr lang="en-IN"/>
            </a:p>
          </p:txBody>
        </p:sp>
        <p:sp>
          <p:nvSpPr>
            <p:cNvPr id="10" name="TextBox 10"/>
            <p:cNvSpPr txBox="1"/>
            <p:nvPr/>
          </p:nvSpPr>
          <p:spPr>
            <a:xfrm>
              <a:off x="0" y="-38100"/>
              <a:ext cx="4186887" cy="2237707"/>
            </a:xfrm>
            <a:prstGeom prst="rect">
              <a:avLst/>
            </a:prstGeom>
          </p:spPr>
          <p:txBody>
            <a:bodyPr lIns="50800" tIns="50800" rIns="50800" bIns="50800" rtlCol="0" anchor="ctr"/>
            <a:lstStyle/>
            <a:p>
              <a:pPr algn="ctr">
                <a:lnSpc>
                  <a:spcPts val="2659"/>
                </a:lnSpc>
                <a:spcBef>
                  <a:spcPct val="0"/>
                </a:spcBef>
              </a:pPr>
              <a:endParaRPr/>
            </a:p>
          </p:txBody>
        </p:sp>
      </p:grpSp>
      <p:sp>
        <p:nvSpPr>
          <p:cNvPr id="17" name="TextBox 10">
            <a:extLst>
              <a:ext uri="{FF2B5EF4-FFF2-40B4-BE49-F238E27FC236}">
                <a16:creationId xmlns:a16="http://schemas.microsoft.com/office/drawing/2014/main" id="{AFFB0080-F742-10C2-19EE-4D807568D792}"/>
              </a:ext>
            </a:extLst>
          </p:cNvPr>
          <p:cNvSpPr txBox="1"/>
          <p:nvPr/>
        </p:nvSpPr>
        <p:spPr>
          <a:xfrm>
            <a:off x="2387732" y="1333500"/>
            <a:ext cx="7066922" cy="1519327"/>
          </a:xfrm>
          <a:prstGeom prst="rect">
            <a:avLst/>
          </a:prstGeom>
        </p:spPr>
        <p:txBody>
          <a:bodyPr wrap="square" lIns="0" tIns="0" rIns="0" bIns="0" rtlCol="0" anchor="t">
            <a:spAutoFit/>
          </a:bodyPr>
          <a:lstStyle/>
          <a:p>
            <a:pPr algn="l">
              <a:lnSpc>
                <a:spcPts val="13396"/>
              </a:lnSpc>
              <a:spcBef>
                <a:spcPct val="0"/>
              </a:spcBef>
            </a:pPr>
            <a:r>
              <a:rPr lang="en-US" sz="7200">
                <a:solidFill>
                  <a:srgbClr val="000000"/>
                </a:solidFill>
                <a:latin typeface="Arapey"/>
                <a:ea typeface="Arapey"/>
                <a:cs typeface="Arapey"/>
                <a:sym typeface="Arapey"/>
              </a:rPr>
              <a:t>Recommendations</a:t>
            </a:r>
          </a:p>
        </p:txBody>
      </p:sp>
      <p:sp>
        <p:nvSpPr>
          <p:cNvPr id="12" name="TextBox 11">
            <a:extLst>
              <a:ext uri="{FF2B5EF4-FFF2-40B4-BE49-F238E27FC236}">
                <a16:creationId xmlns:a16="http://schemas.microsoft.com/office/drawing/2014/main" id="{70139AE0-8376-E0F8-AD03-D108E440E6B7}"/>
              </a:ext>
            </a:extLst>
          </p:cNvPr>
          <p:cNvSpPr txBox="1"/>
          <p:nvPr/>
        </p:nvSpPr>
        <p:spPr>
          <a:xfrm>
            <a:off x="2133600" y="3247965"/>
            <a:ext cx="14741908" cy="5447645"/>
          </a:xfrm>
          <a:prstGeom prst="rect">
            <a:avLst/>
          </a:prstGeom>
          <a:noFill/>
        </p:spPr>
        <p:txBody>
          <a:bodyPr wrap="square" lIns="0" tIns="0" rIns="0" bIns="0" rtlCol="0" anchor="t">
            <a:spAutoFit/>
          </a:bodyPr>
          <a:lstStyle/>
          <a:p>
            <a:pPr marL="285750" indent="-285750">
              <a:buFont typeface="Wingdings" panose="05000000000000000000" pitchFamily="2" charset="2"/>
              <a:buChar char="§"/>
            </a:pPr>
            <a:r>
              <a:rPr lang="en-US">
                <a:latin typeface="Calibri" panose="020F0502020204030204" pitchFamily="34" charset="0"/>
                <a:ea typeface="Calibri" panose="020F0502020204030204" pitchFamily="34" charset="0"/>
                <a:cs typeface="Calibri" panose="020F0502020204030204" pitchFamily="34" charset="0"/>
              </a:rPr>
              <a:t> Improve career growth opportunities by increasing internal promotions, leadership development programs, and employee skill enhancement initiatives, as employees waiting longer for promotions show significantly higher attrition levels.</a:t>
            </a:r>
          </a:p>
          <a:p>
            <a:pPr marL="285750" indent="-285750">
              <a:buFont typeface="Wingdings" panose="05000000000000000000" pitchFamily="2" charset="2"/>
              <a:buChar char="§"/>
            </a:pPr>
            <a:endParaRPr lang="en-US" sz="80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
            </a:pPr>
            <a:r>
              <a:rPr lang="en-US">
                <a:latin typeface="Calibri" panose="020F0502020204030204" pitchFamily="34" charset="0"/>
                <a:ea typeface="Calibri" panose="020F0502020204030204" pitchFamily="34" charset="0"/>
                <a:cs typeface="Calibri" panose="020F0502020204030204" pitchFamily="34" charset="0"/>
              </a:rPr>
              <a:t>Strengthen employee engagement and retention strategies within Research &amp; Development and Software departments, as these departments record the highest attrition and workforce instability.</a:t>
            </a:r>
          </a:p>
          <a:p>
            <a:pPr marL="285750" indent="-285750">
              <a:buFont typeface="Wingdings" panose="05000000000000000000" pitchFamily="2" charset="2"/>
              <a:buChar char="§"/>
            </a:pPr>
            <a:endParaRPr lang="en-US" sz="80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
            </a:pPr>
            <a:r>
              <a:rPr lang="en-US">
                <a:latin typeface="Calibri" panose="020F0502020204030204" pitchFamily="34" charset="0"/>
                <a:ea typeface="Calibri" panose="020F0502020204030204" pitchFamily="34" charset="0"/>
                <a:cs typeface="Calibri" panose="020F0502020204030204" pitchFamily="34" charset="0"/>
              </a:rPr>
              <a:t>Introduce workload management, flexible work policies, and wellness programs to improve the average Work-Life Balance KPI of </a:t>
            </a:r>
            <a:r>
              <a:rPr lang="en-US" b="1">
                <a:latin typeface="Calibri" panose="020F0502020204030204" pitchFamily="34" charset="0"/>
                <a:ea typeface="Calibri" panose="020F0502020204030204" pitchFamily="34" charset="0"/>
                <a:cs typeface="Calibri" panose="020F0502020204030204" pitchFamily="34" charset="0"/>
              </a:rPr>
              <a:t>2.50</a:t>
            </a:r>
            <a:r>
              <a:rPr lang="en-US">
                <a:latin typeface="Calibri" panose="020F0502020204030204" pitchFamily="34" charset="0"/>
                <a:ea typeface="Calibri" panose="020F0502020204030204" pitchFamily="34" charset="0"/>
                <a:cs typeface="Calibri" panose="020F0502020204030204" pitchFamily="34" charset="0"/>
              </a:rPr>
              <a:t> and reduce stress-related employee turnover.</a:t>
            </a:r>
          </a:p>
          <a:p>
            <a:pPr marL="285750" indent="-285750">
              <a:buFont typeface="Wingdings" panose="05000000000000000000" pitchFamily="2" charset="2"/>
              <a:buChar char="§"/>
            </a:pPr>
            <a:endParaRPr lang="en-US" sz="80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
            </a:pPr>
            <a:r>
              <a:rPr lang="en-US">
                <a:latin typeface="Calibri" panose="020F0502020204030204" pitchFamily="34" charset="0"/>
                <a:ea typeface="Calibri" panose="020F0502020204030204" pitchFamily="34" charset="0"/>
                <a:cs typeface="Calibri" panose="020F0502020204030204" pitchFamily="34" charset="0"/>
              </a:rPr>
              <a:t>Conduct regular employee feedback surveys and performance discussions to better understand employee concerns related to job satisfaction, workload pressure, and organizational environment.</a:t>
            </a:r>
          </a:p>
          <a:p>
            <a:pPr marL="285750" indent="-285750">
              <a:buFont typeface="Wingdings" panose="05000000000000000000" pitchFamily="2" charset="2"/>
              <a:buChar char="§"/>
            </a:pPr>
            <a:endParaRPr lang="en-US" sz="80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
            </a:pPr>
            <a:r>
              <a:rPr lang="en-US">
                <a:latin typeface="Calibri" panose="020F0502020204030204" pitchFamily="34" charset="0"/>
                <a:ea typeface="Calibri" panose="020F0502020204030204" pitchFamily="34" charset="0"/>
                <a:cs typeface="Calibri" panose="020F0502020204030204" pitchFamily="34" charset="0"/>
              </a:rPr>
              <a:t>Develop role-specific retention plans for technical and operational job categories, where attrition remains consistently high despite employee experience and compensation levels.</a:t>
            </a:r>
          </a:p>
          <a:p>
            <a:pPr marL="285750" indent="-285750">
              <a:buFont typeface="Wingdings" panose="05000000000000000000" pitchFamily="2" charset="2"/>
              <a:buChar char="§"/>
            </a:pPr>
            <a:endParaRPr lang="en-US" sz="80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
            </a:pPr>
            <a:r>
              <a:rPr lang="en-US">
                <a:latin typeface="Calibri" panose="020F0502020204030204" pitchFamily="34" charset="0"/>
                <a:ea typeface="Calibri" panose="020F0502020204030204" pitchFamily="34" charset="0"/>
                <a:cs typeface="Calibri" panose="020F0502020204030204" pitchFamily="34" charset="0"/>
              </a:rPr>
              <a:t>Improve recognition and reward systems beyond salary increases, as employees in the Very High-Income group still demonstrate the highest attrition levels, indicating compensation alone is not sufficient for retention.</a:t>
            </a:r>
          </a:p>
          <a:p>
            <a:pPr marL="285750" indent="-285750">
              <a:buFont typeface="Wingdings" panose="05000000000000000000" pitchFamily="2" charset="2"/>
              <a:buChar char="§"/>
            </a:pPr>
            <a:endParaRPr lang="en-US" sz="80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
            </a:pPr>
            <a:r>
              <a:rPr lang="en-US">
                <a:latin typeface="Calibri" panose="020F0502020204030204" pitchFamily="34" charset="0"/>
                <a:ea typeface="Calibri" panose="020F0502020204030204" pitchFamily="34" charset="0"/>
                <a:cs typeface="Calibri" panose="020F0502020204030204" pitchFamily="34" charset="0"/>
              </a:rPr>
              <a:t>Strengthen employee career planning and succession management programs to improve long-term employee loyalty and reduce workforce instability across departments.</a:t>
            </a:r>
          </a:p>
          <a:p>
            <a:pPr marL="285750" indent="-285750">
              <a:buFont typeface="Wingdings" panose="05000000000000000000" pitchFamily="2" charset="2"/>
              <a:buChar char="§"/>
            </a:pPr>
            <a:endParaRPr lang="en-US" sz="80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
            </a:pPr>
            <a:r>
              <a:rPr lang="en-US">
                <a:latin typeface="Calibri" panose="020F0502020204030204" pitchFamily="34" charset="0"/>
                <a:ea typeface="Calibri" panose="020F0502020204030204" pitchFamily="34" charset="0"/>
                <a:cs typeface="Calibri" panose="020F0502020204030204" pitchFamily="34" charset="0"/>
              </a:rPr>
              <a:t>Continuously monitor attrition and retention KPIs through HR analytics dashboards to identify high-risk employee groups early and support data-driven HR decision-making.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2184380"/>
          </a:xfrm>
          <a:custGeom>
            <a:avLst/>
            <a:gdLst/>
            <a:ahLst/>
            <a:cxnLst/>
            <a:rect l="l" t="t" r="r" b="b"/>
            <a:pathLst>
              <a:path w="18288000" h="12184380">
                <a:moveTo>
                  <a:pt x="0" y="0"/>
                </a:moveTo>
                <a:lnTo>
                  <a:pt x="18288000" y="0"/>
                </a:lnTo>
                <a:lnTo>
                  <a:pt x="18288000" y="12184380"/>
                </a:lnTo>
                <a:lnTo>
                  <a:pt x="0" y="12184380"/>
                </a:lnTo>
                <a:lnTo>
                  <a:pt x="0" y="0"/>
                </a:lnTo>
                <a:close/>
              </a:path>
            </a:pathLst>
          </a:custGeom>
          <a:blipFill>
            <a:blip r:embed="rId2">
              <a:alphaModFix amt="26000"/>
            </a:blip>
            <a:stretch>
              <a:fillRect/>
            </a:stretch>
          </a:blipFill>
        </p:spPr>
        <p:txBody>
          <a:bodyPr/>
          <a:lstStyle/>
          <a:p>
            <a:endParaRPr lang="en-IN"/>
          </a:p>
        </p:txBody>
      </p:sp>
      <p:sp>
        <p:nvSpPr>
          <p:cNvPr id="3" name="Freeform 3"/>
          <p:cNvSpPr/>
          <p:nvPr/>
        </p:nvSpPr>
        <p:spPr>
          <a:xfrm>
            <a:off x="10775287" y="8645946"/>
            <a:ext cx="5551100" cy="2547812"/>
          </a:xfrm>
          <a:custGeom>
            <a:avLst/>
            <a:gdLst/>
            <a:ahLst/>
            <a:cxnLst/>
            <a:rect l="l" t="t" r="r" b="b"/>
            <a:pathLst>
              <a:path w="5551100" h="2547812">
                <a:moveTo>
                  <a:pt x="0" y="0"/>
                </a:moveTo>
                <a:lnTo>
                  <a:pt x="5551099" y="0"/>
                </a:lnTo>
                <a:lnTo>
                  <a:pt x="5551099" y="2547813"/>
                </a:lnTo>
                <a:lnTo>
                  <a:pt x="0" y="254781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a:off x="0" y="-287338"/>
            <a:ext cx="7315200" cy="1802843"/>
          </a:xfrm>
          <a:custGeom>
            <a:avLst/>
            <a:gdLst/>
            <a:ahLst/>
            <a:cxnLst/>
            <a:rect l="l" t="t" r="r" b="b"/>
            <a:pathLst>
              <a:path w="7315200" h="1802843">
                <a:moveTo>
                  <a:pt x="0" y="0"/>
                </a:moveTo>
                <a:lnTo>
                  <a:pt x="7315200" y="0"/>
                </a:lnTo>
                <a:lnTo>
                  <a:pt x="7315200" y="1802843"/>
                </a:lnTo>
                <a:lnTo>
                  <a:pt x="0" y="18028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5" name="Freeform 5"/>
          <p:cNvSpPr/>
          <p:nvPr/>
        </p:nvSpPr>
        <p:spPr>
          <a:xfrm>
            <a:off x="13550836" y="-2599295"/>
            <a:ext cx="7416927" cy="8229600"/>
          </a:xfrm>
          <a:custGeom>
            <a:avLst/>
            <a:gdLst/>
            <a:ahLst/>
            <a:cxnLst/>
            <a:rect l="l" t="t" r="r" b="b"/>
            <a:pathLst>
              <a:path w="7416927" h="8229600">
                <a:moveTo>
                  <a:pt x="0" y="0"/>
                </a:moveTo>
                <a:lnTo>
                  <a:pt x="7416927" y="0"/>
                </a:lnTo>
                <a:lnTo>
                  <a:pt x="7416927" y="8229600"/>
                </a:lnTo>
                <a:lnTo>
                  <a:pt x="0" y="8229600"/>
                </a:lnTo>
                <a:lnTo>
                  <a:pt x="0" y="0"/>
                </a:lnTo>
                <a:close/>
              </a:path>
            </a:pathLst>
          </a:custGeom>
          <a:blipFill>
            <a:blip r:embed="rId5"/>
            <a:stretch>
              <a:fillRect/>
            </a:stretch>
          </a:blipFill>
        </p:spPr>
        <p:txBody>
          <a:bodyPr/>
          <a:lstStyle/>
          <a:p>
            <a:endParaRPr lang="en-IN"/>
          </a:p>
        </p:txBody>
      </p:sp>
      <p:sp>
        <p:nvSpPr>
          <p:cNvPr id="6" name="Freeform 6"/>
          <p:cNvSpPr/>
          <p:nvPr/>
        </p:nvSpPr>
        <p:spPr>
          <a:xfrm rot="956953">
            <a:off x="-1464555" y="7094451"/>
            <a:ext cx="8397773" cy="7872912"/>
          </a:xfrm>
          <a:custGeom>
            <a:avLst/>
            <a:gdLst/>
            <a:ahLst/>
            <a:cxnLst/>
            <a:rect l="l" t="t" r="r" b="b"/>
            <a:pathLst>
              <a:path w="8397773" h="7872912">
                <a:moveTo>
                  <a:pt x="0" y="0"/>
                </a:moveTo>
                <a:lnTo>
                  <a:pt x="8397773" y="0"/>
                </a:lnTo>
                <a:lnTo>
                  <a:pt x="8397773" y="7872912"/>
                </a:lnTo>
                <a:lnTo>
                  <a:pt x="0" y="787291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IN"/>
          </a:p>
        </p:txBody>
      </p:sp>
      <p:grpSp>
        <p:nvGrpSpPr>
          <p:cNvPr id="7" name="Group 7"/>
          <p:cNvGrpSpPr/>
          <p:nvPr/>
        </p:nvGrpSpPr>
        <p:grpSpPr>
          <a:xfrm>
            <a:off x="1195457" y="967684"/>
            <a:ext cx="15897086" cy="8351632"/>
            <a:chOff x="0" y="0"/>
            <a:chExt cx="4186887" cy="2199607"/>
          </a:xfrm>
        </p:grpSpPr>
        <p:sp>
          <p:nvSpPr>
            <p:cNvPr id="8" name="Freeform 8"/>
            <p:cNvSpPr/>
            <p:nvPr/>
          </p:nvSpPr>
          <p:spPr>
            <a:xfrm>
              <a:off x="0" y="0"/>
              <a:ext cx="4186887" cy="2199607"/>
            </a:xfrm>
            <a:custGeom>
              <a:avLst/>
              <a:gdLst/>
              <a:ahLst/>
              <a:cxnLst/>
              <a:rect l="l" t="t" r="r" b="b"/>
              <a:pathLst>
                <a:path w="4186887" h="2199607">
                  <a:moveTo>
                    <a:pt x="24837" y="0"/>
                  </a:moveTo>
                  <a:lnTo>
                    <a:pt x="4162050" y="0"/>
                  </a:lnTo>
                  <a:cubicBezTo>
                    <a:pt x="4175767" y="0"/>
                    <a:pt x="4186887" y="11120"/>
                    <a:pt x="4186887" y="24837"/>
                  </a:cubicBezTo>
                  <a:lnTo>
                    <a:pt x="4186887" y="2174770"/>
                  </a:lnTo>
                  <a:cubicBezTo>
                    <a:pt x="4186887" y="2181357"/>
                    <a:pt x="4184270" y="2187674"/>
                    <a:pt x="4179612" y="2192332"/>
                  </a:cubicBezTo>
                  <a:cubicBezTo>
                    <a:pt x="4174954" y="2196990"/>
                    <a:pt x="4168637" y="2199607"/>
                    <a:pt x="4162050" y="2199607"/>
                  </a:cubicBezTo>
                  <a:lnTo>
                    <a:pt x="24837" y="2199607"/>
                  </a:lnTo>
                  <a:cubicBezTo>
                    <a:pt x="11120" y="2199607"/>
                    <a:pt x="0" y="2188487"/>
                    <a:pt x="0" y="2174770"/>
                  </a:cubicBezTo>
                  <a:lnTo>
                    <a:pt x="0" y="24837"/>
                  </a:lnTo>
                  <a:cubicBezTo>
                    <a:pt x="0" y="11120"/>
                    <a:pt x="11120" y="0"/>
                    <a:pt x="24837" y="0"/>
                  </a:cubicBezTo>
                  <a:close/>
                </a:path>
              </a:pathLst>
            </a:custGeom>
            <a:solidFill>
              <a:srgbClr val="FFFFFF">
                <a:alpha val="60784"/>
              </a:srgbClr>
            </a:solidFill>
          </p:spPr>
          <p:txBody>
            <a:bodyPr/>
            <a:lstStyle/>
            <a:p>
              <a:endParaRPr lang="en-IN"/>
            </a:p>
          </p:txBody>
        </p:sp>
        <p:sp>
          <p:nvSpPr>
            <p:cNvPr id="9" name="TextBox 9"/>
            <p:cNvSpPr txBox="1"/>
            <p:nvPr/>
          </p:nvSpPr>
          <p:spPr>
            <a:xfrm>
              <a:off x="0" y="-38100"/>
              <a:ext cx="4186887" cy="2237707"/>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0">
            <a:extLst>
              <a:ext uri="{FF2B5EF4-FFF2-40B4-BE49-F238E27FC236}">
                <a16:creationId xmlns:a16="http://schemas.microsoft.com/office/drawing/2014/main" id="{284816A2-19CF-FC6A-9303-2039236E8691}"/>
              </a:ext>
            </a:extLst>
          </p:cNvPr>
          <p:cNvSpPr txBox="1"/>
          <p:nvPr/>
        </p:nvSpPr>
        <p:spPr>
          <a:xfrm>
            <a:off x="2006732" y="1325005"/>
            <a:ext cx="6680068" cy="1519327"/>
          </a:xfrm>
          <a:prstGeom prst="rect">
            <a:avLst/>
          </a:prstGeom>
        </p:spPr>
        <p:txBody>
          <a:bodyPr lIns="0" tIns="0" rIns="0" bIns="0" rtlCol="0" anchor="t">
            <a:spAutoFit/>
          </a:bodyPr>
          <a:lstStyle/>
          <a:p>
            <a:pPr algn="l">
              <a:lnSpc>
                <a:spcPts val="13396"/>
              </a:lnSpc>
              <a:spcBef>
                <a:spcPct val="0"/>
              </a:spcBef>
            </a:pPr>
            <a:r>
              <a:rPr lang="en-US" sz="7200">
                <a:solidFill>
                  <a:srgbClr val="000000"/>
                </a:solidFill>
                <a:latin typeface="Arapey"/>
                <a:ea typeface="Arapey"/>
                <a:cs typeface="Arapey"/>
                <a:sym typeface="Arapey"/>
              </a:rPr>
              <a:t>Conclusion</a:t>
            </a:r>
          </a:p>
        </p:txBody>
      </p:sp>
      <p:sp>
        <p:nvSpPr>
          <p:cNvPr id="11" name="Freeform 11"/>
          <p:cNvSpPr/>
          <p:nvPr/>
        </p:nvSpPr>
        <p:spPr>
          <a:xfrm>
            <a:off x="12954000" y="6014041"/>
            <a:ext cx="3980354" cy="2828331"/>
          </a:xfrm>
          <a:custGeom>
            <a:avLst/>
            <a:gdLst/>
            <a:ahLst/>
            <a:cxnLst/>
            <a:rect l="l" t="t" r="r" b="b"/>
            <a:pathLst>
              <a:path w="5151415" h="4114800">
                <a:moveTo>
                  <a:pt x="0" y="0"/>
                </a:moveTo>
                <a:lnTo>
                  <a:pt x="5151416" y="0"/>
                </a:lnTo>
                <a:lnTo>
                  <a:pt x="5151416" y="4114800"/>
                </a:lnTo>
                <a:lnTo>
                  <a:pt x="0" y="4114800"/>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IN"/>
          </a:p>
        </p:txBody>
      </p:sp>
      <p:sp>
        <p:nvSpPr>
          <p:cNvPr id="10" name="TextBox 9">
            <a:extLst>
              <a:ext uri="{FF2B5EF4-FFF2-40B4-BE49-F238E27FC236}">
                <a16:creationId xmlns:a16="http://schemas.microsoft.com/office/drawing/2014/main" id="{95A19640-1ABA-4446-752C-4F28833733EF}"/>
              </a:ext>
            </a:extLst>
          </p:cNvPr>
          <p:cNvSpPr txBox="1"/>
          <p:nvPr/>
        </p:nvSpPr>
        <p:spPr>
          <a:xfrm>
            <a:off x="2734331" y="3390900"/>
            <a:ext cx="11972269" cy="3539430"/>
          </a:xfrm>
          <a:prstGeom prst="rect">
            <a:avLst/>
          </a:prstGeom>
          <a:noFill/>
        </p:spPr>
        <p:txBody>
          <a:bodyPr wrap="square" lIns="0" tIns="0" rIns="0" bIns="0" rtlCol="0" anchor="t">
            <a:spAutoFit/>
          </a:bodyPr>
          <a:lstStyle/>
          <a:p>
            <a:pPr marL="285750" indent="-285750">
              <a:buFont typeface="Wingdings" panose="05000000000000000000" pitchFamily="2" charset="2"/>
              <a:buChar char="q"/>
            </a:pPr>
            <a:r>
              <a:rPr lang="en-US"/>
              <a:t> The HR Attrition Analysis reveals that employee turnover remains a major organizational challenge, particularly within Research &amp; Development and technical departments where attrition levels are the highest.</a:t>
            </a:r>
          </a:p>
          <a:p>
            <a:pPr marL="285750" indent="-285750">
              <a:buFont typeface="Wingdings" panose="05000000000000000000" pitchFamily="2" charset="2"/>
              <a:buChar char="q"/>
            </a:pPr>
            <a:endParaRPr lang="en-US" sz="800"/>
          </a:p>
          <a:p>
            <a:pPr marL="285750" indent="-285750">
              <a:buFont typeface="Wingdings" panose="05000000000000000000" pitchFamily="2" charset="2"/>
              <a:buChar char="q"/>
            </a:pPr>
            <a:r>
              <a:rPr lang="en-US"/>
              <a:t> The analysis confirms that salary alone is not the primary factor influencing employee exits, as even employees in higher income groups continue showing high attrition levels.</a:t>
            </a:r>
          </a:p>
          <a:p>
            <a:endParaRPr lang="en-US" sz="800"/>
          </a:p>
          <a:p>
            <a:pPr marL="285750" indent="-285750">
              <a:buFont typeface="Wingdings" panose="05000000000000000000" pitchFamily="2" charset="2"/>
              <a:buChar char="q"/>
            </a:pPr>
            <a:r>
              <a:rPr lang="en-US"/>
              <a:t>Delayed promotions, limited career growth opportunities, moderate work-life balance, and workload pressure are identified as the major contributors to workforce instability and reduced employee retention.</a:t>
            </a:r>
          </a:p>
          <a:p>
            <a:pPr marL="285750" indent="-285750">
              <a:buFont typeface="Wingdings" panose="05000000000000000000" pitchFamily="2" charset="2"/>
              <a:buChar char="q"/>
            </a:pPr>
            <a:endParaRPr lang="en-US" sz="800"/>
          </a:p>
          <a:p>
            <a:pPr marL="285750" indent="-285750">
              <a:buFont typeface="Wingdings" panose="05000000000000000000" pitchFamily="2" charset="2"/>
              <a:buChar char="q"/>
            </a:pPr>
            <a:r>
              <a:rPr lang="en-US"/>
              <a:t>Retention analysis further highlights that employees receiving timely promotions demonstrate stronger loyalty, proving that career progression and employee recognition play a critical role in improving workforce stability.</a:t>
            </a:r>
          </a:p>
          <a:p>
            <a:pPr marL="285750" indent="-285750">
              <a:buFont typeface="Wingdings" panose="05000000000000000000" pitchFamily="2" charset="2"/>
              <a:buChar char="q"/>
            </a:pPr>
            <a:endParaRPr lang="en-US" sz="800"/>
          </a:p>
          <a:p>
            <a:pPr marL="285750" indent="-285750">
              <a:buFont typeface="Wingdings" panose="05000000000000000000" pitchFamily="2" charset="2"/>
              <a:buChar char="q"/>
            </a:pPr>
            <a:r>
              <a:rPr lang="en-US"/>
              <a:t>Overall, the dashboard successfully helps identify high-risk employee groups and provides data-driven insights that can support HR teams in improving employee engagement, strengthening retention strategies, and enhancing long-term organizational performance.</a:t>
            </a:r>
          </a:p>
        </p:txBody>
      </p:sp>
    </p:spTree>
  </p:cSld>
  <p:clrMapOvr>
    <a:masterClrMapping/>
  </p:clrMapOvr>
  <mc:AlternateContent xmlns:mc="http://schemas.openxmlformats.org/markup-compatibility/2006">
    <mc:Choice xmlns:p14="http://schemas.microsoft.com/office/powerpoint/2010/main" Requires="p14">
      <p:transition spd="slow" p14:dur="4400">
        <p14:honeycomb/>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590701" y="-2352224"/>
            <a:ext cx="10818956" cy="6761848"/>
          </a:xfrm>
          <a:custGeom>
            <a:avLst/>
            <a:gdLst/>
            <a:ahLst/>
            <a:cxnLst/>
            <a:rect l="l" t="t" r="r" b="b"/>
            <a:pathLst>
              <a:path w="10818956" h="6761848">
                <a:moveTo>
                  <a:pt x="0" y="0"/>
                </a:moveTo>
                <a:lnTo>
                  <a:pt x="10818956" y="0"/>
                </a:lnTo>
                <a:lnTo>
                  <a:pt x="10818956" y="6761848"/>
                </a:lnTo>
                <a:lnTo>
                  <a:pt x="0" y="676184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 name="Freeform 3"/>
          <p:cNvSpPr/>
          <p:nvPr/>
        </p:nvSpPr>
        <p:spPr>
          <a:xfrm>
            <a:off x="0" y="0"/>
            <a:ext cx="18288000" cy="12184380"/>
          </a:xfrm>
          <a:custGeom>
            <a:avLst/>
            <a:gdLst/>
            <a:ahLst/>
            <a:cxnLst/>
            <a:rect l="l" t="t" r="r" b="b"/>
            <a:pathLst>
              <a:path w="18288000" h="12184380">
                <a:moveTo>
                  <a:pt x="0" y="0"/>
                </a:moveTo>
                <a:lnTo>
                  <a:pt x="18288000" y="0"/>
                </a:lnTo>
                <a:lnTo>
                  <a:pt x="18288000" y="12184380"/>
                </a:lnTo>
                <a:lnTo>
                  <a:pt x="0" y="12184380"/>
                </a:lnTo>
                <a:lnTo>
                  <a:pt x="0" y="0"/>
                </a:lnTo>
                <a:close/>
              </a:path>
            </a:pathLst>
          </a:custGeom>
          <a:blipFill>
            <a:blip r:embed="rId3">
              <a:alphaModFix amt="26000"/>
            </a:blip>
            <a:stretch>
              <a:fillRect/>
            </a:stretch>
          </a:blipFill>
        </p:spPr>
        <p:txBody>
          <a:bodyPr/>
          <a:lstStyle/>
          <a:p>
            <a:endParaRPr lang="en-IN"/>
          </a:p>
        </p:txBody>
      </p:sp>
      <p:sp>
        <p:nvSpPr>
          <p:cNvPr id="4" name="Freeform 4"/>
          <p:cNvSpPr/>
          <p:nvPr/>
        </p:nvSpPr>
        <p:spPr>
          <a:xfrm>
            <a:off x="-682599" y="3235102"/>
            <a:ext cx="8249879" cy="8264906"/>
          </a:xfrm>
          <a:custGeom>
            <a:avLst/>
            <a:gdLst/>
            <a:ahLst/>
            <a:cxnLst/>
            <a:rect l="l" t="t" r="r" b="b"/>
            <a:pathLst>
              <a:path w="8249879" h="8264906">
                <a:moveTo>
                  <a:pt x="0" y="0"/>
                </a:moveTo>
                <a:lnTo>
                  <a:pt x="8249879" y="0"/>
                </a:lnTo>
                <a:lnTo>
                  <a:pt x="8249879" y="8264905"/>
                </a:lnTo>
                <a:lnTo>
                  <a:pt x="0" y="8264905"/>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5" name="Freeform 5"/>
          <p:cNvSpPr/>
          <p:nvPr/>
        </p:nvSpPr>
        <p:spPr>
          <a:xfrm>
            <a:off x="8173342" y="-1065755"/>
            <a:ext cx="11109641" cy="2819072"/>
          </a:xfrm>
          <a:custGeom>
            <a:avLst/>
            <a:gdLst/>
            <a:ahLst/>
            <a:cxnLst/>
            <a:rect l="l" t="t" r="r" b="b"/>
            <a:pathLst>
              <a:path w="11109641" h="2819072">
                <a:moveTo>
                  <a:pt x="0" y="0"/>
                </a:moveTo>
                <a:lnTo>
                  <a:pt x="11109642" y="0"/>
                </a:lnTo>
                <a:lnTo>
                  <a:pt x="11109642" y="2819071"/>
                </a:lnTo>
                <a:lnTo>
                  <a:pt x="0" y="281907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sp>
        <p:nvSpPr>
          <p:cNvPr id="6" name="Freeform 6"/>
          <p:cNvSpPr/>
          <p:nvPr/>
        </p:nvSpPr>
        <p:spPr>
          <a:xfrm rot="5400000">
            <a:off x="13127809" y="6100510"/>
            <a:ext cx="6730886" cy="6722065"/>
          </a:xfrm>
          <a:custGeom>
            <a:avLst/>
            <a:gdLst/>
            <a:ahLst/>
            <a:cxnLst/>
            <a:rect l="l" t="t" r="r" b="b"/>
            <a:pathLst>
              <a:path w="6730886" h="6722065">
                <a:moveTo>
                  <a:pt x="0" y="0"/>
                </a:moveTo>
                <a:lnTo>
                  <a:pt x="6730886" y="0"/>
                </a:lnTo>
                <a:lnTo>
                  <a:pt x="6730886" y="6722065"/>
                </a:lnTo>
                <a:lnTo>
                  <a:pt x="0" y="6722065"/>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IN"/>
          </a:p>
        </p:txBody>
      </p:sp>
      <p:sp>
        <p:nvSpPr>
          <p:cNvPr id="7" name="Freeform 7"/>
          <p:cNvSpPr/>
          <p:nvPr/>
        </p:nvSpPr>
        <p:spPr>
          <a:xfrm rot="7119350">
            <a:off x="-2131722" y="-460619"/>
            <a:ext cx="7280753" cy="4114800"/>
          </a:xfrm>
          <a:custGeom>
            <a:avLst/>
            <a:gdLst/>
            <a:ahLst/>
            <a:cxnLst/>
            <a:rect l="l" t="t" r="r" b="b"/>
            <a:pathLst>
              <a:path w="7280753" h="4114800">
                <a:moveTo>
                  <a:pt x="0" y="0"/>
                </a:moveTo>
                <a:lnTo>
                  <a:pt x="7280754" y="0"/>
                </a:lnTo>
                <a:lnTo>
                  <a:pt x="7280754" y="4114800"/>
                </a:lnTo>
                <a:lnTo>
                  <a:pt x="0" y="4114800"/>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IN"/>
          </a:p>
        </p:txBody>
      </p:sp>
      <p:sp>
        <p:nvSpPr>
          <p:cNvPr id="8" name="TextBox 8"/>
          <p:cNvSpPr txBox="1"/>
          <p:nvPr/>
        </p:nvSpPr>
        <p:spPr>
          <a:xfrm>
            <a:off x="4779806" y="3970789"/>
            <a:ext cx="8728387" cy="2107336"/>
          </a:xfrm>
          <a:prstGeom prst="rect">
            <a:avLst/>
          </a:prstGeom>
        </p:spPr>
        <p:txBody>
          <a:bodyPr lIns="0" tIns="0" rIns="0" bIns="0" rtlCol="0" anchor="t">
            <a:spAutoFit/>
          </a:bodyPr>
          <a:lstStyle/>
          <a:p>
            <a:pPr algn="ctr">
              <a:lnSpc>
                <a:spcPts val="17197"/>
              </a:lnSpc>
              <a:spcBef>
                <a:spcPct val="0"/>
              </a:spcBef>
            </a:pPr>
            <a:r>
              <a:rPr lang="en-US" sz="12284">
                <a:solidFill>
                  <a:srgbClr val="000000"/>
                </a:solidFill>
                <a:latin typeface="Norwester"/>
                <a:ea typeface="Norwester"/>
                <a:cs typeface="Norwester"/>
                <a:sym typeface="Norwester"/>
              </a:rPr>
              <a:t>THANK YOU</a:t>
            </a:r>
          </a:p>
        </p:txBody>
      </p:sp>
    </p:spTree>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Custom 1">
      <a:dk1>
        <a:sysClr val="windowText" lastClr="000000"/>
      </a:dk1>
      <a:lt1>
        <a:sysClr val="window" lastClr="FFFFFF"/>
      </a:lt1>
      <a:dk2>
        <a:srgbClr val="242852"/>
      </a:dk2>
      <a:lt2>
        <a:srgbClr val="ACCBF9"/>
      </a:lt2>
      <a:accent1>
        <a:srgbClr val="000000"/>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EBEC8F79-A447-43FC-8E81-85E8468AF3F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TM03457475[[fn=Frame]]</Template>
  <TotalTime>0</TotalTime>
  <Words>1367</Words>
  <Application>Microsoft Office PowerPoint</Application>
  <PresentationFormat>Custom</PresentationFormat>
  <Paragraphs>101</Paragraphs>
  <Slides>16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Arapey</vt:lpstr>
      <vt:lpstr>Assistant</vt:lpstr>
      <vt:lpstr>Corbel</vt:lpstr>
      <vt:lpstr>Norwester</vt:lpstr>
      <vt:lpstr>Parallax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and White Modern Minimalist Presentation</dc:title>
  <dc:creator>Praveen .S</dc:creator>
  <cp:lastModifiedBy>Praveen .S</cp:lastModifiedBy>
  <cp:revision>1</cp:revision>
  <dcterms:created xsi:type="dcterms:W3CDTF">2006-08-16T00:00:00Z</dcterms:created>
  <dcterms:modified xsi:type="dcterms:W3CDTF">2026-05-12T14:07:49Z</dcterms:modified>
  <dc:identifier>DAHJErjBjio</dc:identifier>
</cp:coreProperties>
</file>