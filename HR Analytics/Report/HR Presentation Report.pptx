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839" r:id="rId1"/>
  </p:sldMasterIdLst>
  <p:notesMasterIdLst>
    <p:notesMasterId r:id="rId17"/>
  </p:notesMasterIdLst>
  <p:sldIdLst>
    <p:sldId id="256" r:id="rId2"/>
    <p:sldId id="257" r:id="rId3"/>
    <p:sldId id="259" r:id="rId4"/>
    <p:sldId id="258" r:id="rId5"/>
    <p:sldId id="267" r:id="rId6"/>
    <p:sldId id="260" r:id="rId7"/>
    <p:sldId id="269" r:id="rId8"/>
    <p:sldId id="271" r:id="rId9"/>
    <p:sldId id="272" r:id="rId10"/>
    <p:sldId id="261" r:id="rId11"/>
    <p:sldId id="268" r:id="rId12"/>
    <p:sldId id="262" r:id="rId13"/>
    <p:sldId id="263" r:id="rId14"/>
    <p:sldId id="264" r:id="rId15"/>
    <p:sldId id="265" r:id="rId16"/>
  </p:sldIdLst>
  <p:sldSz cx="18288000" cy="10287000"/>
  <p:notesSz cx="6858000" cy="9144000"/>
  <p:embeddedFontLst>
    <p:embeddedFont>
      <p:font typeface="Arapey" panose="020B0604020202020204" charset="0"/>
      <p:regular r:id="rId18"/>
    </p:embeddedFont>
    <p:embeddedFont>
      <p:font typeface="Assistant" pitchFamily="2" charset="-79"/>
      <p:regular r:id="rId19"/>
      <p:bold r:id="rId20"/>
    </p:embeddedFont>
    <p:embeddedFont>
      <p:font typeface="Corbel" panose="020B0503020204020204" pitchFamily="34" charset="0"/>
      <p:regular r:id="rId21"/>
      <p:bold r:id="rId22"/>
      <p:italic r:id="rId23"/>
      <p:boldItalic r:id="rId24"/>
    </p:embeddedFont>
    <p:embeddedFont>
      <p:font typeface="Norwester" panose="020B0604020202020204" charset="0"/>
      <p:regular r:id="rId2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54061"/>
    <a:srgbClr val="87A292"/>
    <a:srgbClr val="B4B4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BBBE8A-732F-47B3-B60B-35EFA6E0D7E5}" v="13" dt="2026-05-12T16:10:41.988"/>
    <p1510:client id="{B56012D0-5E30-46B3-9EDC-1C147A76A265}" v="122" dt="2026-05-12T04:19:20.3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288" y="8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veen .S" userId="786c6a3edcadf2d4" providerId="LiveId" clId="{40FFB7B8-41FF-43E1-A09C-A49375805421}"/>
    <pc:docChg chg="undo custSel delSld modSld">
      <pc:chgData name="Praveen .S" userId="786c6a3edcadf2d4" providerId="LiveId" clId="{40FFB7B8-41FF-43E1-A09C-A49375805421}" dt="2026-05-12T16:11:42.344" v="228" actId="2696"/>
      <pc:docMkLst>
        <pc:docMk/>
      </pc:docMkLst>
      <pc:sldChg chg="modSp mod">
        <pc:chgData name="Praveen .S" userId="786c6a3edcadf2d4" providerId="LiveId" clId="{40FFB7B8-41FF-43E1-A09C-A49375805421}" dt="2026-05-12T16:06:06.499" v="15" actId="20577"/>
        <pc:sldMkLst>
          <pc:docMk/>
          <pc:sldMk cId="0" sldId="256"/>
        </pc:sldMkLst>
        <pc:spChg chg="mod">
          <ac:chgData name="Praveen .S" userId="786c6a3edcadf2d4" providerId="LiveId" clId="{40FFB7B8-41FF-43E1-A09C-A49375805421}" dt="2026-05-12T16:06:06.499" v="15" actId="20577"/>
          <ac:spMkLst>
            <pc:docMk/>
            <pc:sldMk cId="0" sldId="256"/>
            <ac:spMk id="9" creationId="{00000000-0000-0000-0000-000000000000}"/>
          </ac:spMkLst>
        </pc:spChg>
      </pc:sldChg>
      <pc:sldChg chg="addSp delSp modSp mod">
        <pc:chgData name="Praveen .S" userId="786c6a3edcadf2d4" providerId="LiveId" clId="{40FFB7B8-41FF-43E1-A09C-A49375805421}" dt="2026-05-12T16:11:28.351" v="227" actId="20577"/>
        <pc:sldMkLst>
          <pc:docMk/>
          <pc:sldMk cId="0" sldId="257"/>
        </pc:sldMkLst>
        <pc:spChg chg="mod">
          <ac:chgData name="Praveen .S" userId="786c6a3edcadf2d4" providerId="LiveId" clId="{40FFB7B8-41FF-43E1-A09C-A49375805421}" dt="2026-05-12T16:11:28.351" v="227" actId="20577"/>
          <ac:spMkLst>
            <pc:docMk/>
            <pc:sldMk cId="0" sldId="257"/>
            <ac:spMk id="82" creationId="{01BAD01E-7B41-0748-C806-7F448C5E813C}"/>
          </ac:spMkLst>
        </pc:spChg>
        <pc:spChg chg="del">
          <ac:chgData name="Praveen .S" userId="786c6a3edcadf2d4" providerId="LiveId" clId="{40FFB7B8-41FF-43E1-A09C-A49375805421}" dt="2026-05-12T16:10:46.197" v="213" actId="478"/>
          <ac:spMkLst>
            <pc:docMk/>
            <pc:sldMk cId="0" sldId="257"/>
            <ac:spMk id="87" creationId="{C035C1E3-C78E-A529-5A03-ACC32F6192C2}"/>
          </ac:spMkLst>
        </pc:spChg>
        <pc:spChg chg="add del">
          <ac:chgData name="Praveen .S" userId="786c6a3edcadf2d4" providerId="LiveId" clId="{40FFB7B8-41FF-43E1-A09C-A49375805421}" dt="2026-05-12T16:08:52.663" v="135" actId="478"/>
          <ac:spMkLst>
            <pc:docMk/>
            <pc:sldMk cId="0" sldId="257"/>
            <ac:spMk id="92" creationId="{4063181B-DBB0-59D8-7978-E3B65EB1439B}"/>
          </ac:spMkLst>
        </pc:spChg>
      </pc:sldChg>
      <pc:sldChg chg="del">
        <pc:chgData name="Praveen .S" userId="786c6a3edcadf2d4" providerId="LiveId" clId="{40FFB7B8-41FF-43E1-A09C-A49375805421}" dt="2026-05-12T16:11:42.344" v="228" actId="2696"/>
        <pc:sldMkLst>
          <pc:docMk/>
          <pc:sldMk cId="3163570248"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5B3F6E-41FD-4475-9CC8-CCA1B612860F}" type="datetimeFigureOut">
              <a:rPr lang="en-IN" smtClean="0"/>
              <a:t>12-05-2026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398167-1C6C-4A04-AAED-A169D3D68D3F}" type="slidenum">
              <a:rPr lang="en-IN" smtClean="0"/>
              <a:t>‹#›</a:t>
            </a:fld>
            <a:endParaRPr lang="en-IN"/>
          </a:p>
        </p:txBody>
      </p:sp>
    </p:spTree>
    <p:extLst>
      <p:ext uri="{BB962C8B-B14F-4D97-AF65-F5344CB8AC3E}">
        <p14:creationId xmlns:p14="http://schemas.microsoft.com/office/powerpoint/2010/main" val="13014773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82398167-1C6C-4A04-AAED-A169D3D68D3F}" type="slidenum">
              <a:rPr lang="en-IN" smtClean="0"/>
              <a:t>2</a:t>
            </a:fld>
            <a:endParaRPr lang="en-IN"/>
          </a:p>
        </p:txBody>
      </p:sp>
    </p:spTree>
    <p:extLst>
      <p:ext uri="{BB962C8B-B14F-4D97-AF65-F5344CB8AC3E}">
        <p14:creationId xmlns:p14="http://schemas.microsoft.com/office/powerpoint/2010/main" val="9889410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7B89-8D0C-91C5-5233-4F084680D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AA4C8B-0737-89EB-9738-C9C0A3C4F0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6E9E9-1143-EFDA-B0E8-40355B88D8C1}"/>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4E58B8F-FA1C-59F3-9472-FDBFA51E5CA6}"/>
              </a:ext>
            </a:extLst>
          </p:cNvPr>
          <p:cNvSpPr>
            <a:spLocks noGrp="1"/>
          </p:cNvSpPr>
          <p:nvPr>
            <p:ph type="sldNum" sz="quarter" idx="5"/>
          </p:nvPr>
        </p:nvSpPr>
        <p:spPr/>
        <p:txBody>
          <a:bodyPr/>
          <a:lstStyle/>
          <a:p>
            <a:fld id="{82398167-1C6C-4A04-AAED-A169D3D68D3F}" type="slidenum">
              <a:rPr lang="en-IN" smtClean="0"/>
              <a:t>7</a:t>
            </a:fld>
            <a:endParaRPr lang="en-IN"/>
          </a:p>
        </p:txBody>
      </p:sp>
    </p:spTree>
    <p:extLst>
      <p:ext uri="{BB962C8B-B14F-4D97-AF65-F5344CB8AC3E}">
        <p14:creationId xmlns:p14="http://schemas.microsoft.com/office/powerpoint/2010/main" val="2306523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5AD63-A8C8-838D-94C4-67EF9C0111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2AC33B-ACEC-424E-3E1C-5031803C6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57DC37-C355-F52C-639A-AF056DB0ACF6}"/>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8FB516-C065-6023-997C-C1AA49DD86F9}"/>
              </a:ext>
            </a:extLst>
          </p:cNvPr>
          <p:cNvSpPr>
            <a:spLocks noGrp="1"/>
          </p:cNvSpPr>
          <p:nvPr>
            <p:ph type="sldNum" sz="quarter" idx="5"/>
          </p:nvPr>
        </p:nvSpPr>
        <p:spPr/>
        <p:txBody>
          <a:bodyPr/>
          <a:lstStyle/>
          <a:p>
            <a:fld id="{82398167-1C6C-4A04-AAED-A169D3D68D3F}" type="slidenum">
              <a:rPr lang="en-IN" smtClean="0"/>
              <a:t>8</a:t>
            </a:fld>
            <a:endParaRPr lang="en-IN"/>
          </a:p>
        </p:txBody>
      </p:sp>
    </p:spTree>
    <p:extLst>
      <p:ext uri="{BB962C8B-B14F-4D97-AF65-F5344CB8AC3E}">
        <p14:creationId xmlns:p14="http://schemas.microsoft.com/office/powerpoint/2010/main" val="372660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01040-184B-F501-6CCE-E98D83697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98011-8769-AED3-F39A-FE78FDA2C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25B79A-0E27-5530-7518-A9C13AF21C2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24E24CC-AE99-F135-B43C-188E69B317C9}"/>
              </a:ext>
            </a:extLst>
          </p:cNvPr>
          <p:cNvSpPr>
            <a:spLocks noGrp="1"/>
          </p:cNvSpPr>
          <p:nvPr>
            <p:ph type="sldNum" sz="quarter" idx="5"/>
          </p:nvPr>
        </p:nvSpPr>
        <p:spPr/>
        <p:txBody>
          <a:bodyPr/>
          <a:lstStyle/>
          <a:p>
            <a:fld id="{82398167-1C6C-4A04-AAED-A169D3D68D3F}" type="slidenum">
              <a:rPr lang="en-IN" smtClean="0"/>
              <a:t>9</a:t>
            </a:fld>
            <a:endParaRPr lang="en-IN"/>
          </a:p>
        </p:txBody>
      </p:sp>
    </p:spTree>
    <p:extLst>
      <p:ext uri="{BB962C8B-B14F-4D97-AF65-F5344CB8AC3E}">
        <p14:creationId xmlns:p14="http://schemas.microsoft.com/office/powerpoint/2010/main" val="31166069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82398167-1C6C-4A04-AAED-A169D3D68D3F}" type="slidenum">
              <a:rPr lang="en-IN" smtClean="0"/>
              <a:t>10</a:t>
            </a:fld>
            <a:endParaRPr lang="en-IN"/>
          </a:p>
        </p:txBody>
      </p:sp>
    </p:spTree>
    <p:extLst>
      <p:ext uri="{BB962C8B-B14F-4D97-AF65-F5344CB8AC3E}">
        <p14:creationId xmlns:p14="http://schemas.microsoft.com/office/powerpoint/2010/main" val="31263271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468AE-0603-C218-782C-8A88FA8D32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37460-81DE-C1DC-AECB-CAF934FAA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E0812-B4FC-8483-9A17-178546E591F1}"/>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59F16B41-6480-3342-FC66-08617C9F08EC}"/>
              </a:ext>
            </a:extLst>
          </p:cNvPr>
          <p:cNvSpPr>
            <a:spLocks noGrp="1"/>
          </p:cNvSpPr>
          <p:nvPr>
            <p:ph type="sldNum" sz="quarter" idx="5"/>
          </p:nvPr>
        </p:nvSpPr>
        <p:spPr/>
        <p:txBody>
          <a:bodyPr/>
          <a:lstStyle/>
          <a:p>
            <a:fld id="{82398167-1C6C-4A04-AAED-A169D3D68D3F}" type="slidenum">
              <a:rPr lang="en-IN" smtClean="0"/>
              <a:t>11</a:t>
            </a:fld>
            <a:endParaRPr lang="en-IN"/>
          </a:p>
        </p:txBody>
      </p:sp>
    </p:spTree>
    <p:extLst>
      <p:ext uri="{BB962C8B-B14F-4D97-AF65-F5344CB8AC3E}">
        <p14:creationId xmlns:p14="http://schemas.microsoft.com/office/powerpoint/2010/main" val="15258415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819150" y="-7144"/>
            <a:ext cx="7522368" cy="10294145"/>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IN"/>
            </a:p>
          </p:txBody>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IN"/>
            </a:p>
          </p:txBody>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IN"/>
            </a:p>
          </p:txBody>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IN"/>
            </a:p>
          </p:txBody>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IN"/>
            </a:p>
          </p:txBody>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IN"/>
            </a:p>
          </p:txBody>
        </p:sp>
      </p:grpSp>
      <p:sp>
        <p:nvSpPr>
          <p:cNvPr id="2" name="Title 1"/>
          <p:cNvSpPr>
            <a:spLocks noGrp="1"/>
          </p:cNvSpPr>
          <p:nvPr>
            <p:ph type="ctrTitle"/>
          </p:nvPr>
        </p:nvSpPr>
        <p:spPr>
          <a:xfrm>
            <a:off x="4392602" y="2070103"/>
            <a:ext cx="12861933" cy="3924299"/>
          </a:xfrm>
        </p:spPr>
        <p:txBody>
          <a:bodyPr anchor="b">
            <a:normAutofit/>
          </a:bodyPr>
          <a:lstStyle>
            <a:lvl1pPr algn="r">
              <a:defRPr sz="9000">
                <a:effectLst/>
              </a:defRPr>
            </a:lvl1pPr>
          </a:lstStyle>
          <a:p>
            <a:r>
              <a:rPr lang="en-US"/>
              <a:t>Click to edit Master title style</a:t>
            </a:r>
          </a:p>
        </p:txBody>
      </p:sp>
      <p:sp>
        <p:nvSpPr>
          <p:cNvPr id="3" name="Subtitle 2"/>
          <p:cNvSpPr>
            <a:spLocks noGrp="1"/>
          </p:cNvSpPr>
          <p:nvPr>
            <p:ph type="subTitle" idx="1"/>
          </p:nvPr>
        </p:nvSpPr>
        <p:spPr>
          <a:xfrm>
            <a:off x="6773066" y="5994401"/>
            <a:ext cx="10481468" cy="2082801"/>
          </a:xfrm>
        </p:spPr>
        <p:txBody>
          <a:bodyPr anchor="t">
            <a:normAutofit/>
          </a:bodyPr>
          <a:lstStyle>
            <a:lvl1pPr marL="0" indent="0" algn="r">
              <a:buNone/>
              <a:defRPr sz="3150">
                <a:solidFill>
                  <a:schemeClr val="tx1"/>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a:xfrm>
            <a:off x="7998618" y="8824913"/>
            <a:ext cx="6486066" cy="547688"/>
          </a:xfrm>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45476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6427785" y="8800697"/>
            <a:ext cx="826751" cy="547688"/>
          </a:xfrm>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07014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58419" y="4000498"/>
            <a:ext cx="13396121" cy="3165573"/>
          </a:xfrm>
        </p:spPr>
        <p:txBody>
          <a:bodyPr anchor="b"/>
          <a:lstStyle>
            <a:lvl1pPr algn="r">
              <a:defRPr sz="6000" b="0" cap="none"/>
            </a:lvl1pPr>
          </a:lstStyle>
          <a:p>
            <a:r>
              <a:rPr lang="en-US"/>
              <a:t>Click to edit Master title style</a:t>
            </a:r>
          </a:p>
        </p:txBody>
      </p:sp>
      <p:sp>
        <p:nvSpPr>
          <p:cNvPr id="3" name="Text Placeholder 2"/>
          <p:cNvSpPr>
            <a:spLocks noGrp="1"/>
          </p:cNvSpPr>
          <p:nvPr>
            <p:ph type="body" idx="1"/>
          </p:nvPr>
        </p:nvSpPr>
        <p:spPr>
          <a:xfrm>
            <a:off x="3858417" y="7166072"/>
            <a:ext cx="13396122" cy="1290600"/>
          </a:xfrm>
        </p:spPr>
        <p:txBody>
          <a:bodyPr anchor="t">
            <a:normAutofit/>
          </a:bodyPr>
          <a:lstStyle>
            <a:lvl1pPr marL="0" indent="0" algn="r">
              <a:buNone/>
              <a:defRPr sz="30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12734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26467" y="1028701"/>
            <a:ext cx="15028070" cy="2628899"/>
          </a:xfrm>
        </p:spPr>
        <p:txBody>
          <a:bodyPr/>
          <a:lstStyle/>
          <a:p>
            <a:r>
              <a:rPr lang="en-US"/>
              <a:t>Click to edit Master title style</a:t>
            </a:r>
          </a:p>
        </p:txBody>
      </p:sp>
      <p:sp>
        <p:nvSpPr>
          <p:cNvPr id="3" name="Content Placeholder 2"/>
          <p:cNvSpPr>
            <a:spLocks noGrp="1"/>
          </p:cNvSpPr>
          <p:nvPr>
            <p:ph sz="half" idx="1"/>
          </p:nvPr>
        </p:nvSpPr>
        <p:spPr>
          <a:xfrm>
            <a:off x="2226469" y="4000499"/>
            <a:ext cx="7342583" cy="4686302"/>
          </a:xfrm>
        </p:spPr>
        <p:txBody>
          <a:bodyPr>
            <a:normAutofit/>
          </a:bodyPr>
          <a:lstStyle>
            <a:lvl1pPr>
              <a:buClr>
                <a:schemeClr val="accent1">
                  <a:lumMod val="75000"/>
                </a:schemeClr>
              </a:buClr>
              <a:defRPr sz="2700"/>
            </a:lvl1pPr>
            <a:lvl2pPr>
              <a:buClr>
                <a:schemeClr val="accent1">
                  <a:lumMod val="75000"/>
                </a:schemeClr>
              </a:buClr>
              <a:defRPr sz="2400"/>
            </a:lvl2pPr>
            <a:lvl3pPr>
              <a:buClr>
                <a:schemeClr val="accent1">
                  <a:lumMod val="75000"/>
                </a:schemeClr>
              </a:buClr>
              <a:defRPr sz="2100"/>
            </a:lvl3pPr>
            <a:lvl4pPr>
              <a:buClr>
                <a:schemeClr val="accent1">
                  <a:lumMod val="75000"/>
                </a:schemeClr>
              </a:buClr>
              <a:defRPr sz="1800"/>
            </a:lvl4pPr>
            <a:lvl5pPr>
              <a:buClr>
                <a:schemeClr val="accent1">
                  <a:lumMod val="75000"/>
                </a:schemeClr>
              </a:buCl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9911951" y="4000500"/>
            <a:ext cx="7342584" cy="4686300"/>
          </a:xfrm>
        </p:spPr>
        <p:txBody>
          <a:bodyPr>
            <a:normAutofit/>
          </a:bodyPr>
          <a:lstStyle>
            <a:lvl1pPr>
              <a:buClr>
                <a:schemeClr val="accent1">
                  <a:lumMod val="75000"/>
                </a:schemeClr>
              </a:buClr>
              <a:defRPr sz="2700"/>
            </a:lvl1pPr>
            <a:lvl2pPr>
              <a:buClr>
                <a:schemeClr val="accent1">
                  <a:lumMod val="75000"/>
                </a:schemeClr>
              </a:buClr>
              <a:defRPr sz="2400"/>
            </a:lvl2pPr>
            <a:lvl3pPr>
              <a:buClr>
                <a:schemeClr val="accent1">
                  <a:lumMod val="75000"/>
                </a:schemeClr>
              </a:buClr>
              <a:defRPr sz="2100"/>
            </a:lvl3pPr>
            <a:lvl4pPr>
              <a:buClr>
                <a:schemeClr val="accent1">
                  <a:lumMod val="75000"/>
                </a:schemeClr>
              </a:buClr>
              <a:defRPr sz="1800"/>
            </a:lvl4pPr>
            <a:lvl5pPr>
              <a:buClr>
                <a:schemeClr val="accent1">
                  <a:lumMod val="75000"/>
                </a:schemeClr>
              </a:buCl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849262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658269" y="3987800"/>
            <a:ext cx="6910782" cy="864393"/>
          </a:xfrm>
        </p:spPr>
        <p:txBody>
          <a:bodyPr anchor="b">
            <a:noAutofit/>
          </a:bodyPr>
          <a:lstStyle>
            <a:lvl1pPr marL="0" indent="0">
              <a:buNone/>
              <a:defRPr sz="4200" b="0">
                <a:solidFill>
                  <a:schemeClr val="accent1">
                    <a:lumMod val="75000"/>
                  </a:schemeClr>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2226467" y="5003006"/>
            <a:ext cx="7342584" cy="3683793"/>
          </a:xfrm>
        </p:spPr>
        <p:txBody>
          <a:bodyPr anchor="t">
            <a:normAutofit/>
          </a:bodyPr>
          <a:lstStyle>
            <a:lvl1pPr>
              <a:buClr>
                <a:schemeClr val="accent1">
                  <a:lumMod val="75000"/>
                </a:schemeClr>
              </a:buClr>
              <a:defRPr sz="2700"/>
            </a:lvl1pPr>
            <a:lvl2pPr>
              <a:buClr>
                <a:schemeClr val="accent1">
                  <a:lumMod val="75000"/>
                </a:schemeClr>
              </a:buClr>
              <a:defRPr sz="2400"/>
            </a:lvl2pPr>
            <a:lvl3pPr>
              <a:buClr>
                <a:schemeClr val="accent1">
                  <a:lumMod val="75000"/>
                </a:schemeClr>
              </a:buClr>
              <a:defRPr sz="2100"/>
            </a:lvl3pPr>
            <a:lvl4pPr>
              <a:buClr>
                <a:schemeClr val="accent1">
                  <a:lumMod val="75000"/>
                </a:schemeClr>
              </a:buClr>
              <a:defRPr sz="1800"/>
            </a:lvl4pPr>
            <a:lvl5pPr>
              <a:buClr>
                <a:schemeClr val="accent1">
                  <a:lumMod val="75000"/>
                </a:schemeClr>
              </a:buCl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0320731" y="4000500"/>
            <a:ext cx="6933806" cy="864393"/>
          </a:xfrm>
        </p:spPr>
        <p:txBody>
          <a:bodyPr anchor="b">
            <a:noAutofit/>
          </a:bodyPr>
          <a:lstStyle>
            <a:lvl1pPr marL="0" indent="0">
              <a:buNone/>
              <a:defRPr sz="4200" b="0">
                <a:solidFill>
                  <a:schemeClr val="accent1">
                    <a:lumMod val="75000"/>
                  </a:schemeClr>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911951" y="5003006"/>
            <a:ext cx="7342584" cy="3683793"/>
          </a:xfrm>
        </p:spPr>
        <p:txBody>
          <a:bodyPr anchor="t">
            <a:normAutofit/>
          </a:bodyPr>
          <a:lstStyle>
            <a:lvl1pPr>
              <a:buClr>
                <a:schemeClr val="accent1">
                  <a:lumMod val="75000"/>
                </a:schemeClr>
              </a:buClr>
              <a:defRPr sz="2700"/>
            </a:lvl1pPr>
            <a:lvl2pPr>
              <a:buClr>
                <a:schemeClr val="accent1">
                  <a:lumMod val="75000"/>
                </a:schemeClr>
              </a:buClr>
              <a:defRPr sz="2400"/>
            </a:lvl2pPr>
            <a:lvl3pPr>
              <a:buClr>
                <a:schemeClr val="accent1">
                  <a:lumMod val="75000"/>
                </a:schemeClr>
              </a:buClr>
              <a:defRPr sz="2100"/>
            </a:lvl3pPr>
            <a:lvl4pPr>
              <a:buClr>
                <a:schemeClr val="accent1">
                  <a:lumMod val="75000"/>
                </a:schemeClr>
              </a:buClr>
              <a:defRPr sz="1800"/>
            </a:lvl4pPr>
            <a:lvl5pPr>
              <a:buClr>
                <a:schemeClr val="accent1">
                  <a:lumMod val="75000"/>
                </a:schemeClr>
              </a:buCl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380796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98009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74011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26469" y="2400300"/>
            <a:ext cx="5323682" cy="2057400"/>
          </a:xfrm>
        </p:spPr>
        <p:txBody>
          <a:bodyPr anchor="b">
            <a:normAutofit/>
          </a:bodyPr>
          <a:lstStyle>
            <a:lvl1pPr algn="ctr">
              <a:defRPr sz="3600" b="0"/>
            </a:lvl1pPr>
          </a:lstStyle>
          <a:p>
            <a:r>
              <a:rPr lang="en-US"/>
              <a:t>Click to edit Master title style</a:t>
            </a:r>
          </a:p>
        </p:txBody>
      </p:sp>
      <p:sp>
        <p:nvSpPr>
          <p:cNvPr id="3" name="Content Placeholder 2"/>
          <p:cNvSpPr>
            <a:spLocks noGrp="1"/>
          </p:cNvSpPr>
          <p:nvPr>
            <p:ph idx="1"/>
          </p:nvPr>
        </p:nvSpPr>
        <p:spPr>
          <a:xfrm>
            <a:off x="7893050" y="1028699"/>
            <a:ext cx="9361485" cy="7658102"/>
          </a:xfrm>
        </p:spPr>
        <p:txBody>
          <a:bodyPr anchor="ctr">
            <a:normAutofit/>
          </a:bodyPr>
          <a:lstStyle>
            <a:lvl1pPr>
              <a:defRPr sz="3000"/>
            </a:lvl1pPr>
            <a:lvl2pPr>
              <a:defRPr sz="2700"/>
            </a:lvl2pPr>
            <a:lvl3pPr>
              <a:defRPr sz="24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226469" y="4457700"/>
            <a:ext cx="5323682" cy="2743200"/>
          </a:xfrm>
        </p:spPr>
        <p:txBody>
          <a:bodyPr>
            <a:normAutofit/>
          </a:bodyPr>
          <a:lstStyle>
            <a:lvl1pPr marL="0" indent="0" algn="ctr">
              <a:buNone/>
              <a:defRPr sz="24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10174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24086" y="2628899"/>
            <a:ext cx="8139237" cy="2057400"/>
          </a:xfrm>
        </p:spPr>
        <p:txBody>
          <a:bodyPr anchor="b">
            <a:normAutofit/>
          </a:bodyPr>
          <a:lstStyle>
            <a:lvl1pPr algn="ctr">
              <a:defRPr sz="4200" b="0"/>
            </a:lvl1pPr>
          </a:lstStyle>
          <a:p>
            <a:r>
              <a:rPr lang="en-US"/>
              <a:t>Click to edit Master title style</a:t>
            </a:r>
          </a:p>
        </p:txBody>
      </p:sp>
      <p:sp>
        <p:nvSpPr>
          <p:cNvPr id="14" name="Picture Placeholder 2"/>
          <p:cNvSpPr>
            <a:spLocks noGrp="1" noChangeAspect="1"/>
          </p:cNvSpPr>
          <p:nvPr>
            <p:ph type="pic" idx="1"/>
          </p:nvPr>
        </p:nvSpPr>
        <p:spPr>
          <a:xfrm>
            <a:off x="11392023" y="1371600"/>
            <a:ext cx="4921461" cy="6858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p>
        </p:txBody>
      </p:sp>
      <p:sp>
        <p:nvSpPr>
          <p:cNvPr id="4" name="Text Placeholder 3"/>
          <p:cNvSpPr>
            <a:spLocks noGrp="1"/>
          </p:cNvSpPr>
          <p:nvPr>
            <p:ph type="body" sz="half" idx="2"/>
          </p:nvPr>
        </p:nvSpPr>
        <p:spPr>
          <a:xfrm>
            <a:off x="2224086" y="4686299"/>
            <a:ext cx="8139237" cy="2743200"/>
          </a:xfrm>
        </p:spPr>
        <p:txBody>
          <a:bodyPr>
            <a:normAutofit/>
          </a:bodyPr>
          <a:lstStyle>
            <a:lvl1pPr marL="0" indent="0" algn="ctr">
              <a:buNone/>
              <a:defRPr sz="27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14622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26467" y="7099298"/>
            <a:ext cx="15028067" cy="850107"/>
          </a:xfrm>
        </p:spPr>
        <p:txBody>
          <a:bodyPr anchor="b">
            <a:normAutofit/>
          </a:bodyPr>
          <a:lstStyle>
            <a:lvl1pPr algn="ctr">
              <a:defRPr sz="3600" b="0"/>
            </a:lvl1pPr>
          </a:lstStyle>
          <a:p>
            <a:r>
              <a:rPr lang="en-US"/>
              <a:t>Click to edit Master title style</a:t>
            </a:r>
          </a:p>
        </p:txBody>
      </p:sp>
      <p:sp>
        <p:nvSpPr>
          <p:cNvPr id="3" name="Picture Placeholder 2"/>
          <p:cNvSpPr>
            <a:spLocks noGrp="1" noChangeAspect="1"/>
          </p:cNvSpPr>
          <p:nvPr>
            <p:ph type="pic" idx="1"/>
          </p:nvPr>
        </p:nvSpPr>
        <p:spPr>
          <a:xfrm>
            <a:off x="3579018" y="1398168"/>
            <a:ext cx="12338916" cy="4747464"/>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p>
        </p:txBody>
      </p:sp>
      <p:sp>
        <p:nvSpPr>
          <p:cNvPr id="4" name="Text Placeholder 3"/>
          <p:cNvSpPr>
            <a:spLocks noGrp="1"/>
          </p:cNvSpPr>
          <p:nvPr>
            <p:ph type="body" sz="half" idx="2"/>
          </p:nvPr>
        </p:nvSpPr>
        <p:spPr>
          <a:xfrm>
            <a:off x="2226467" y="7949405"/>
            <a:ext cx="15028067" cy="740568"/>
          </a:xfrm>
        </p:spPr>
        <p:txBody>
          <a:bodyPr>
            <a:normAutofit/>
          </a:bodyPr>
          <a:lstStyle>
            <a:lvl1pPr marL="0" indent="0" algn="ctr">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31179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226469" y="1028700"/>
            <a:ext cx="15028067" cy="4572000"/>
          </a:xfrm>
        </p:spPr>
        <p:txBody>
          <a:bodyPr anchor="ctr">
            <a:normAutofit/>
          </a:bodyPr>
          <a:lstStyle>
            <a:lvl1pPr algn="ctr">
              <a:defRPr sz="4800" b="0" cap="none"/>
            </a:lvl1pPr>
          </a:lstStyle>
          <a:p>
            <a:r>
              <a:rPr lang="en-US"/>
              <a:t>Click to edit Master title style</a:t>
            </a:r>
          </a:p>
        </p:txBody>
      </p:sp>
      <p:sp>
        <p:nvSpPr>
          <p:cNvPr id="3" name="Text Placeholder 2"/>
          <p:cNvSpPr>
            <a:spLocks noGrp="1"/>
          </p:cNvSpPr>
          <p:nvPr>
            <p:ph type="body" idx="1"/>
          </p:nvPr>
        </p:nvSpPr>
        <p:spPr>
          <a:xfrm>
            <a:off x="2226469" y="6515100"/>
            <a:ext cx="15028070" cy="2171700"/>
          </a:xfrm>
        </p:spPr>
        <p:txBody>
          <a:bodyPr anchor="ctr">
            <a:normAutofit/>
          </a:bodyPr>
          <a:lstStyle>
            <a:lvl1pPr marL="0" indent="0" algn="ctr">
              <a:buNone/>
              <a:defRPr sz="30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14218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2397918" y="1294535"/>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12000">
                <a:solidFill>
                  <a:schemeClr val="tx1"/>
                </a:solidFill>
                <a:effectLst/>
              </a:rPr>
              <a:t>“</a:t>
            </a:r>
          </a:p>
        </p:txBody>
      </p:sp>
      <p:sp>
        <p:nvSpPr>
          <p:cNvPr id="15" name="TextBox 14"/>
          <p:cNvSpPr txBox="1"/>
          <p:nvPr/>
        </p:nvSpPr>
        <p:spPr>
          <a:xfrm>
            <a:off x="16340138" y="4229099"/>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a:solidFill>
                  <a:schemeClr val="tx1"/>
                </a:solidFill>
                <a:effectLst/>
              </a:rPr>
              <a:t>”</a:t>
            </a:r>
          </a:p>
        </p:txBody>
      </p:sp>
      <p:sp>
        <p:nvSpPr>
          <p:cNvPr id="2" name="Title 1"/>
          <p:cNvSpPr>
            <a:spLocks noGrp="1"/>
          </p:cNvSpPr>
          <p:nvPr>
            <p:ph type="title"/>
          </p:nvPr>
        </p:nvSpPr>
        <p:spPr>
          <a:xfrm>
            <a:off x="3312318" y="1028701"/>
            <a:ext cx="13485018" cy="4114799"/>
          </a:xfrm>
        </p:spPr>
        <p:txBody>
          <a:bodyPr anchor="ctr">
            <a:normAutofit/>
          </a:bodyPr>
          <a:lstStyle>
            <a:lvl1pPr algn="ctr">
              <a:defRPr sz="48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3655217" y="5143499"/>
            <a:ext cx="12799223" cy="571500"/>
          </a:xfrm>
        </p:spPr>
        <p:txBody>
          <a:bodyPr anchor="ctr">
            <a:normAutofit/>
          </a:bodyPr>
          <a:lstStyle>
            <a:lvl1pPr marL="0" indent="0">
              <a:buFontTx/>
              <a:buNone/>
              <a:defRPr sz="2700"/>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2226467" y="6515100"/>
            <a:ext cx="15028067" cy="2171700"/>
          </a:xfrm>
        </p:spPr>
        <p:txBody>
          <a:bodyPr anchor="ctr">
            <a:normAutofit/>
          </a:bodyPr>
          <a:lstStyle>
            <a:lvl1pPr marL="0" indent="0" algn="ctr">
              <a:buNone/>
              <a:defRPr sz="30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444336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226470" y="4962872"/>
            <a:ext cx="15028064" cy="2203200"/>
          </a:xfrm>
        </p:spPr>
        <p:txBody>
          <a:bodyPr anchor="b">
            <a:normAutofit/>
          </a:bodyPr>
          <a:lstStyle>
            <a:lvl1pPr algn="r">
              <a:defRPr sz="4800" b="0" cap="none"/>
            </a:lvl1pPr>
          </a:lstStyle>
          <a:p>
            <a:r>
              <a:rPr lang="en-US"/>
              <a:t>Click to edit Master title style</a:t>
            </a:r>
          </a:p>
        </p:txBody>
      </p:sp>
      <p:sp>
        <p:nvSpPr>
          <p:cNvPr id="3" name="Text Placeholder 2"/>
          <p:cNvSpPr>
            <a:spLocks noGrp="1"/>
          </p:cNvSpPr>
          <p:nvPr>
            <p:ph type="body" idx="1"/>
          </p:nvPr>
        </p:nvSpPr>
        <p:spPr>
          <a:xfrm>
            <a:off x="2226468" y="7166072"/>
            <a:ext cx="15028065" cy="1290600"/>
          </a:xfrm>
        </p:spPr>
        <p:txBody>
          <a:bodyPr anchor="t">
            <a:normAutofit/>
          </a:bodyPr>
          <a:lstStyle>
            <a:lvl1pPr marL="0" indent="0" algn="r">
              <a:buNone/>
              <a:defRPr sz="30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909279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2397918" y="1294535"/>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12000">
                <a:solidFill>
                  <a:schemeClr val="tx1"/>
                </a:solidFill>
                <a:effectLst/>
              </a:rPr>
              <a:t>“</a:t>
            </a:r>
          </a:p>
        </p:txBody>
      </p:sp>
      <p:sp>
        <p:nvSpPr>
          <p:cNvPr id="15" name="TextBox 14"/>
          <p:cNvSpPr txBox="1"/>
          <p:nvPr/>
        </p:nvSpPr>
        <p:spPr>
          <a:xfrm>
            <a:off x="16340138" y="4229099"/>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a:solidFill>
                  <a:schemeClr val="tx1"/>
                </a:solidFill>
                <a:effectLst/>
              </a:rPr>
              <a:t>”</a:t>
            </a:r>
          </a:p>
        </p:txBody>
      </p:sp>
      <p:sp>
        <p:nvSpPr>
          <p:cNvPr id="2" name="Title 1"/>
          <p:cNvSpPr>
            <a:spLocks noGrp="1"/>
          </p:cNvSpPr>
          <p:nvPr>
            <p:ph type="title"/>
          </p:nvPr>
        </p:nvSpPr>
        <p:spPr>
          <a:xfrm>
            <a:off x="3312318" y="1028701"/>
            <a:ext cx="13485018" cy="4114799"/>
          </a:xfrm>
        </p:spPr>
        <p:txBody>
          <a:bodyPr anchor="ctr">
            <a:normAutofit/>
          </a:bodyPr>
          <a:lstStyle>
            <a:lvl1pPr algn="ctr">
              <a:defRPr sz="48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2226470" y="5829300"/>
            <a:ext cx="15028065" cy="1333500"/>
          </a:xfrm>
        </p:spPr>
        <p:txBody>
          <a:bodyPr vert="horz" lIns="91440" tIns="45720" rIns="91440" bIns="45720" rtlCol="0" anchor="b">
            <a:normAutofit/>
          </a:bodyPr>
          <a:lstStyle>
            <a:lvl1pPr algn="r">
              <a:buNone/>
              <a:defRPr lang="en-US" sz="36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2226468" y="7162800"/>
            <a:ext cx="15028065" cy="1524000"/>
          </a:xfrm>
        </p:spPr>
        <p:txBody>
          <a:bodyPr anchor="t">
            <a:normAutofit/>
          </a:bodyPr>
          <a:lstStyle>
            <a:lvl1pPr marL="0" indent="0" algn="r">
              <a:buNone/>
              <a:defRPr sz="27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215893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226470" y="1028701"/>
            <a:ext cx="15028068" cy="4090988"/>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2226469" y="5257800"/>
            <a:ext cx="15028070" cy="1257300"/>
          </a:xfrm>
        </p:spPr>
        <p:txBody>
          <a:bodyPr vert="horz" lIns="91440" tIns="45720" rIns="91440" bIns="45720" rtlCol="0" anchor="b">
            <a:normAutofit/>
          </a:bodyPr>
          <a:lstStyle>
            <a:lvl1pPr>
              <a:buNone/>
              <a:defRPr lang="en-US" sz="42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2226467" y="6515100"/>
            <a:ext cx="15028070" cy="2171700"/>
          </a:xfrm>
        </p:spPr>
        <p:txBody>
          <a:bodyPr anchor="t">
            <a:normAutofit/>
          </a:bodyPr>
          <a:lstStyle>
            <a:lvl1pPr marL="0" indent="0" algn="l">
              <a:buNone/>
              <a:defRPr sz="2700">
                <a:solidFill>
                  <a:schemeClr val="tx1"/>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374867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210000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598983" y="1028700"/>
            <a:ext cx="2655554" cy="7658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226468" y="1028700"/>
            <a:ext cx="12029613" cy="76581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447921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226219" y="1"/>
            <a:ext cx="3655220" cy="10287002"/>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IN"/>
            </a:p>
          </p:txBody>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IN"/>
            </a:p>
          </p:txBody>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IN"/>
            </a:p>
          </p:txBody>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IN"/>
            </a:p>
          </p:txBody>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IN"/>
            </a:p>
          </p:txBody>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IN"/>
            </a:p>
          </p:txBody>
        </p:sp>
      </p:grpSp>
      <p:sp>
        <p:nvSpPr>
          <p:cNvPr id="2" name="Title Placeholder 1"/>
          <p:cNvSpPr>
            <a:spLocks noGrp="1"/>
          </p:cNvSpPr>
          <p:nvPr>
            <p:ph type="title"/>
          </p:nvPr>
        </p:nvSpPr>
        <p:spPr>
          <a:xfrm>
            <a:off x="2226467" y="1028701"/>
            <a:ext cx="15028070" cy="26288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2226466" y="4000499"/>
            <a:ext cx="15028070" cy="468630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4598984" y="8824913"/>
            <a:ext cx="1714500" cy="547688"/>
          </a:xfrm>
          <a:prstGeom prst="rect">
            <a:avLst/>
          </a:prstGeom>
        </p:spPr>
        <p:txBody>
          <a:bodyPr vert="horz" lIns="91440" tIns="45720" rIns="91440" bIns="45720" rtlCol="0" anchor="ctr"/>
          <a:lstStyle>
            <a:lvl1pPr algn="r">
              <a:defRPr sz="1500" b="0" i="0">
                <a:solidFill>
                  <a:schemeClr val="tx1"/>
                </a:solidFill>
                <a:effectLst/>
                <a:latin typeface="+mn-lt"/>
              </a:defRPr>
            </a:lvl1pPr>
          </a:lstStyle>
          <a:p>
            <a:fld id="{1D8BD707-D9CF-40AE-B4C6-C98DA3205C09}" type="datetimeFigureOut">
              <a:rPr lang="en-US" smtClean="0"/>
              <a:pPr/>
              <a:t>5/12/2026</a:t>
            </a:fld>
            <a:endParaRPr lang="en-US"/>
          </a:p>
        </p:txBody>
      </p:sp>
      <p:sp>
        <p:nvSpPr>
          <p:cNvPr id="5" name="Footer Placeholder 4"/>
          <p:cNvSpPr>
            <a:spLocks noGrp="1"/>
          </p:cNvSpPr>
          <p:nvPr>
            <p:ph type="ftr" sz="quarter" idx="3"/>
          </p:nvPr>
        </p:nvSpPr>
        <p:spPr>
          <a:xfrm>
            <a:off x="3858419" y="8824913"/>
            <a:ext cx="10626266" cy="547688"/>
          </a:xfrm>
          <a:prstGeom prst="rect">
            <a:avLst/>
          </a:prstGeom>
        </p:spPr>
        <p:txBody>
          <a:bodyPr vert="horz" lIns="91440" tIns="45720" rIns="91440" bIns="45720" rtlCol="0" anchor="ctr"/>
          <a:lstStyle>
            <a:lvl1pPr algn="l">
              <a:defRPr sz="15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6427785" y="8824913"/>
            <a:ext cx="826751" cy="547688"/>
          </a:xfrm>
          <a:prstGeom prst="rect">
            <a:avLst/>
          </a:prstGeom>
        </p:spPr>
        <p:txBody>
          <a:bodyPr vert="horz" lIns="91440" tIns="45720" rIns="91440" bIns="45720" rtlCol="0" anchor="ctr"/>
          <a:lstStyle>
            <a:lvl1pPr algn="r">
              <a:defRPr sz="1500" b="0" i="0">
                <a:solidFill>
                  <a:schemeClr val="tx1"/>
                </a:solidFill>
                <a:effectLst/>
                <a:latin typeface="+mn-lt"/>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18457058"/>
      </p:ext>
    </p:extLst>
  </p:cSld>
  <p:clrMap bg1="lt1" tx1="dk1" bg2="lt2" tx2="dk2" accent1="accent1" accent2="accent2" accent3="accent3" accent4="accent4" accent5="accent5" accent6="accent6" hlink="hlink" folHlink="folHlink"/>
  <p:sldLayoutIdLst>
    <p:sldLayoutId id="2147483840" r:id="rId1"/>
    <p:sldLayoutId id="2147483841" r:id="rId2"/>
    <p:sldLayoutId id="2147483842" r:id="rId3"/>
    <p:sldLayoutId id="2147483843" r:id="rId4"/>
    <p:sldLayoutId id="2147483844" r:id="rId5"/>
    <p:sldLayoutId id="2147483845" r:id="rId6"/>
    <p:sldLayoutId id="2147483846" r:id="rId7"/>
    <p:sldLayoutId id="2147483847" r:id="rId8"/>
    <p:sldLayoutId id="2147483848" r:id="rId9"/>
    <p:sldLayoutId id="2147483849" r:id="rId10"/>
    <p:sldLayoutId id="2147483850" r:id="rId11"/>
    <p:sldLayoutId id="2147483851" r:id="rId12"/>
    <p:sldLayoutId id="2147483852" r:id="rId13"/>
    <p:sldLayoutId id="2147483853" r:id="rId14"/>
    <p:sldLayoutId id="2147483854" r:id="rId15"/>
    <p:sldLayoutId id="2147483855" r:id="rId16"/>
    <p:sldLayoutId id="2147483856" r:id="rId17"/>
  </p:sldLayoutIdLst>
  <p:txStyles>
    <p:titleStyle>
      <a:lvl1pPr algn="ctr" defTabSz="685800" rtl="0" eaLnBrk="1" latinLnBrk="0" hangingPunct="1">
        <a:spcBef>
          <a:spcPct val="0"/>
        </a:spcBef>
        <a:buNone/>
        <a:defRPr sz="6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428625" indent="-428625" algn="l" defTabSz="685800" rtl="0" eaLnBrk="1" latinLnBrk="0" hangingPunct="1">
        <a:spcBef>
          <a:spcPct val="20000"/>
        </a:spcBef>
        <a:spcAft>
          <a:spcPts val="900"/>
        </a:spcAft>
        <a:buClr>
          <a:schemeClr val="accent1">
            <a:lumMod val="75000"/>
          </a:schemeClr>
        </a:buClr>
        <a:buSzPct val="145000"/>
        <a:buFont typeface="Arial"/>
        <a:buChar char="•"/>
        <a:defRPr sz="3600" kern="1200" cap="none">
          <a:solidFill>
            <a:schemeClr val="tx1"/>
          </a:solidFill>
          <a:effectLst/>
          <a:latin typeface="+mn-lt"/>
          <a:ea typeface="+mn-ea"/>
          <a:cs typeface="+mn-cs"/>
        </a:defRPr>
      </a:lvl1pPr>
      <a:lvl2pPr marL="1114425" indent="-428625" algn="l" defTabSz="685800" rtl="0" eaLnBrk="1" latinLnBrk="0" hangingPunct="1">
        <a:spcBef>
          <a:spcPct val="20000"/>
        </a:spcBef>
        <a:spcAft>
          <a:spcPts val="900"/>
        </a:spcAft>
        <a:buClr>
          <a:schemeClr val="accent1">
            <a:lumMod val="75000"/>
          </a:schemeClr>
        </a:buClr>
        <a:buSzPct val="145000"/>
        <a:buFont typeface="Arial"/>
        <a:buChar char="•"/>
        <a:defRPr sz="3000" kern="1200" cap="none">
          <a:solidFill>
            <a:schemeClr val="tx1"/>
          </a:solidFill>
          <a:effectLst/>
          <a:latin typeface="+mn-lt"/>
          <a:ea typeface="+mn-ea"/>
          <a:cs typeface="+mn-cs"/>
        </a:defRPr>
      </a:lvl2pPr>
      <a:lvl3pPr marL="1800225" indent="-428625" algn="l" defTabSz="685800" rtl="0" eaLnBrk="1" latinLnBrk="0" hangingPunct="1">
        <a:spcBef>
          <a:spcPct val="20000"/>
        </a:spcBef>
        <a:spcAft>
          <a:spcPts val="900"/>
        </a:spcAft>
        <a:buClr>
          <a:schemeClr val="accent1">
            <a:lumMod val="75000"/>
          </a:schemeClr>
        </a:buClr>
        <a:buSzPct val="145000"/>
        <a:buFont typeface="Arial"/>
        <a:buChar char="•"/>
        <a:defRPr sz="2700" kern="1200" cap="none">
          <a:solidFill>
            <a:schemeClr val="tx1"/>
          </a:solidFill>
          <a:effectLst/>
          <a:latin typeface="+mn-lt"/>
          <a:ea typeface="+mn-ea"/>
          <a:cs typeface="+mn-cs"/>
        </a:defRPr>
      </a:lvl3pPr>
      <a:lvl4pPr marL="2314575" indent="-257175" algn="l" defTabSz="685800" rtl="0" eaLnBrk="1" latinLnBrk="0" hangingPunct="1">
        <a:spcBef>
          <a:spcPct val="20000"/>
        </a:spcBef>
        <a:spcAft>
          <a:spcPts val="900"/>
        </a:spcAft>
        <a:buClr>
          <a:schemeClr val="accent1">
            <a:lumMod val="75000"/>
          </a:schemeClr>
        </a:buClr>
        <a:buSzPct val="145000"/>
        <a:buFont typeface="Arial"/>
        <a:buChar char="•"/>
        <a:defRPr sz="2400" kern="1200" cap="none">
          <a:solidFill>
            <a:schemeClr val="tx1"/>
          </a:solidFill>
          <a:effectLst/>
          <a:latin typeface="+mn-lt"/>
          <a:ea typeface="+mn-ea"/>
          <a:cs typeface="+mn-cs"/>
        </a:defRPr>
      </a:lvl4pPr>
      <a:lvl5pPr marL="3000375" indent="-257175" algn="l" defTabSz="685800" rtl="0" eaLnBrk="1" latinLnBrk="0" hangingPunct="1">
        <a:spcBef>
          <a:spcPct val="20000"/>
        </a:spcBef>
        <a:spcAft>
          <a:spcPts val="900"/>
        </a:spcAft>
        <a:buClr>
          <a:schemeClr val="accent1">
            <a:lumMod val="75000"/>
          </a:schemeClr>
        </a:buClr>
        <a:buSzPct val="145000"/>
        <a:buFont typeface="Arial"/>
        <a:buChar char="•"/>
        <a:defRPr sz="2100" kern="1200" cap="none">
          <a:solidFill>
            <a:schemeClr val="tx1"/>
          </a:solidFill>
          <a:effectLst/>
          <a:latin typeface="+mn-lt"/>
          <a:ea typeface="+mn-ea"/>
          <a:cs typeface="+mn-cs"/>
        </a:defRPr>
      </a:lvl5pPr>
      <a:lvl6pPr marL="3771900" indent="-342900" algn="l" defTabSz="685800" rtl="0" eaLnBrk="1" latinLnBrk="0" hangingPunct="1">
        <a:spcBef>
          <a:spcPct val="20000"/>
        </a:spcBef>
        <a:spcAft>
          <a:spcPts val="900"/>
        </a:spcAft>
        <a:buClr>
          <a:schemeClr val="accent1">
            <a:lumMod val="75000"/>
          </a:schemeClr>
        </a:buClr>
        <a:buSzPct val="145000"/>
        <a:buFont typeface="Arial"/>
        <a:buChar char="•"/>
        <a:defRPr sz="2100" kern="1200" cap="none">
          <a:solidFill>
            <a:schemeClr val="tx1"/>
          </a:solidFill>
          <a:effectLst/>
          <a:latin typeface="+mn-lt"/>
          <a:ea typeface="+mn-ea"/>
          <a:cs typeface="+mn-cs"/>
        </a:defRPr>
      </a:lvl6pPr>
      <a:lvl7pPr marL="4457700" indent="-342900" algn="l" defTabSz="685800" rtl="0" eaLnBrk="1" latinLnBrk="0" hangingPunct="1">
        <a:spcBef>
          <a:spcPct val="20000"/>
        </a:spcBef>
        <a:spcAft>
          <a:spcPts val="900"/>
        </a:spcAft>
        <a:buClr>
          <a:schemeClr val="accent1">
            <a:lumMod val="75000"/>
          </a:schemeClr>
        </a:buClr>
        <a:buSzPct val="145000"/>
        <a:buFont typeface="Arial"/>
        <a:buChar char="•"/>
        <a:defRPr sz="2100" kern="1200" cap="none">
          <a:solidFill>
            <a:schemeClr val="tx1"/>
          </a:solidFill>
          <a:effectLst/>
          <a:latin typeface="+mn-lt"/>
          <a:ea typeface="+mn-ea"/>
          <a:cs typeface="+mn-cs"/>
        </a:defRPr>
      </a:lvl7pPr>
      <a:lvl8pPr marL="5143500" indent="-342900" algn="l" defTabSz="685800" rtl="0" eaLnBrk="1" latinLnBrk="0" hangingPunct="1">
        <a:spcBef>
          <a:spcPct val="20000"/>
        </a:spcBef>
        <a:spcAft>
          <a:spcPts val="900"/>
        </a:spcAft>
        <a:buClr>
          <a:schemeClr val="accent1">
            <a:lumMod val="75000"/>
          </a:schemeClr>
        </a:buClr>
        <a:buSzPct val="145000"/>
        <a:buFont typeface="Arial"/>
        <a:buChar char="•"/>
        <a:defRPr sz="2100" kern="1200" cap="none">
          <a:solidFill>
            <a:schemeClr val="tx1"/>
          </a:solidFill>
          <a:effectLst/>
          <a:latin typeface="+mn-lt"/>
          <a:ea typeface="+mn-ea"/>
          <a:cs typeface="+mn-cs"/>
        </a:defRPr>
      </a:lvl8pPr>
      <a:lvl9pPr marL="5829300" indent="-342900" algn="l" defTabSz="685800" rtl="0" eaLnBrk="1" latinLnBrk="0" hangingPunct="1">
        <a:spcBef>
          <a:spcPct val="20000"/>
        </a:spcBef>
        <a:spcAft>
          <a:spcPts val="900"/>
        </a:spcAft>
        <a:buClr>
          <a:schemeClr val="accent1">
            <a:lumMod val="75000"/>
          </a:schemeClr>
        </a:buClr>
        <a:buSzPct val="145000"/>
        <a:buFont typeface="Arial"/>
        <a:buChar char="•"/>
        <a:defRPr sz="2100" kern="1200" cap="none">
          <a:solidFill>
            <a:schemeClr val="tx1"/>
          </a:solidFill>
          <a:effectLst/>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hyperlink" Target="https://www.kaggle.com/datasets/pavansubhasht/ibm-hr-analytics-attrition-dataset?utm_source=chatgpt.com" TargetMode="External"/><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14.pn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3.jpeg"/><Relationship Id="rId7"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1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21.sv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590701" y="-2352224"/>
            <a:ext cx="10818956" cy="6761848"/>
          </a:xfrm>
          <a:custGeom>
            <a:avLst/>
            <a:gdLst/>
            <a:ahLst/>
            <a:cxnLst/>
            <a:rect l="l" t="t" r="r" b="b"/>
            <a:pathLst>
              <a:path w="10818956" h="6761848">
                <a:moveTo>
                  <a:pt x="0" y="0"/>
                </a:moveTo>
                <a:lnTo>
                  <a:pt x="10818956" y="0"/>
                </a:lnTo>
                <a:lnTo>
                  <a:pt x="10818956" y="6761848"/>
                </a:lnTo>
                <a:lnTo>
                  <a:pt x="0" y="676184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3" name="Freeform 3"/>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4" name="Freeform 4"/>
          <p:cNvSpPr/>
          <p:nvPr/>
        </p:nvSpPr>
        <p:spPr>
          <a:xfrm>
            <a:off x="-682599" y="3235102"/>
            <a:ext cx="8249879" cy="8264906"/>
          </a:xfrm>
          <a:custGeom>
            <a:avLst/>
            <a:gdLst/>
            <a:ahLst/>
            <a:cxnLst/>
            <a:rect l="l" t="t" r="r" b="b"/>
            <a:pathLst>
              <a:path w="8249879" h="8264906">
                <a:moveTo>
                  <a:pt x="0" y="0"/>
                </a:moveTo>
                <a:lnTo>
                  <a:pt x="8249879" y="0"/>
                </a:lnTo>
                <a:lnTo>
                  <a:pt x="8249879" y="8264905"/>
                </a:lnTo>
                <a:lnTo>
                  <a:pt x="0" y="826490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Freeform 6"/>
          <p:cNvSpPr/>
          <p:nvPr/>
        </p:nvSpPr>
        <p:spPr>
          <a:xfrm rot="5400000">
            <a:off x="13127809" y="6100510"/>
            <a:ext cx="6730886" cy="6722065"/>
          </a:xfrm>
          <a:custGeom>
            <a:avLst/>
            <a:gdLst/>
            <a:ahLst/>
            <a:cxnLst/>
            <a:rect l="l" t="t" r="r" b="b"/>
            <a:pathLst>
              <a:path w="6730886" h="6722065">
                <a:moveTo>
                  <a:pt x="0" y="0"/>
                </a:moveTo>
                <a:lnTo>
                  <a:pt x="6730886" y="0"/>
                </a:lnTo>
                <a:lnTo>
                  <a:pt x="6730886" y="6722065"/>
                </a:lnTo>
                <a:lnTo>
                  <a:pt x="0" y="6722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sp>
        <p:nvSpPr>
          <p:cNvPr id="7" name="Freeform 7"/>
          <p:cNvSpPr/>
          <p:nvPr/>
        </p:nvSpPr>
        <p:spPr>
          <a:xfrm rot="7119350">
            <a:off x="-2131722" y="-460619"/>
            <a:ext cx="7280753" cy="4114800"/>
          </a:xfrm>
          <a:custGeom>
            <a:avLst/>
            <a:gdLst/>
            <a:ahLst/>
            <a:cxnLst/>
            <a:rect l="l" t="t" r="r" b="b"/>
            <a:pathLst>
              <a:path w="7280753" h="4114800">
                <a:moveTo>
                  <a:pt x="0" y="0"/>
                </a:moveTo>
                <a:lnTo>
                  <a:pt x="7280754" y="0"/>
                </a:lnTo>
                <a:lnTo>
                  <a:pt x="7280754"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IN"/>
          </a:p>
        </p:txBody>
      </p:sp>
      <p:sp>
        <p:nvSpPr>
          <p:cNvPr id="8" name="TextBox 8"/>
          <p:cNvSpPr txBox="1"/>
          <p:nvPr/>
        </p:nvSpPr>
        <p:spPr>
          <a:xfrm>
            <a:off x="1085411" y="2724114"/>
            <a:ext cx="17048698" cy="2318583"/>
          </a:xfrm>
          <a:prstGeom prst="rect">
            <a:avLst/>
          </a:prstGeom>
        </p:spPr>
        <p:txBody>
          <a:bodyPr wrap="square" lIns="0" tIns="0" rIns="0" bIns="0" rtlCol="0" anchor="t">
            <a:spAutoFit/>
          </a:bodyPr>
          <a:lstStyle/>
          <a:p>
            <a:pPr algn="ctr">
              <a:lnSpc>
                <a:spcPct val="150000"/>
              </a:lnSpc>
              <a:spcBef>
                <a:spcPct val="0"/>
              </a:spcBef>
            </a:pPr>
            <a:r>
              <a:rPr lang="en-US" sz="6600">
                <a:solidFill>
                  <a:srgbClr val="000000"/>
                </a:solidFill>
                <a:latin typeface="Norwester"/>
                <a:ea typeface="Norwester"/>
                <a:cs typeface="Norwester"/>
                <a:sym typeface="Norwester"/>
              </a:rPr>
              <a:t>PRESENTATION</a:t>
            </a:r>
          </a:p>
          <a:p>
            <a:pPr algn="ctr">
              <a:lnSpc>
                <a:spcPct val="150000"/>
              </a:lnSpc>
              <a:spcBef>
                <a:spcPct val="0"/>
              </a:spcBef>
            </a:pPr>
            <a:r>
              <a:rPr lang="en-US" sz="4000">
                <a:solidFill>
                  <a:srgbClr val="000000"/>
                </a:solidFill>
                <a:latin typeface="Norwester"/>
                <a:ea typeface="Norwester"/>
                <a:cs typeface="Norwester"/>
                <a:sym typeface="Norwester"/>
              </a:rPr>
              <a:t>    HR Analytics Dashboard: Employee Attrition and Retention Insights</a:t>
            </a:r>
          </a:p>
        </p:txBody>
      </p:sp>
      <p:sp>
        <p:nvSpPr>
          <p:cNvPr id="9" name="TextBox 9"/>
          <p:cNvSpPr txBox="1"/>
          <p:nvPr/>
        </p:nvSpPr>
        <p:spPr>
          <a:xfrm>
            <a:off x="8947972" y="6426038"/>
            <a:ext cx="8368494" cy="1381597"/>
          </a:xfrm>
          <a:prstGeom prst="rect">
            <a:avLst/>
          </a:prstGeom>
        </p:spPr>
        <p:txBody>
          <a:bodyPr lIns="0" tIns="0" rIns="0" bIns="0" rtlCol="0" anchor="t">
            <a:spAutoFit/>
          </a:bodyPr>
          <a:lstStyle/>
          <a:p>
            <a:pPr algn="ctr">
              <a:lnSpc>
                <a:spcPts val="12929"/>
              </a:lnSpc>
              <a:spcBef>
                <a:spcPct val="0"/>
              </a:spcBef>
            </a:pPr>
            <a:r>
              <a:rPr lang="en-US" sz="4400" dirty="0">
                <a:solidFill>
                  <a:srgbClr val="000000"/>
                </a:solidFill>
                <a:latin typeface="Norwester" panose="020B0604020202020204" charset="0"/>
                <a:ea typeface="Arapey"/>
                <a:cs typeface="Arapey"/>
                <a:sym typeface="Arapey"/>
              </a:rPr>
              <a:t>By Praveen 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p:cNvGrpSpPr/>
          <p:nvPr/>
        </p:nvGrpSpPr>
        <p:grpSpPr>
          <a:xfrm>
            <a:off x="1195457" y="967684"/>
            <a:ext cx="15897086" cy="8351632"/>
            <a:chOff x="0" y="0"/>
            <a:chExt cx="4186887" cy="2199607"/>
          </a:xfrm>
        </p:grpSpPr>
        <p:sp>
          <p:nvSpPr>
            <p:cNvPr id="7" name="Freeform 7"/>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65" name="TextBox 10">
            <a:extLst>
              <a:ext uri="{FF2B5EF4-FFF2-40B4-BE49-F238E27FC236}">
                <a16:creationId xmlns:a16="http://schemas.microsoft.com/office/drawing/2014/main" id="{80720443-3814-124A-2BCF-9B71C6FB97EB}"/>
              </a:ext>
            </a:extLst>
          </p:cNvPr>
          <p:cNvSpPr txBox="1"/>
          <p:nvPr/>
        </p:nvSpPr>
        <p:spPr>
          <a:xfrm>
            <a:off x="2238909" y="1256203"/>
            <a:ext cx="6680068" cy="1519327"/>
          </a:xfrm>
          <a:prstGeom prst="rect">
            <a:avLst/>
          </a:prstGeom>
        </p:spPr>
        <p:txBody>
          <a:bodyPr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Agenda</a:t>
            </a:r>
          </a:p>
        </p:txBody>
      </p:sp>
      <p:sp>
        <p:nvSpPr>
          <p:cNvPr id="62" name="TextBox 8">
            <a:extLst>
              <a:ext uri="{FF2B5EF4-FFF2-40B4-BE49-F238E27FC236}">
                <a16:creationId xmlns:a16="http://schemas.microsoft.com/office/drawing/2014/main" id="{B15AC76D-8701-B06C-59DE-7D10DCDBDE3B}"/>
              </a:ext>
            </a:extLst>
          </p:cNvPr>
          <p:cNvSpPr txBox="1"/>
          <p:nvPr/>
        </p:nvSpPr>
        <p:spPr>
          <a:xfrm>
            <a:off x="3362500" y="3450890"/>
            <a:ext cx="786418" cy="327030"/>
          </a:xfrm>
          <a:prstGeom prst="rect">
            <a:avLst/>
          </a:prstGeom>
        </p:spPr>
        <p:txBody>
          <a:bodyPr lIns="50800" tIns="50800" rIns="50800" bIns="50800" rtlCol="0" anchor="ctr"/>
          <a:lstStyle/>
          <a:p>
            <a:pPr algn="ctr">
              <a:lnSpc>
                <a:spcPts val="2481"/>
              </a:lnSpc>
            </a:pPr>
            <a:endParaRPr sz="3200"/>
          </a:p>
        </p:txBody>
      </p:sp>
      <p:sp>
        <p:nvSpPr>
          <p:cNvPr id="60" name="TextBox 14">
            <a:extLst>
              <a:ext uri="{FF2B5EF4-FFF2-40B4-BE49-F238E27FC236}">
                <a16:creationId xmlns:a16="http://schemas.microsoft.com/office/drawing/2014/main" id="{F3CA5423-80B7-D91D-2EBE-A12F2171CF80}"/>
              </a:ext>
            </a:extLst>
          </p:cNvPr>
          <p:cNvSpPr txBox="1"/>
          <p:nvPr/>
        </p:nvSpPr>
        <p:spPr>
          <a:xfrm>
            <a:off x="3362500" y="5203533"/>
            <a:ext cx="786418" cy="327030"/>
          </a:xfrm>
          <a:prstGeom prst="rect">
            <a:avLst/>
          </a:prstGeom>
        </p:spPr>
        <p:txBody>
          <a:bodyPr lIns="50800" tIns="50800" rIns="50800" bIns="50800" rtlCol="0" anchor="ctr"/>
          <a:lstStyle/>
          <a:p>
            <a:pPr algn="ctr">
              <a:lnSpc>
                <a:spcPts val="2481"/>
              </a:lnSpc>
            </a:pPr>
            <a:endParaRPr sz="3200"/>
          </a:p>
        </p:txBody>
      </p:sp>
      <p:sp>
        <p:nvSpPr>
          <p:cNvPr id="58" name="TextBox 26">
            <a:extLst>
              <a:ext uri="{FF2B5EF4-FFF2-40B4-BE49-F238E27FC236}">
                <a16:creationId xmlns:a16="http://schemas.microsoft.com/office/drawing/2014/main" id="{272E1BEA-EAB1-1288-8EB1-5D850EB5927C}"/>
              </a:ext>
            </a:extLst>
          </p:cNvPr>
          <p:cNvSpPr txBox="1"/>
          <p:nvPr/>
        </p:nvSpPr>
        <p:spPr>
          <a:xfrm>
            <a:off x="9460966" y="6065890"/>
            <a:ext cx="786419" cy="327029"/>
          </a:xfrm>
          <a:prstGeom prst="rect">
            <a:avLst/>
          </a:prstGeom>
        </p:spPr>
        <p:txBody>
          <a:bodyPr lIns="50800" tIns="50800" rIns="50800" bIns="50800" rtlCol="0" anchor="ctr"/>
          <a:lstStyle/>
          <a:p>
            <a:pPr algn="ctr">
              <a:lnSpc>
                <a:spcPts val="2481"/>
              </a:lnSpc>
            </a:pPr>
            <a:endParaRPr sz="3200"/>
          </a:p>
        </p:txBody>
      </p:sp>
      <p:sp>
        <p:nvSpPr>
          <p:cNvPr id="56" name="TextBox 11">
            <a:extLst>
              <a:ext uri="{FF2B5EF4-FFF2-40B4-BE49-F238E27FC236}">
                <a16:creationId xmlns:a16="http://schemas.microsoft.com/office/drawing/2014/main" id="{D8645122-D959-7FFC-9C40-0C1A30D13689}"/>
              </a:ext>
            </a:extLst>
          </p:cNvPr>
          <p:cNvSpPr txBox="1"/>
          <p:nvPr/>
        </p:nvSpPr>
        <p:spPr>
          <a:xfrm>
            <a:off x="3362496" y="4406128"/>
            <a:ext cx="786418" cy="327030"/>
          </a:xfrm>
          <a:prstGeom prst="rect">
            <a:avLst/>
          </a:prstGeom>
        </p:spPr>
        <p:txBody>
          <a:bodyPr lIns="50800" tIns="50800" rIns="50800" bIns="50800" rtlCol="0" anchor="ctr"/>
          <a:lstStyle/>
          <a:p>
            <a:pPr algn="ctr">
              <a:lnSpc>
                <a:spcPts val="2481"/>
              </a:lnSpc>
            </a:pPr>
            <a:endParaRPr sz="3200"/>
          </a:p>
        </p:txBody>
      </p:sp>
      <p:sp>
        <p:nvSpPr>
          <p:cNvPr id="53" name="Freeform 16">
            <a:extLst>
              <a:ext uri="{FF2B5EF4-FFF2-40B4-BE49-F238E27FC236}">
                <a16:creationId xmlns:a16="http://schemas.microsoft.com/office/drawing/2014/main" id="{BFC16629-4068-0C18-624D-542789EC201A}"/>
              </a:ext>
            </a:extLst>
          </p:cNvPr>
          <p:cNvSpPr/>
          <p:nvPr/>
        </p:nvSpPr>
        <p:spPr>
          <a:xfrm>
            <a:off x="4648200" y="3512769"/>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54" name="TextBox 17">
            <a:extLst>
              <a:ext uri="{FF2B5EF4-FFF2-40B4-BE49-F238E27FC236}">
                <a16:creationId xmlns:a16="http://schemas.microsoft.com/office/drawing/2014/main" id="{0285A7FF-98B8-DE76-AE47-6DA283AAA7AB}"/>
              </a:ext>
            </a:extLst>
          </p:cNvPr>
          <p:cNvSpPr txBox="1"/>
          <p:nvPr/>
        </p:nvSpPr>
        <p:spPr>
          <a:xfrm>
            <a:off x="9460962" y="3515841"/>
            <a:ext cx="786418" cy="327029"/>
          </a:xfrm>
          <a:prstGeom prst="rect">
            <a:avLst/>
          </a:prstGeom>
        </p:spPr>
        <p:txBody>
          <a:bodyPr lIns="50800" tIns="50800" rIns="50800" bIns="50800" rtlCol="0" anchor="ctr"/>
          <a:lstStyle/>
          <a:p>
            <a:pPr algn="ctr">
              <a:lnSpc>
                <a:spcPts val="2481"/>
              </a:lnSpc>
            </a:pPr>
            <a:endParaRPr sz="3200"/>
          </a:p>
        </p:txBody>
      </p:sp>
      <p:sp>
        <p:nvSpPr>
          <p:cNvPr id="52" name="TextBox 20">
            <a:extLst>
              <a:ext uri="{FF2B5EF4-FFF2-40B4-BE49-F238E27FC236}">
                <a16:creationId xmlns:a16="http://schemas.microsoft.com/office/drawing/2014/main" id="{BD78680B-D86D-8E35-D8DD-9BCCD1886729}"/>
              </a:ext>
            </a:extLst>
          </p:cNvPr>
          <p:cNvSpPr txBox="1"/>
          <p:nvPr/>
        </p:nvSpPr>
        <p:spPr>
          <a:xfrm>
            <a:off x="9460962" y="4392107"/>
            <a:ext cx="786418" cy="327029"/>
          </a:xfrm>
          <a:prstGeom prst="rect">
            <a:avLst/>
          </a:prstGeom>
        </p:spPr>
        <p:txBody>
          <a:bodyPr lIns="50800" tIns="50800" rIns="50800" bIns="50800" rtlCol="0" anchor="ctr"/>
          <a:lstStyle/>
          <a:p>
            <a:pPr algn="ctr">
              <a:lnSpc>
                <a:spcPts val="2481"/>
              </a:lnSpc>
            </a:pPr>
            <a:endParaRPr sz="3200"/>
          </a:p>
        </p:txBody>
      </p:sp>
      <p:sp>
        <p:nvSpPr>
          <p:cNvPr id="50" name="TextBox 23">
            <a:extLst>
              <a:ext uri="{FF2B5EF4-FFF2-40B4-BE49-F238E27FC236}">
                <a16:creationId xmlns:a16="http://schemas.microsoft.com/office/drawing/2014/main" id="{AFF2B3F4-40A3-1A92-1B87-6F42F7A4F7CF}"/>
              </a:ext>
            </a:extLst>
          </p:cNvPr>
          <p:cNvSpPr txBox="1"/>
          <p:nvPr/>
        </p:nvSpPr>
        <p:spPr>
          <a:xfrm>
            <a:off x="9460962" y="5268484"/>
            <a:ext cx="786419" cy="327030"/>
          </a:xfrm>
          <a:prstGeom prst="rect">
            <a:avLst/>
          </a:prstGeom>
        </p:spPr>
        <p:txBody>
          <a:bodyPr lIns="50800" tIns="50800" rIns="50800" bIns="50800" rtlCol="0" anchor="ctr"/>
          <a:lstStyle/>
          <a:p>
            <a:pPr algn="ctr">
              <a:lnSpc>
                <a:spcPts val="2481"/>
              </a:lnSpc>
            </a:pPr>
            <a:endParaRPr sz="3200"/>
          </a:p>
        </p:txBody>
      </p:sp>
      <p:sp>
        <p:nvSpPr>
          <p:cNvPr id="48" name="TextBox 29">
            <a:extLst>
              <a:ext uri="{FF2B5EF4-FFF2-40B4-BE49-F238E27FC236}">
                <a16:creationId xmlns:a16="http://schemas.microsoft.com/office/drawing/2014/main" id="{62E1A376-389D-E079-4BE2-3464973C25EA}"/>
              </a:ext>
            </a:extLst>
          </p:cNvPr>
          <p:cNvSpPr txBox="1"/>
          <p:nvPr/>
        </p:nvSpPr>
        <p:spPr>
          <a:xfrm>
            <a:off x="3362496" y="6144862"/>
            <a:ext cx="786418" cy="326978"/>
          </a:xfrm>
          <a:prstGeom prst="rect">
            <a:avLst/>
          </a:prstGeom>
        </p:spPr>
        <p:txBody>
          <a:bodyPr lIns="50800" tIns="50800" rIns="50800" bIns="50800" rtlCol="0" anchor="ctr"/>
          <a:lstStyle/>
          <a:p>
            <a:pPr algn="ctr">
              <a:lnSpc>
                <a:spcPts val="2481"/>
              </a:lnSpc>
            </a:pPr>
            <a:endParaRPr sz="3200"/>
          </a:p>
        </p:txBody>
      </p:sp>
      <p:sp>
        <p:nvSpPr>
          <p:cNvPr id="82" name="TextBox 47">
            <a:extLst>
              <a:ext uri="{FF2B5EF4-FFF2-40B4-BE49-F238E27FC236}">
                <a16:creationId xmlns:a16="http://schemas.microsoft.com/office/drawing/2014/main" id="{01BAD01E-7B41-0748-C806-7F448C5E813C}"/>
              </a:ext>
            </a:extLst>
          </p:cNvPr>
          <p:cNvSpPr txBox="1"/>
          <p:nvPr/>
        </p:nvSpPr>
        <p:spPr>
          <a:xfrm>
            <a:off x="4765568" y="3374393"/>
            <a:ext cx="10322032" cy="3616696"/>
          </a:xfrm>
          <a:prstGeom prst="rect">
            <a:avLst/>
          </a:prstGeom>
        </p:spPr>
        <p:txBody>
          <a:bodyPr wrap="square" lIns="0" tIns="0" rIns="0" bIns="0" rtlCol="0" anchor="t">
            <a:spAutoFit/>
          </a:bodyPr>
          <a:lstStyle/>
          <a:p>
            <a:pPr>
              <a:lnSpc>
                <a:spcPct val="150000"/>
              </a:lnSpc>
            </a:pPr>
            <a:r>
              <a:rPr lang="en-US" sz="3200" spc="195" dirty="0">
                <a:solidFill>
                  <a:srgbClr val="0D1C38"/>
                </a:solidFill>
                <a:latin typeface="Assistant"/>
                <a:ea typeface="Assistant"/>
                <a:cs typeface="Assistant"/>
                <a:sym typeface="Assistant"/>
              </a:rPr>
              <a:t>1. Project Overview                  6.  Power BI Dashboard</a:t>
            </a:r>
          </a:p>
          <a:p>
            <a:pPr>
              <a:lnSpc>
                <a:spcPct val="150000"/>
              </a:lnSpc>
            </a:pPr>
            <a:r>
              <a:rPr lang="en-US" sz="3200" spc="195" dirty="0">
                <a:solidFill>
                  <a:srgbClr val="0D1C38"/>
                </a:solidFill>
                <a:latin typeface="Assistant"/>
                <a:ea typeface="Assistant"/>
                <a:cs typeface="Assistant"/>
                <a:sym typeface="Assistant"/>
              </a:rPr>
              <a:t>2. Dataset Overview                 7.  Tableau Dashboard </a:t>
            </a:r>
          </a:p>
          <a:p>
            <a:pPr>
              <a:lnSpc>
                <a:spcPct val="150000"/>
              </a:lnSpc>
            </a:pPr>
            <a:r>
              <a:rPr lang="en-US" sz="3200" spc="195" dirty="0">
                <a:solidFill>
                  <a:srgbClr val="0D1C38"/>
                </a:solidFill>
                <a:latin typeface="Assistant"/>
                <a:ea typeface="Assistant"/>
                <a:cs typeface="Assistant"/>
                <a:sym typeface="Assistant"/>
              </a:rPr>
              <a:t>3. Problem Statement             8.  Key Insights   </a:t>
            </a:r>
          </a:p>
          <a:p>
            <a:pPr>
              <a:lnSpc>
                <a:spcPct val="150000"/>
              </a:lnSpc>
            </a:pPr>
            <a:r>
              <a:rPr lang="en-US" sz="3200" spc="195" dirty="0">
                <a:solidFill>
                  <a:srgbClr val="0D1C38"/>
                </a:solidFill>
                <a:latin typeface="Assistant"/>
                <a:ea typeface="Assistant"/>
                <a:cs typeface="Assistant"/>
                <a:sym typeface="Assistant"/>
              </a:rPr>
              <a:t>4. Excel Dashboard                   9.  Recommendations</a:t>
            </a:r>
          </a:p>
          <a:p>
            <a:pPr>
              <a:lnSpc>
                <a:spcPct val="150000"/>
              </a:lnSpc>
            </a:pPr>
            <a:r>
              <a:rPr lang="en-US" sz="3200" spc="195" dirty="0">
                <a:solidFill>
                  <a:srgbClr val="0D1C38"/>
                </a:solidFill>
                <a:latin typeface="Assistant"/>
                <a:ea typeface="Assistant"/>
                <a:cs typeface="Assistant"/>
                <a:sym typeface="Assistant"/>
              </a:rPr>
              <a:t>5. MySQL Scripts                      10. Conclusion</a:t>
            </a:r>
          </a:p>
        </p:txBody>
      </p:sp>
      <p:sp>
        <p:nvSpPr>
          <p:cNvPr id="83" name="Freeform 16">
            <a:extLst>
              <a:ext uri="{FF2B5EF4-FFF2-40B4-BE49-F238E27FC236}">
                <a16:creationId xmlns:a16="http://schemas.microsoft.com/office/drawing/2014/main" id="{66896854-AABA-B9A9-74BC-1A45E37FDEF8}"/>
              </a:ext>
            </a:extLst>
          </p:cNvPr>
          <p:cNvSpPr/>
          <p:nvPr/>
        </p:nvSpPr>
        <p:spPr>
          <a:xfrm>
            <a:off x="4648200" y="4303565"/>
            <a:ext cx="475545" cy="458935"/>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84" name="Freeform 16">
            <a:extLst>
              <a:ext uri="{FF2B5EF4-FFF2-40B4-BE49-F238E27FC236}">
                <a16:creationId xmlns:a16="http://schemas.microsoft.com/office/drawing/2014/main" id="{D4A9DDD5-3B3A-2F38-5944-670263E98848}"/>
              </a:ext>
            </a:extLst>
          </p:cNvPr>
          <p:cNvSpPr/>
          <p:nvPr/>
        </p:nvSpPr>
        <p:spPr>
          <a:xfrm>
            <a:off x="4648200" y="4975911"/>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85" name="Freeform 16">
            <a:extLst>
              <a:ext uri="{FF2B5EF4-FFF2-40B4-BE49-F238E27FC236}">
                <a16:creationId xmlns:a16="http://schemas.microsoft.com/office/drawing/2014/main" id="{6EDFFE16-584E-C1C7-3234-F30B450BDBFB}"/>
              </a:ext>
            </a:extLst>
          </p:cNvPr>
          <p:cNvSpPr/>
          <p:nvPr/>
        </p:nvSpPr>
        <p:spPr>
          <a:xfrm>
            <a:off x="4648200" y="5726663"/>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86" name="Freeform 16">
            <a:extLst>
              <a:ext uri="{FF2B5EF4-FFF2-40B4-BE49-F238E27FC236}">
                <a16:creationId xmlns:a16="http://schemas.microsoft.com/office/drawing/2014/main" id="{295A2E38-434F-D8BC-6619-55F45DFE6FB1}"/>
              </a:ext>
            </a:extLst>
          </p:cNvPr>
          <p:cNvSpPr/>
          <p:nvPr/>
        </p:nvSpPr>
        <p:spPr>
          <a:xfrm>
            <a:off x="4648200" y="6435255"/>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88" name="Freeform 16">
            <a:extLst>
              <a:ext uri="{FF2B5EF4-FFF2-40B4-BE49-F238E27FC236}">
                <a16:creationId xmlns:a16="http://schemas.microsoft.com/office/drawing/2014/main" id="{374D116C-AD27-7076-D861-08186E194BA2}"/>
              </a:ext>
            </a:extLst>
          </p:cNvPr>
          <p:cNvSpPr/>
          <p:nvPr/>
        </p:nvSpPr>
        <p:spPr>
          <a:xfrm>
            <a:off x="10247380" y="3532728"/>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89" name="Freeform 16">
            <a:extLst>
              <a:ext uri="{FF2B5EF4-FFF2-40B4-BE49-F238E27FC236}">
                <a16:creationId xmlns:a16="http://schemas.microsoft.com/office/drawing/2014/main" id="{63919498-B340-D7C5-FFE8-4BA02990E0F3}"/>
              </a:ext>
            </a:extLst>
          </p:cNvPr>
          <p:cNvSpPr/>
          <p:nvPr/>
        </p:nvSpPr>
        <p:spPr>
          <a:xfrm>
            <a:off x="10269326" y="4254994"/>
            <a:ext cx="475545" cy="508980"/>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90" name="Freeform 16">
            <a:extLst>
              <a:ext uri="{FF2B5EF4-FFF2-40B4-BE49-F238E27FC236}">
                <a16:creationId xmlns:a16="http://schemas.microsoft.com/office/drawing/2014/main" id="{6A265801-1A54-5F5E-1236-5CD302C53D16}"/>
              </a:ext>
            </a:extLst>
          </p:cNvPr>
          <p:cNvSpPr/>
          <p:nvPr/>
        </p:nvSpPr>
        <p:spPr>
          <a:xfrm>
            <a:off x="10269326" y="4965107"/>
            <a:ext cx="475545" cy="56393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
        <p:nvSpPr>
          <p:cNvPr id="91" name="Freeform 16">
            <a:extLst>
              <a:ext uri="{FF2B5EF4-FFF2-40B4-BE49-F238E27FC236}">
                <a16:creationId xmlns:a16="http://schemas.microsoft.com/office/drawing/2014/main" id="{6DF45190-1C98-79E8-ACEB-CFD8FA5487D4}"/>
              </a:ext>
            </a:extLst>
          </p:cNvPr>
          <p:cNvSpPr/>
          <p:nvPr/>
        </p:nvSpPr>
        <p:spPr>
          <a:xfrm>
            <a:off x="10247380" y="5744421"/>
            <a:ext cx="616655" cy="508980"/>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dirty="0"/>
          </a:p>
        </p:txBody>
      </p:sp>
      <p:sp>
        <p:nvSpPr>
          <p:cNvPr id="92" name="Freeform 16">
            <a:extLst>
              <a:ext uri="{FF2B5EF4-FFF2-40B4-BE49-F238E27FC236}">
                <a16:creationId xmlns:a16="http://schemas.microsoft.com/office/drawing/2014/main" id="{4063181B-DBB0-59D8-7978-E3B65EB1439B}"/>
              </a:ext>
            </a:extLst>
          </p:cNvPr>
          <p:cNvSpPr/>
          <p:nvPr/>
        </p:nvSpPr>
        <p:spPr>
          <a:xfrm>
            <a:off x="10268655" y="6438900"/>
            <a:ext cx="577035" cy="508981"/>
          </a:xfrm>
          <a:custGeom>
            <a:avLst/>
            <a:gdLst/>
            <a:ahLst/>
            <a:cxnLst/>
            <a:rect l="l" t="t" r="r" b="b"/>
            <a:pathLst>
              <a:path w="208786" h="165842">
                <a:moveTo>
                  <a:pt x="0" y="0"/>
                </a:moveTo>
                <a:lnTo>
                  <a:pt x="208786" y="0"/>
                </a:lnTo>
                <a:lnTo>
                  <a:pt x="208786" y="165842"/>
                </a:lnTo>
                <a:lnTo>
                  <a:pt x="0" y="165842"/>
                </a:lnTo>
                <a:close/>
              </a:path>
            </a:pathLst>
          </a:custGeom>
          <a:solidFill>
            <a:srgbClr val="78A6CB">
              <a:alpha val="33725"/>
            </a:srgbClr>
          </a:solidFill>
        </p:spPr>
        <p:txBody>
          <a:bodyPr/>
          <a:lstStyle/>
          <a:p>
            <a:endParaRPr lang="en-IN" sz="3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590701" y="-2352224"/>
            <a:ext cx="10818956" cy="6761848"/>
          </a:xfrm>
          <a:custGeom>
            <a:avLst/>
            <a:gdLst/>
            <a:ahLst/>
            <a:cxnLst/>
            <a:rect l="l" t="t" r="r" b="b"/>
            <a:pathLst>
              <a:path w="10818956" h="6761848">
                <a:moveTo>
                  <a:pt x="0" y="0"/>
                </a:moveTo>
                <a:lnTo>
                  <a:pt x="10818956" y="0"/>
                </a:lnTo>
                <a:lnTo>
                  <a:pt x="10818956" y="6761848"/>
                </a:lnTo>
                <a:lnTo>
                  <a:pt x="0" y="676184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3" name="Freeform 3"/>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4" name="Freeform 4"/>
          <p:cNvSpPr/>
          <p:nvPr/>
        </p:nvSpPr>
        <p:spPr>
          <a:xfrm>
            <a:off x="-682599" y="3235102"/>
            <a:ext cx="8249879" cy="8264906"/>
          </a:xfrm>
          <a:custGeom>
            <a:avLst/>
            <a:gdLst/>
            <a:ahLst/>
            <a:cxnLst/>
            <a:rect l="l" t="t" r="r" b="b"/>
            <a:pathLst>
              <a:path w="8249879" h="8264906">
                <a:moveTo>
                  <a:pt x="0" y="0"/>
                </a:moveTo>
                <a:lnTo>
                  <a:pt x="8249879" y="0"/>
                </a:lnTo>
                <a:lnTo>
                  <a:pt x="8249879" y="8264905"/>
                </a:lnTo>
                <a:lnTo>
                  <a:pt x="0" y="826490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Freeform 6"/>
          <p:cNvSpPr/>
          <p:nvPr/>
        </p:nvSpPr>
        <p:spPr>
          <a:xfrm rot="5400000">
            <a:off x="13127809" y="6100510"/>
            <a:ext cx="6730886" cy="6722065"/>
          </a:xfrm>
          <a:custGeom>
            <a:avLst/>
            <a:gdLst/>
            <a:ahLst/>
            <a:cxnLst/>
            <a:rect l="l" t="t" r="r" b="b"/>
            <a:pathLst>
              <a:path w="6730886" h="6722065">
                <a:moveTo>
                  <a:pt x="0" y="0"/>
                </a:moveTo>
                <a:lnTo>
                  <a:pt x="6730886" y="0"/>
                </a:lnTo>
                <a:lnTo>
                  <a:pt x="6730886" y="6722065"/>
                </a:lnTo>
                <a:lnTo>
                  <a:pt x="0" y="6722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sp>
        <p:nvSpPr>
          <p:cNvPr id="7" name="Freeform 7"/>
          <p:cNvSpPr/>
          <p:nvPr/>
        </p:nvSpPr>
        <p:spPr>
          <a:xfrm rot="7119350">
            <a:off x="-2131722" y="-460619"/>
            <a:ext cx="7280753" cy="4114800"/>
          </a:xfrm>
          <a:custGeom>
            <a:avLst/>
            <a:gdLst/>
            <a:ahLst/>
            <a:cxnLst/>
            <a:rect l="l" t="t" r="r" b="b"/>
            <a:pathLst>
              <a:path w="7280753" h="4114800">
                <a:moveTo>
                  <a:pt x="0" y="0"/>
                </a:moveTo>
                <a:lnTo>
                  <a:pt x="7280754" y="0"/>
                </a:lnTo>
                <a:lnTo>
                  <a:pt x="7280754"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IN"/>
          </a:p>
        </p:txBody>
      </p:sp>
      <p:grpSp>
        <p:nvGrpSpPr>
          <p:cNvPr id="8" name="Group 8"/>
          <p:cNvGrpSpPr/>
          <p:nvPr/>
        </p:nvGrpSpPr>
        <p:grpSpPr>
          <a:xfrm>
            <a:off x="1195457" y="967684"/>
            <a:ext cx="15897086" cy="8351632"/>
            <a:chOff x="0" y="0"/>
            <a:chExt cx="4186887" cy="2199607"/>
          </a:xfrm>
        </p:grpSpPr>
        <p:sp>
          <p:nvSpPr>
            <p:cNvPr id="9" name="Freeform 9"/>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10" name="TextBox 10"/>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0">
            <a:extLst>
              <a:ext uri="{FF2B5EF4-FFF2-40B4-BE49-F238E27FC236}">
                <a16:creationId xmlns:a16="http://schemas.microsoft.com/office/drawing/2014/main" id="{6AD8C5DB-C047-89C0-C7A4-D3E35D91B23B}"/>
              </a:ext>
            </a:extLst>
          </p:cNvPr>
          <p:cNvSpPr txBox="1"/>
          <p:nvPr/>
        </p:nvSpPr>
        <p:spPr>
          <a:xfrm>
            <a:off x="2209800" y="1660166"/>
            <a:ext cx="6680068" cy="1519327"/>
          </a:xfrm>
          <a:prstGeom prst="rect">
            <a:avLst/>
          </a:prstGeom>
        </p:spPr>
        <p:txBody>
          <a:bodyPr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Project Overview</a:t>
            </a:r>
          </a:p>
        </p:txBody>
      </p:sp>
      <p:sp>
        <p:nvSpPr>
          <p:cNvPr id="11" name="TextBox 9">
            <a:extLst>
              <a:ext uri="{FF2B5EF4-FFF2-40B4-BE49-F238E27FC236}">
                <a16:creationId xmlns:a16="http://schemas.microsoft.com/office/drawing/2014/main" id="{A427A0E9-EF2B-9231-56C1-2D5ADED6F35F}"/>
              </a:ext>
            </a:extLst>
          </p:cNvPr>
          <p:cNvSpPr txBox="1"/>
          <p:nvPr/>
        </p:nvSpPr>
        <p:spPr>
          <a:xfrm>
            <a:off x="2724150" y="3757987"/>
            <a:ext cx="12839700" cy="4801314"/>
          </a:xfrm>
          <a:prstGeom prst="rect">
            <a:avLst/>
          </a:prstGeom>
          <a:noFill/>
        </p:spPr>
        <p:txBody>
          <a:bodyPr wrap="square" lIns="0" tIns="0" rIns="0" bIns="0" rtlCol="0" anchor="t">
            <a:spAutoFit/>
          </a:bodyPr>
          <a:lstStyle/>
          <a:p>
            <a:pPr marL="342900" indent="-342900">
              <a:buFont typeface="Wingdings" panose="05000000000000000000" pitchFamily="2" charset="2"/>
              <a:buChar char="q"/>
            </a:pPr>
            <a:r>
              <a:rPr lang="en-US" sz="2400">
                <a:latin typeface="Calibri" panose="020F0502020204030204" pitchFamily="34" charset="0"/>
                <a:ea typeface="Calibri" panose="020F0502020204030204" pitchFamily="34" charset="0"/>
                <a:cs typeface="Calibri" panose="020F0502020204030204" pitchFamily="34" charset="0"/>
              </a:rPr>
              <a:t>The HR Attrition Analysis project uses HR analytics techniques and interactive dashboards to examine employee turnover patterns across departments, salary groups, job roles, promotions, working experience, and work-life balance factors.</a:t>
            </a:r>
          </a:p>
          <a:p>
            <a:pPr marL="171450" indent="-171450">
              <a:buFont typeface="Wingdings" panose="05000000000000000000" pitchFamily="2" charset="2"/>
              <a:buChar char="q"/>
            </a:pPr>
            <a:endParaRPr lang="en-US" sz="80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q"/>
            </a:pPr>
            <a:r>
              <a:rPr lang="en-US" sz="2400">
                <a:latin typeface="Calibri" panose="020F0502020204030204" pitchFamily="34" charset="0"/>
                <a:ea typeface="Calibri" panose="020F0502020204030204" pitchFamily="34" charset="0"/>
                <a:cs typeface="Calibri" panose="020F0502020204030204" pitchFamily="34" charset="0"/>
              </a:rPr>
              <a:t>The project was developed using </a:t>
            </a:r>
            <a:r>
              <a:rPr lang="en-US" sz="2400" b="1">
                <a:latin typeface="Calibri" panose="020F0502020204030204" pitchFamily="34" charset="0"/>
                <a:ea typeface="Calibri" panose="020F0502020204030204" pitchFamily="34" charset="0"/>
                <a:cs typeface="Calibri" panose="020F0502020204030204" pitchFamily="34" charset="0"/>
              </a:rPr>
              <a:t>Excel, MySQL, Power BI, and Tableau, </a:t>
            </a:r>
            <a:r>
              <a:rPr lang="en-US" sz="2400">
                <a:latin typeface="Calibri" panose="020F0502020204030204" pitchFamily="34" charset="0"/>
                <a:ea typeface="Calibri" panose="020F0502020204030204" pitchFamily="34" charset="0"/>
                <a:cs typeface="Calibri" panose="020F0502020204030204" pitchFamily="34" charset="0"/>
              </a:rPr>
              <a:t>where multiple HR datasets and tables were merged and analyzed using SQL queries, KPI calculations, and dashboard visualizations to generate meaningful workforce insights.</a:t>
            </a:r>
          </a:p>
          <a:p>
            <a:pPr marL="171450" indent="-171450">
              <a:buFont typeface="Wingdings" panose="05000000000000000000" pitchFamily="2" charset="2"/>
              <a:buChar char="q"/>
            </a:pPr>
            <a:endParaRPr lang="en-US" sz="80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q"/>
            </a:pPr>
            <a:r>
              <a:rPr lang="en-US" sz="2400">
                <a:latin typeface="Calibri" panose="020F0502020204030204" pitchFamily="34" charset="0"/>
                <a:ea typeface="Calibri" panose="020F0502020204030204" pitchFamily="34" charset="0"/>
                <a:cs typeface="Calibri" panose="020F0502020204030204" pitchFamily="34" charset="0"/>
              </a:rPr>
              <a:t>The analysis focuses on key HR KPIs such as attrition rate, retention rate, employee income, promotion history, job satisfaction, and average working years to identify workforce trends and high-risk employee groups.</a:t>
            </a:r>
          </a:p>
          <a:p>
            <a:pPr marL="171450" indent="-171450">
              <a:buFont typeface="Wingdings" panose="05000000000000000000" pitchFamily="2" charset="2"/>
              <a:buChar char="q"/>
            </a:pPr>
            <a:endParaRPr lang="en-US" sz="80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q"/>
            </a:pPr>
            <a:r>
              <a:rPr lang="en-US" sz="2400">
                <a:latin typeface="Calibri" panose="020F0502020204030204" pitchFamily="34" charset="0"/>
                <a:ea typeface="Calibri" panose="020F0502020204030204" pitchFamily="34" charset="0"/>
                <a:cs typeface="Calibri" panose="020F0502020204030204" pitchFamily="34" charset="0"/>
              </a:rPr>
              <a:t>Using dashboard reporting and visualization techniques, the project helps management monitor employee behavior, evaluate retention challenges, and support data-driven HR decision-making to improve employee engagement, retention strategies, and long-term workforce stability.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2">
              <a:alphaModFix amt="26000"/>
            </a:blip>
            <a:stretch>
              <a:fillRect/>
            </a:stretch>
          </a:blipFill>
        </p:spPr>
        <p:txBody>
          <a:bodyPr/>
          <a:lstStyle/>
          <a:p>
            <a:endParaRPr lang="en-IN"/>
          </a:p>
        </p:txBody>
      </p:sp>
      <p:sp>
        <p:nvSpPr>
          <p:cNvPr id="3" name="Freeform 3"/>
          <p:cNvSpPr/>
          <p:nvPr/>
        </p:nvSpPr>
        <p:spPr>
          <a:xfrm>
            <a:off x="10775287" y="8645946"/>
            <a:ext cx="5551100" cy="2547812"/>
          </a:xfrm>
          <a:custGeom>
            <a:avLst/>
            <a:gdLst/>
            <a:ahLst/>
            <a:cxnLst/>
            <a:rect l="l" t="t" r="r" b="b"/>
            <a:pathLst>
              <a:path w="5551100" h="2547812">
                <a:moveTo>
                  <a:pt x="0" y="0"/>
                </a:moveTo>
                <a:lnTo>
                  <a:pt x="5551099" y="0"/>
                </a:lnTo>
                <a:lnTo>
                  <a:pt x="5551099" y="2547813"/>
                </a:lnTo>
                <a:lnTo>
                  <a:pt x="0" y="254781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a:off x="0" y="-287338"/>
            <a:ext cx="7315200" cy="1802843"/>
          </a:xfrm>
          <a:custGeom>
            <a:avLst/>
            <a:gdLst/>
            <a:ahLst/>
            <a:cxnLst/>
            <a:rect l="l" t="t" r="r" b="b"/>
            <a:pathLst>
              <a:path w="7315200" h="1802843">
                <a:moveTo>
                  <a:pt x="0" y="0"/>
                </a:moveTo>
                <a:lnTo>
                  <a:pt x="7315200" y="0"/>
                </a:lnTo>
                <a:lnTo>
                  <a:pt x="7315200" y="1802843"/>
                </a:lnTo>
                <a:lnTo>
                  <a:pt x="0" y="180284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14097000" y="-3117543"/>
            <a:ext cx="7416927" cy="8229600"/>
          </a:xfrm>
          <a:custGeom>
            <a:avLst/>
            <a:gdLst/>
            <a:ahLst/>
            <a:cxnLst/>
            <a:rect l="l" t="t" r="r" b="b"/>
            <a:pathLst>
              <a:path w="7416927" h="8229600">
                <a:moveTo>
                  <a:pt x="0" y="0"/>
                </a:moveTo>
                <a:lnTo>
                  <a:pt x="7416927" y="0"/>
                </a:lnTo>
                <a:lnTo>
                  <a:pt x="7416927" y="8229600"/>
                </a:lnTo>
                <a:lnTo>
                  <a:pt x="0" y="8229600"/>
                </a:lnTo>
                <a:lnTo>
                  <a:pt x="0" y="0"/>
                </a:lnTo>
                <a:close/>
              </a:path>
            </a:pathLst>
          </a:custGeom>
          <a:blipFill>
            <a:blip r:embed="rId5"/>
            <a:stretch>
              <a:fillRect/>
            </a:stretch>
          </a:blipFill>
        </p:spPr>
        <p:txBody>
          <a:bodyPr/>
          <a:lstStyle/>
          <a:p>
            <a:endParaRPr lang="en-IN"/>
          </a:p>
        </p:txBody>
      </p:sp>
      <p:sp>
        <p:nvSpPr>
          <p:cNvPr id="6" name="Freeform 6"/>
          <p:cNvSpPr/>
          <p:nvPr/>
        </p:nvSpPr>
        <p:spPr>
          <a:xfrm rot="956953">
            <a:off x="-1464555" y="7094451"/>
            <a:ext cx="8397773" cy="7872912"/>
          </a:xfrm>
          <a:custGeom>
            <a:avLst/>
            <a:gdLst/>
            <a:ahLst/>
            <a:cxnLst/>
            <a:rect l="l" t="t" r="r" b="b"/>
            <a:pathLst>
              <a:path w="8397773" h="7872912">
                <a:moveTo>
                  <a:pt x="0" y="0"/>
                </a:moveTo>
                <a:lnTo>
                  <a:pt x="8397773" y="0"/>
                </a:lnTo>
                <a:lnTo>
                  <a:pt x="8397773" y="7872912"/>
                </a:lnTo>
                <a:lnTo>
                  <a:pt x="0" y="787291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7" name="Group 7"/>
          <p:cNvGrpSpPr/>
          <p:nvPr/>
        </p:nvGrpSpPr>
        <p:grpSpPr>
          <a:xfrm>
            <a:off x="1195457" y="967684"/>
            <a:ext cx="15897086" cy="8351632"/>
            <a:chOff x="0" y="0"/>
            <a:chExt cx="4186887" cy="2199607"/>
          </a:xfrm>
        </p:grpSpPr>
        <p:sp>
          <p:nvSpPr>
            <p:cNvPr id="8" name="Freeform 8"/>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9" name="TextBox 9"/>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9">
            <a:extLst>
              <a:ext uri="{FF2B5EF4-FFF2-40B4-BE49-F238E27FC236}">
                <a16:creationId xmlns:a16="http://schemas.microsoft.com/office/drawing/2014/main" id="{E76BBE2A-966F-48B1-29C3-97BE86CDE785}"/>
              </a:ext>
            </a:extLst>
          </p:cNvPr>
          <p:cNvSpPr txBox="1"/>
          <p:nvPr/>
        </p:nvSpPr>
        <p:spPr>
          <a:xfrm>
            <a:off x="2667000" y="3495675"/>
            <a:ext cx="14020800" cy="4924425"/>
          </a:xfrm>
          <a:prstGeom prst="rect">
            <a:avLst/>
          </a:prstGeom>
          <a:noFill/>
        </p:spPr>
        <p:txBody>
          <a:bodyPr wrap="square" lIns="0" tIns="0" rIns="0" bIns="0" rtlCol="0" anchor="t">
            <a:spAutoFit/>
          </a:bodyPr>
          <a:lstStyle/>
          <a:p>
            <a:r>
              <a:rPr lang="en-US" sz="2000">
                <a:latin typeface="Calibri" panose="020F0502020204030204" pitchFamily="34" charset="0"/>
                <a:ea typeface="Calibri" panose="020F0502020204030204" pitchFamily="34" charset="0"/>
                <a:cs typeface="Calibri" panose="020F0502020204030204" pitchFamily="34" charset="0"/>
              </a:rPr>
              <a:t>The IBM HR Analytics Employee Attrition &amp; Performance dataset is a human resources dataset containing employee-related information such as age, department, education, job role, salary, work experience, job satisfaction, and work-life balance. It provides detailed insights into employees working across different departments of an organization and helps in understanding overall workforce structure and employee characteristics.</a:t>
            </a:r>
          </a:p>
          <a:p>
            <a:endParaRPr lang="en-US" sz="2000">
              <a:latin typeface="Calibri" panose="020F0502020204030204" pitchFamily="34" charset="0"/>
              <a:ea typeface="Calibri" panose="020F0502020204030204" pitchFamily="34" charset="0"/>
              <a:cs typeface="Calibri" panose="020F0502020204030204" pitchFamily="34" charset="0"/>
            </a:endParaRPr>
          </a:p>
          <a:p>
            <a:r>
              <a:rPr lang="en-US" sz="2000">
                <a:latin typeface="Calibri" panose="020F0502020204030204" pitchFamily="34" charset="0"/>
                <a:ea typeface="Calibri" panose="020F0502020204030204" pitchFamily="34" charset="0"/>
                <a:cs typeface="Calibri" panose="020F0502020204030204" pitchFamily="34" charset="0"/>
              </a:rPr>
              <a:t>The dataset was created by combining two separate tables, HR1 and HR2, using an </a:t>
            </a:r>
            <a:r>
              <a:rPr lang="en-US" sz="2000" b="1">
                <a:latin typeface="Calibri" panose="020F0502020204030204" pitchFamily="34" charset="0"/>
                <a:ea typeface="Calibri" panose="020F0502020204030204" pitchFamily="34" charset="0"/>
                <a:cs typeface="Calibri" panose="020F0502020204030204" pitchFamily="34" charset="0"/>
              </a:rPr>
              <a:t>inner join</a:t>
            </a:r>
            <a:r>
              <a:rPr lang="en-US" sz="2000">
                <a:latin typeface="Calibri" panose="020F0502020204030204" pitchFamily="34" charset="0"/>
                <a:ea typeface="Calibri" panose="020F0502020204030204" pitchFamily="34" charset="0"/>
                <a:cs typeface="Calibri" panose="020F0502020204030204" pitchFamily="34" charset="0"/>
              </a:rPr>
              <a:t> based on the unique employee identifiers (EmployeeNumber in HR1 and Employee_ID in HR2). This merging process integrates employee demographic, job-related, salary, and performance information into a single unified dataset.</a:t>
            </a:r>
          </a:p>
          <a:p>
            <a:endParaRPr lang="en-US" sz="2000">
              <a:latin typeface="Calibri" panose="020F0502020204030204" pitchFamily="34" charset="0"/>
              <a:ea typeface="Calibri" panose="020F0502020204030204" pitchFamily="34" charset="0"/>
              <a:cs typeface="Calibri" panose="020F0502020204030204" pitchFamily="34" charset="0"/>
            </a:endParaRPr>
          </a:p>
          <a:p>
            <a:r>
              <a:rPr lang="en-US" sz="2000">
                <a:latin typeface="Calibri" panose="020F0502020204030204" pitchFamily="34" charset="0"/>
                <a:ea typeface="Calibri" panose="020F0502020204030204" pitchFamily="34" charset="0"/>
                <a:cs typeface="Calibri" panose="020F0502020204030204" pitchFamily="34" charset="0"/>
              </a:rPr>
              <a:t>In addition to the original attributes, new derived features were added for better analysis, such as Attrition Flag, Monthly Income Band, Years Since Last Promotion Band, and Job Satisfaction Level.</a:t>
            </a:r>
          </a:p>
          <a:p>
            <a:endParaRPr lang="en-US" sz="2000">
              <a:latin typeface="Calibri" panose="020F0502020204030204" pitchFamily="34" charset="0"/>
              <a:ea typeface="Calibri" panose="020F0502020204030204" pitchFamily="34" charset="0"/>
              <a:cs typeface="Calibri" panose="020F0502020204030204" pitchFamily="34" charset="0"/>
            </a:endParaRPr>
          </a:p>
          <a:p>
            <a:r>
              <a:rPr lang="en-US" sz="2000">
                <a:latin typeface="Calibri" panose="020F0502020204030204" pitchFamily="34" charset="0"/>
                <a:ea typeface="Calibri" panose="020F0502020204030204" pitchFamily="34" charset="0"/>
                <a:cs typeface="Calibri" panose="020F0502020204030204" pitchFamily="34" charset="0"/>
              </a:rPr>
              <a:t>The dataset also includes important HR factors like monthly income, performance rating, years at company, promotion history, overtime status, and relationship satisfaction. It is widely used for HR reporting, employee attrition analysis, dashboard creation, and organizational studies to support data-driven decision-making in human resource management.</a:t>
            </a:r>
          </a:p>
          <a:p>
            <a:r>
              <a:rPr lang="en-IN" sz="2000">
                <a:latin typeface="Calibri" panose="020F0502020204030204" pitchFamily="34" charset="0"/>
                <a:ea typeface="Calibri" panose="020F0502020204030204" pitchFamily="34" charset="0"/>
                <a:cs typeface="Calibri" panose="020F0502020204030204" pitchFamily="34" charset="0"/>
                <a:hlinkClick r:id="rId7"/>
              </a:rPr>
              <a:t>IBM HR Analytics Employee Attrition &amp; Performance</a:t>
            </a:r>
            <a:endParaRPr lang="en-IN" sz="2000">
              <a:latin typeface="Calibri" panose="020F0502020204030204" pitchFamily="34" charset="0"/>
              <a:ea typeface="Calibri" panose="020F0502020204030204" pitchFamily="34" charset="0"/>
              <a:cs typeface="Calibri" panose="020F0502020204030204" pitchFamily="34" charset="0"/>
            </a:endParaRPr>
          </a:p>
        </p:txBody>
      </p:sp>
      <p:sp>
        <p:nvSpPr>
          <p:cNvPr id="19" name="TextBox 10">
            <a:extLst>
              <a:ext uri="{FF2B5EF4-FFF2-40B4-BE49-F238E27FC236}">
                <a16:creationId xmlns:a16="http://schemas.microsoft.com/office/drawing/2014/main" id="{0AF24A2B-62A5-7FC8-644C-62AA0097A586}"/>
              </a:ext>
            </a:extLst>
          </p:cNvPr>
          <p:cNvSpPr txBox="1"/>
          <p:nvPr/>
        </p:nvSpPr>
        <p:spPr>
          <a:xfrm>
            <a:off x="2209800" y="1660166"/>
            <a:ext cx="6680068" cy="1519327"/>
          </a:xfrm>
          <a:prstGeom prst="rect">
            <a:avLst/>
          </a:prstGeom>
        </p:spPr>
        <p:txBody>
          <a:bodyPr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Dataset Overview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7BC12-AA1C-DE72-CF7A-602A38E50DC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584976-08D0-8330-B36B-30C5D12A8FE4}"/>
              </a:ext>
            </a:extLst>
          </p:cNvPr>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2">
              <a:alphaModFix amt="26000"/>
            </a:blip>
            <a:stretch>
              <a:fillRect/>
            </a:stretch>
          </a:blipFill>
        </p:spPr>
        <p:txBody>
          <a:bodyPr/>
          <a:lstStyle/>
          <a:p>
            <a:endParaRPr lang="en-IN"/>
          </a:p>
        </p:txBody>
      </p:sp>
      <p:sp>
        <p:nvSpPr>
          <p:cNvPr id="3" name="Freeform 3">
            <a:extLst>
              <a:ext uri="{FF2B5EF4-FFF2-40B4-BE49-F238E27FC236}">
                <a16:creationId xmlns:a16="http://schemas.microsoft.com/office/drawing/2014/main" id="{2DF698DF-DF46-388A-1E41-EEE72DDFEF8D}"/>
              </a:ext>
            </a:extLst>
          </p:cNvPr>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a:extLst>
              <a:ext uri="{FF2B5EF4-FFF2-40B4-BE49-F238E27FC236}">
                <a16:creationId xmlns:a16="http://schemas.microsoft.com/office/drawing/2014/main" id="{E75486DE-AB61-37AB-E555-A723576D9BC2}"/>
              </a:ext>
            </a:extLst>
          </p:cNvPr>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a:extLst>
              <a:ext uri="{FF2B5EF4-FFF2-40B4-BE49-F238E27FC236}">
                <a16:creationId xmlns:a16="http://schemas.microsoft.com/office/drawing/2014/main" id="{ED09D23E-1772-51D7-5041-B7F349D1F008}"/>
              </a:ext>
            </a:extLst>
          </p:cNvPr>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grpSp>
        <p:nvGrpSpPr>
          <p:cNvPr id="6" name="Group 6">
            <a:extLst>
              <a:ext uri="{FF2B5EF4-FFF2-40B4-BE49-F238E27FC236}">
                <a16:creationId xmlns:a16="http://schemas.microsoft.com/office/drawing/2014/main" id="{088AACBF-0F98-B364-BE90-0D1F106D37AE}"/>
              </a:ext>
            </a:extLst>
          </p:cNvPr>
          <p:cNvGrpSpPr/>
          <p:nvPr/>
        </p:nvGrpSpPr>
        <p:grpSpPr>
          <a:xfrm>
            <a:off x="1195457" y="967684"/>
            <a:ext cx="15897086" cy="8351632"/>
            <a:chOff x="0" y="0"/>
            <a:chExt cx="4186887" cy="2199607"/>
          </a:xfrm>
        </p:grpSpPr>
        <p:sp>
          <p:nvSpPr>
            <p:cNvPr id="7" name="Freeform 7">
              <a:extLst>
                <a:ext uri="{FF2B5EF4-FFF2-40B4-BE49-F238E27FC236}">
                  <a16:creationId xmlns:a16="http://schemas.microsoft.com/office/drawing/2014/main" id="{7EC7CB39-72E2-814B-854F-8BCC1DFD7247}"/>
                </a:ext>
              </a:extLst>
            </p:cNvPr>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a:extLst>
                <a:ext uri="{FF2B5EF4-FFF2-40B4-BE49-F238E27FC236}">
                  <a16:creationId xmlns:a16="http://schemas.microsoft.com/office/drawing/2014/main" id="{C5AD81E1-84FC-1E64-8E03-270073CB6DAE}"/>
                </a:ext>
              </a:extLst>
            </p:cNvPr>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10">
            <a:extLst>
              <a:ext uri="{FF2B5EF4-FFF2-40B4-BE49-F238E27FC236}">
                <a16:creationId xmlns:a16="http://schemas.microsoft.com/office/drawing/2014/main" id="{3FB2CE05-0441-C352-B86D-8B2B44E9C3D3}"/>
              </a:ext>
            </a:extLst>
          </p:cNvPr>
          <p:cNvSpPr txBox="1"/>
          <p:nvPr/>
        </p:nvSpPr>
        <p:spPr>
          <a:xfrm>
            <a:off x="2209800" y="1660166"/>
            <a:ext cx="7620000" cy="1519327"/>
          </a:xfrm>
          <a:prstGeom prst="rect">
            <a:avLst/>
          </a:prstGeom>
        </p:spPr>
        <p:txBody>
          <a:bodyPr wrap="square"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Problem statement</a:t>
            </a:r>
          </a:p>
        </p:txBody>
      </p:sp>
      <p:sp>
        <p:nvSpPr>
          <p:cNvPr id="11" name="TextBox 9">
            <a:extLst>
              <a:ext uri="{FF2B5EF4-FFF2-40B4-BE49-F238E27FC236}">
                <a16:creationId xmlns:a16="http://schemas.microsoft.com/office/drawing/2014/main" id="{B236F2E5-BAF4-81BA-5612-8A000A145430}"/>
              </a:ext>
            </a:extLst>
          </p:cNvPr>
          <p:cNvSpPr txBox="1"/>
          <p:nvPr/>
        </p:nvSpPr>
        <p:spPr>
          <a:xfrm>
            <a:off x="2362200" y="3543300"/>
            <a:ext cx="14343074" cy="5663089"/>
          </a:xfrm>
          <a:prstGeom prst="rect">
            <a:avLst/>
          </a:prstGeom>
          <a:noFill/>
        </p:spPr>
        <p:txBody>
          <a:bodyPr wrap="square" lIns="0" tIns="0" rIns="0" bIns="0" rtlCol="0" anchor="t">
            <a:spAutoFit/>
          </a:bodyPr>
          <a:lstStyle/>
          <a:p>
            <a:r>
              <a:rPr lang="en-US">
                <a:latin typeface="Calibri" panose="020F0502020204030204" pitchFamily="34" charset="0"/>
                <a:ea typeface="Calibri" panose="020F0502020204030204" pitchFamily="34" charset="0"/>
                <a:cs typeface="Calibri" panose="020F0502020204030204" pitchFamily="34" charset="0"/>
              </a:rPr>
              <a:t>Employee attrition is one of the major challenges faced by organizations because it directly impacts productivity, recruitment costs, employee morale, and overall business performance. The company aims to analyze employee attrition patterns by studying factors such as department-wise attrition, salary structure, work-life balance, promotion history, working experience, and job roles.</a:t>
            </a:r>
          </a:p>
          <a:p>
            <a:endParaRPr lang="en-US" sz="800">
              <a:latin typeface="Calibri" panose="020F0502020204030204" pitchFamily="34" charset="0"/>
              <a:ea typeface="Calibri" panose="020F0502020204030204" pitchFamily="34" charset="0"/>
              <a:cs typeface="Calibri" panose="020F0502020204030204" pitchFamily="34" charset="0"/>
            </a:endParaRPr>
          </a:p>
          <a:p>
            <a:r>
              <a:rPr lang="en-US">
                <a:latin typeface="Calibri" panose="020F0502020204030204" pitchFamily="34" charset="0"/>
                <a:ea typeface="Calibri" panose="020F0502020204030204" pitchFamily="34" charset="0"/>
                <a:cs typeface="Calibri" panose="020F0502020204030204" pitchFamily="34" charset="0"/>
              </a:rPr>
              <a:t>The objective of this analysis is to identify the key reasons behind employee attrition and uncover trends that can help management improve employee retention strategies. By using HR analytics dashboards and visual reports, the organization can better understand workforce behavior and make data-driven decisions to enhance employee satisfaction and organizational stability.</a:t>
            </a:r>
          </a:p>
          <a:p>
            <a:endParaRPr lang="en-US">
              <a:latin typeface="Calibri" panose="020F0502020204030204" pitchFamily="34" charset="0"/>
              <a:ea typeface="Calibri" panose="020F0502020204030204" pitchFamily="34" charset="0"/>
              <a:cs typeface="Calibri" panose="020F0502020204030204" pitchFamily="34" charset="0"/>
            </a:endParaRPr>
          </a:p>
          <a:p>
            <a:r>
              <a:rPr lang="en-US">
                <a:latin typeface="Calibri" panose="020F0502020204030204" pitchFamily="34" charset="0"/>
                <a:ea typeface="Calibri" panose="020F0502020204030204" pitchFamily="34" charset="0"/>
                <a:cs typeface="Calibri" panose="020F0502020204030204" pitchFamily="34" charset="0"/>
              </a:rPr>
              <a:t>This report focuses on:</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Average attrition rate across all departments</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Average hourly rate of male research scientists</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Relationship between attrition rate and monthly income stats</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Average working years for each department</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Job role versus work-life balance analysis</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Relationship between attrition rate and years since last promotion</a:t>
            </a:r>
          </a:p>
          <a:p>
            <a:pPr marL="342900" indent="-34290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Additional optional dashboards and charts for deeper HR insights</a:t>
            </a:r>
          </a:p>
          <a:p>
            <a:endParaRPr lang="en-US">
              <a:latin typeface="Calibri" panose="020F0502020204030204" pitchFamily="34" charset="0"/>
              <a:ea typeface="Calibri" panose="020F0502020204030204" pitchFamily="34" charset="0"/>
              <a:cs typeface="Calibri" panose="020F0502020204030204" pitchFamily="34" charset="0"/>
            </a:endParaRPr>
          </a:p>
          <a:p>
            <a:r>
              <a:rPr lang="en-US">
                <a:latin typeface="Calibri" panose="020F0502020204030204" pitchFamily="34" charset="0"/>
                <a:ea typeface="Calibri" panose="020F0502020204030204" pitchFamily="34" charset="0"/>
                <a:cs typeface="Calibri" panose="020F0502020204030204" pitchFamily="34" charset="0"/>
              </a:rPr>
              <a:t>The analysis will help HR teams identify high-risk employee groups, understand compensation-related concerns, and evaluate whether career growth opportunities and work-life balance influence attrition.</a:t>
            </a:r>
          </a:p>
          <a:p>
            <a:br>
              <a:rPr lang="en-US">
                <a:latin typeface="Calibri" panose="020F0502020204030204" pitchFamily="34" charset="0"/>
                <a:ea typeface="Calibri" panose="020F0502020204030204" pitchFamily="34" charset="0"/>
                <a:cs typeface="Calibri" panose="020F0502020204030204" pitchFamily="34" charset="0"/>
              </a:rPr>
            </a:br>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762921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2">
              <a:alphaModFix amt="26000"/>
            </a:blip>
            <a:stretch>
              <a:fillRect/>
            </a:stretch>
          </a:blipFill>
        </p:spPr>
        <p:txBody>
          <a:bodyPr/>
          <a:lstStyle/>
          <a:p>
            <a:endParaRPr lang="en-IN"/>
          </a:p>
        </p:txBody>
      </p:sp>
      <p:sp>
        <p:nvSpPr>
          <p:cNvPr id="3" name="Freeform 3"/>
          <p:cNvSpPr/>
          <p:nvPr/>
        </p:nvSpPr>
        <p:spPr>
          <a:xfrm>
            <a:off x="10775287" y="8645946"/>
            <a:ext cx="5551100" cy="2547812"/>
          </a:xfrm>
          <a:custGeom>
            <a:avLst/>
            <a:gdLst/>
            <a:ahLst/>
            <a:cxnLst/>
            <a:rect l="l" t="t" r="r" b="b"/>
            <a:pathLst>
              <a:path w="5551100" h="2547812">
                <a:moveTo>
                  <a:pt x="0" y="0"/>
                </a:moveTo>
                <a:lnTo>
                  <a:pt x="5551099" y="0"/>
                </a:lnTo>
                <a:lnTo>
                  <a:pt x="5551099" y="2547813"/>
                </a:lnTo>
                <a:lnTo>
                  <a:pt x="0" y="254781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a:off x="0" y="-287338"/>
            <a:ext cx="7315200" cy="1802843"/>
          </a:xfrm>
          <a:custGeom>
            <a:avLst/>
            <a:gdLst/>
            <a:ahLst/>
            <a:cxnLst/>
            <a:rect l="l" t="t" r="r" b="b"/>
            <a:pathLst>
              <a:path w="7315200" h="1802843">
                <a:moveTo>
                  <a:pt x="0" y="0"/>
                </a:moveTo>
                <a:lnTo>
                  <a:pt x="7315200" y="0"/>
                </a:lnTo>
                <a:lnTo>
                  <a:pt x="7315200" y="1802843"/>
                </a:lnTo>
                <a:lnTo>
                  <a:pt x="0" y="180284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13550836" y="-2599295"/>
            <a:ext cx="7416927" cy="8229600"/>
          </a:xfrm>
          <a:custGeom>
            <a:avLst/>
            <a:gdLst/>
            <a:ahLst/>
            <a:cxnLst/>
            <a:rect l="l" t="t" r="r" b="b"/>
            <a:pathLst>
              <a:path w="7416927" h="8229600">
                <a:moveTo>
                  <a:pt x="0" y="0"/>
                </a:moveTo>
                <a:lnTo>
                  <a:pt x="7416927" y="0"/>
                </a:lnTo>
                <a:lnTo>
                  <a:pt x="7416927" y="8229600"/>
                </a:lnTo>
                <a:lnTo>
                  <a:pt x="0" y="8229600"/>
                </a:lnTo>
                <a:lnTo>
                  <a:pt x="0" y="0"/>
                </a:lnTo>
                <a:close/>
              </a:path>
            </a:pathLst>
          </a:custGeom>
          <a:blipFill>
            <a:blip r:embed="rId5"/>
            <a:stretch>
              <a:fillRect/>
            </a:stretch>
          </a:blipFill>
        </p:spPr>
        <p:txBody>
          <a:bodyPr/>
          <a:lstStyle/>
          <a:p>
            <a:endParaRPr lang="en-IN"/>
          </a:p>
        </p:txBody>
      </p:sp>
      <p:sp>
        <p:nvSpPr>
          <p:cNvPr id="6" name="Freeform 6"/>
          <p:cNvSpPr/>
          <p:nvPr/>
        </p:nvSpPr>
        <p:spPr>
          <a:xfrm rot="956953">
            <a:off x="-1464555" y="7094451"/>
            <a:ext cx="8397773" cy="7872912"/>
          </a:xfrm>
          <a:custGeom>
            <a:avLst/>
            <a:gdLst/>
            <a:ahLst/>
            <a:cxnLst/>
            <a:rect l="l" t="t" r="r" b="b"/>
            <a:pathLst>
              <a:path w="8397773" h="7872912">
                <a:moveTo>
                  <a:pt x="0" y="0"/>
                </a:moveTo>
                <a:lnTo>
                  <a:pt x="8397773" y="0"/>
                </a:lnTo>
                <a:lnTo>
                  <a:pt x="8397773" y="7872912"/>
                </a:lnTo>
                <a:lnTo>
                  <a:pt x="0" y="787291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7" name="Group 7"/>
          <p:cNvGrpSpPr/>
          <p:nvPr/>
        </p:nvGrpSpPr>
        <p:grpSpPr>
          <a:xfrm>
            <a:off x="1195457" y="967684"/>
            <a:ext cx="15897086" cy="8351632"/>
            <a:chOff x="0" y="0"/>
            <a:chExt cx="4186887" cy="2199607"/>
          </a:xfrm>
        </p:grpSpPr>
        <p:sp>
          <p:nvSpPr>
            <p:cNvPr id="8" name="Freeform 8"/>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9" name="TextBox 9"/>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pic>
        <p:nvPicPr>
          <p:cNvPr id="11" name="Picture 10">
            <a:extLst>
              <a:ext uri="{FF2B5EF4-FFF2-40B4-BE49-F238E27FC236}">
                <a16:creationId xmlns:a16="http://schemas.microsoft.com/office/drawing/2014/main" id="{FA62B2F5-1B03-92C7-4339-0C8A5F6D7BFA}"/>
              </a:ext>
            </a:extLst>
          </p:cNvPr>
          <p:cNvPicPr>
            <a:picLocks noChangeAspect="1"/>
          </p:cNvPicPr>
          <p:nvPr/>
        </p:nvPicPr>
        <p:blipFill>
          <a:blip r:embed="rId7"/>
          <a:stretch>
            <a:fillRect/>
          </a:stretch>
        </p:blipFill>
        <p:spPr>
          <a:xfrm>
            <a:off x="1676400" y="2171700"/>
            <a:ext cx="15011400" cy="7022068"/>
          </a:xfrm>
          <a:prstGeom prst="rect">
            <a:avLst/>
          </a:prstGeom>
        </p:spPr>
      </p:pic>
      <p:sp>
        <p:nvSpPr>
          <p:cNvPr id="12" name="Rectangle: Rounded Corners 11">
            <a:extLst>
              <a:ext uri="{FF2B5EF4-FFF2-40B4-BE49-F238E27FC236}">
                <a16:creationId xmlns:a16="http://schemas.microsoft.com/office/drawing/2014/main" id="{F0A2CB2B-AE97-3B55-33C0-48AC2BAF80F5}"/>
              </a:ext>
            </a:extLst>
          </p:cNvPr>
          <p:cNvSpPr/>
          <p:nvPr/>
        </p:nvSpPr>
        <p:spPr>
          <a:xfrm>
            <a:off x="7115496" y="1343614"/>
            <a:ext cx="3247704"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Excel Dashboard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1652-D320-626D-D096-268FC011CF9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BC403FE-8259-F59B-BA3F-A99E7B266C16}"/>
              </a:ext>
            </a:extLst>
          </p:cNvPr>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a:extLst>
              <a:ext uri="{FF2B5EF4-FFF2-40B4-BE49-F238E27FC236}">
                <a16:creationId xmlns:a16="http://schemas.microsoft.com/office/drawing/2014/main" id="{42474739-24F9-A584-4886-FF686A98BCD9}"/>
              </a:ext>
            </a:extLst>
          </p:cNvPr>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a:extLst>
              <a:ext uri="{FF2B5EF4-FFF2-40B4-BE49-F238E27FC236}">
                <a16:creationId xmlns:a16="http://schemas.microsoft.com/office/drawing/2014/main" id="{5C6A3DEF-0371-665A-E537-A1AFF1E125B7}"/>
              </a:ext>
            </a:extLst>
          </p:cNvPr>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a:extLst>
              <a:ext uri="{FF2B5EF4-FFF2-40B4-BE49-F238E27FC236}">
                <a16:creationId xmlns:a16="http://schemas.microsoft.com/office/drawing/2014/main" id="{0496E0F1-F19D-A658-E0F0-F0F62E55630D}"/>
              </a:ext>
            </a:extLst>
          </p:cNvPr>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a:extLst>
              <a:ext uri="{FF2B5EF4-FFF2-40B4-BE49-F238E27FC236}">
                <a16:creationId xmlns:a16="http://schemas.microsoft.com/office/drawing/2014/main" id="{103AFF53-341E-BBF7-EBF1-7D4392EACD76}"/>
              </a:ext>
            </a:extLst>
          </p:cNvPr>
          <p:cNvGrpSpPr/>
          <p:nvPr/>
        </p:nvGrpSpPr>
        <p:grpSpPr>
          <a:xfrm>
            <a:off x="1195457" y="967684"/>
            <a:ext cx="15897086" cy="8351632"/>
            <a:chOff x="0" y="0"/>
            <a:chExt cx="4186887" cy="2199607"/>
          </a:xfrm>
        </p:grpSpPr>
        <p:sp>
          <p:nvSpPr>
            <p:cNvPr id="7" name="Freeform 7">
              <a:extLst>
                <a:ext uri="{FF2B5EF4-FFF2-40B4-BE49-F238E27FC236}">
                  <a16:creationId xmlns:a16="http://schemas.microsoft.com/office/drawing/2014/main" id="{72E21C36-CDD5-E231-1261-5814542DBA0E}"/>
                </a:ext>
              </a:extLst>
            </p:cNvPr>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a:extLst>
                <a:ext uri="{FF2B5EF4-FFF2-40B4-BE49-F238E27FC236}">
                  <a16:creationId xmlns:a16="http://schemas.microsoft.com/office/drawing/2014/main" id="{5EF3937C-9C86-56BB-6236-4DDCBF4CF1EE}"/>
                </a:ext>
              </a:extLst>
            </p:cNvPr>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0" name="Rectangle: Rounded Corners 9">
            <a:extLst>
              <a:ext uri="{FF2B5EF4-FFF2-40B4-BE49-F238E27FC236}">
                <a16:creationId xmlns:a16="http://schemas.microsoft.com/office/drawing/2014/main" id="{AFB5FE8A-FABC-72DC-F6D9-1441440B9615}"/>
              </a:ext>
            </a:extLst>
          </p:cNvPr>
          <p:cNvSpPr/>
          <p:nvPr/>
        </p:nvSpPr>
        <p:spPr>
          <a:xfrm>
            <a:off x="7496496" y="1343614"/>
            <a:ext cx="3247704"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MySQL Scripts </a:t>
            </a:r>
          </a:p>
        </p:txBody>
      </p:sp>
      <p:pic>
        <p:nvPicPr>
          <p:cNvPr id="14" name="Picture 13">
            <a:extLst>
              <a:ext uri="{FF2B5EF4-FFF2-40B4-BE49-F238E27FC236}">
                <a16:creationId xmlns:a16="http://schemas.microsoft.com/office/drawing/2014/main" id="{A8B7BBD1-BC81-BB15-A6E6-E7B37114C09E}"/>
              </a:ext>
            </a:extLst>
          </p:cNvPr>
          <p:cNvPicPr>
            <a:picLocks noChangeAspect="1"/>
          </p:cNvPicPr>
          <p:nvPr/>
        </p:nvPicPr>
        <p:blipFill>
          <a:blip r:embed="rId7"/>
          <a:stretch>
            <a:fillRect/>
          </a:stretch>
        </p:blipFill>
        <p:spPr>
          <a:xfrm>
            <a:off x="2209860" y="2352648"/>
            <a:ext cx="6324540" cy="659073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32370A90-6B54-2C92-9B69-D3089E50432B}"/>
              </a:ext>
            </a:extLst>
          </p:cNvPr>
          <p:cNvPicPr>
            <a:picLocks noChangeAspect="1"/>
          </p:cNvPicPr>
          <p:nvPr/>
        </p:nvPicPr>
        <p:blipFill>
          <a:blip r:embed="rId8"/>
          <a:stretch>
            <a:fillRect/>
          </a:stretch>
        </p:blipFill>
        <p:spPr>
          <a:xfrm>
            <a:off x="9067727" y="2939117"/>
            <a:ext cx="7602011" cy="413442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901287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520D8-D4F9-AB6A-47F1-47909CC8EF9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B3B1AEC-B7D8-803E-4848-446C9C321CCD}"/>
              </a:ext>
            </a:extLst>
          </p:cNvPr>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a:extLst>
              <a:ext uri="{FF2B5EF4-FFF2-40B4-BE49-F238E27FC236}">
                <a16:creationId xmlns:a16="http://schemas.microsoft.com/office/drawing/2014/main" id="{A2A6BE6A-AECD-5EFD-D466-B11FC2EE17B9}"/>
              </a:ext>
            </a:extLst>
          </p:cNvPr>
          <p:cNvSpPr/>
          <p:nvPr/>
        </p:nvSpPr>
        <p:spPr>
          <a:xfrm>
            <a:off x="8173342" y="-1257300"/>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a:extLst>
              <a:ext uri="{FF2B5EF4-FFF2-40B4-BE49-F238E27FC236}">
                <a16:creationId xmlns:a16="http://schemas.microsoft.com/office/drawing/2014/main" id="{D147AB9C-B90E-6EB8-84E5-B84EA071490A}"/>
              </a:ext>
            </a:extLst>
          </p:cNvPr>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a:extLst>
              <a:ext uri="{FF2B5EF4-FFF2-40B4-BE49-F238E27FC236}">
                <a16:creationId xmlns:a16="http://schemas.microsoft.com/office/drawing/2014/main" id="{4C0668EB-1BCA-6622-7A53-7A80E72DA002}"/>
              </a:ext>
            </a:extLst>
          </p:cNvPr>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a:extLst>
              <a:ext uri="{FF2B5EF4-FFF2-40B4-BE49-F238E27FC236}">
                <a16:creationId xmlns:a16="http://schemas.microsoft.com/office/drawing/2014/main" id="{F87434CA-9DB6-F450-32D6-AE2D7D81DF8C}"/>
              </a:ext>
            </a:extLst>
          </p:cNvPr>
          <p:cNvGrpSpPr/>
          <p:nvPr/>
        </p:nvGrpSpPr>
        <p:grpSpPr>
          <a:xfrm>
            <a:off x="1195457" y="967684"/>
            <a:ext cx="15897086" cy="8351632"/>
            <a:chOff x="0" y="0"/>
            <a:chExt cx="4186887" cy="2199607"/>
          </a:xfrm>
        </p:grpSpPr>
        <p:sp>
          <p:nvSpPr>
            <p:cNvPr id="7" name="Freeform 7">
              <a:extLst>
                <a:ext uri="{FF2B5EF4-FFF2-40B4-BE49-F238E27FC236}">
                  <a16:creationId xmlns:a16="http://schemas.microsoft.com/office/drawing/2014/main" id="{B0E92316-89A4-1595-ADBD-3F65FD0D070F}"/>
                </a:ext>
              </a:extLst>
            </p:cNvPr>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a:extLst>
                <a:ext uri="{FF2B5EF4-FFF2-40B4-BE49-F238E27FC236}">
                  <a16:creationId xmlns:a16="http://schemas.microsoft.com/office/drawing/2014/main" id="{D360C2B2-0990-CFDC-A634-0CF408C57662}"/>
                </a:ext>
              </a:extLst>
            </p:cNvPr>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pic>
        <p:nvPicPr>
          <p:cNvPr id="12" name="Picture 11">
            <a:extLst>
              <a:ext uri="{FF2B5EF4-FFF2-40B4-BE49-F238E27FC236}">
                <a16:creationId xmlns:a16="http://schemas.microsoft.com/office/drawing/2014/main" id="{1F3EB3D6-33BA-3C8A-2744-2279C7F9B941}"/>
              </a:ext>
            </a:extLst>
          </p:cNvPr>
          <p:cNvPicPr>
            <a:picLocks noChangeAspect="1"/>
          </p:cNvPicPr>
          <p:nvPr/>
        </p:nvPicPr>
        <p:blipFill>
          <a:blip r:embed="rId7"/>
          <a:stretch>
            <a:fillRect/>
          </a:stretch>
        </p:blipFill>
        <p:spPr>
          <a:xfrm>
            <a:off x="1796384" y="2148593"/>
            <a:ext cx="14967616" cy="6983665"/>
          </a:xfrm>
          <a:prstGeom prst="rect">
            <a:avLst/>
          </a:prstGeom>
          <a:ln>
            <a:noFill/>
          </a:ln>
          <a:effectLst>
            <a:softEdge rad="112500"/>
          </a:effectLst>
        </p:spPr>
      </p:pic>
      <p:sp>
        <p:nvSpPr>
          <p:cNvPr id="13" name="Rectangle: Rounded Corners 12">
            <a:extLst>
              <a:ext uri="{FF2B5EF4-FFF2-40B4-BE49-F238E27FC236}">
                <a16:creationId xmlns:a16="http://schemas.microsoft.com/office/drawing/2014/main" id="{ED8D4FCC-4236-BA3B-308E-B6ECE3D2DE81}"/>
              </a:ext>
            </a:extLst>
          </p:cNvPr>
          <p:cNvSpPr/>
          <p:nvPr/>
        </p:nvSpPr>
        <p:spPr>
          <a:xfrm>
            <a:off x="7315200" y="1343614"/>
            <a:ext cx="3505200"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Power BI Dashboard </a:t>
            </a:r>
          </a:p>
        </p:txBody>
      </p:sp>
    </p:spTree>
    <p:extLst>
      <p:ext uri="{BB962C8B-B14F-4D97-AF65-F5344CB8AC3E}">
        <p14:creationId xmlns:p14="http://schemas.microsoft.com/office/powerpoint/2010/main" val="30318123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AAE1B-BC0F-FCE8-7BF6-B113DCC9770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51AFD13-1E66-80A7-7A8C-A042815AE282}"/>
              </a:ext>
            </a:extLst>
          </p:cNvPr>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a:extLst>
              <a:ext uri="{FF2B5EF4-FFF2-40B4-BE49-F238E27FC236}">
                <a16:creationId xmlns:a16="http://schemas.microsoft.com/office/drawing/2014/main" id="{BA1CEA69-6D68-4A2D-950B-24681725B69E}"/>
              </a:ext>
            </a:extLst>
          </p:cNvPr>
          <p:cNvSpPr/>
          <p:nvPr/>
        </p:nvSpPr>
        <p:spPr>
          <a:xfrm>
            <a:off x="8173342" y="-1257300"/>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a:extLst>
              <a:ext uri="{FF2B5EF4-FFF2-40B4-BE49-F238E27FC236}">
                <a16:creationId xmlns:a16="http://schemas.microsoft.com/office/drawing/2014/main" id="{4E636593-A1DD-22A9-6CED-A115106D7A55}"/>
              </a:ext>
            </a:extLst>
          </p:cNvPr>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a:extLst>
              <a:ext uri="{FF2B5EF4-FFF2-40B4-BE49-F238E27FC236}">
                <a16:creationId xmlns:a16="http://schemas.microsoft.com/office/drawing/2014/main" id="{A91363F6-B668-C448-FE5D-C6CAA34F9F85}"/>
              </a:ext>
            </a:extLst>
          </p:cNvPr>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a:extLst>
              <a:ext uri="{FF2B5EF4-FFF2-40B4-BE49-F238E27FC236}">
                <a16:creationId xmlns:a16="http://schemas.microsoft.com/office/drawing/2014/main" id="{66F6CE9B-3B8E-38AA-FA5C-64B1B014F9BD}"/>
              </a:ext>
            </a:extLst>
          </p:cNvPr>
          <p:cNvGrpSpPr/>
          <p:nvPr/>
        </p:nvGrpSpPr>
        <p:grpSpPr>
          <a:xfrm>
            <a:off x="1195457" y="967684"/>
            <a:ext cx="15897086" cy="8351632"/>
            <a:chOff x="0" y="0"/>
            <a:chExt cx="4186887" cy="2199607"/>
          </a:xfrm>
        </p:grpSpPr>
        <p:sp>
          <p:nvSpPr>
            <p:cNvPr id="7" name="Freeform 7">
              <a:extLst>
                <a:ext uri="{FF2B5EF4-FFF2-40B4-BE49-F238E27FC236}">
                  <a16:creationId xmlns:a16="http://schemas.microsoft.com/office/drawing/2014/main" id="{06175BBC-F34F-407E-1A5C-381E991D734A}"/>
                </a:ext>
              </a:extLst>
            </p:cNvPr>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a:extLst>
                <a:ext uri="{FF2B5EF4-FFF2-40B4-BE49-F238E27FC236}">
                  <a16:creationId xmlns:a16="http://schemas.microsoft.com/office/drawing/2014/main" id="{EFFF5BA1-5549-6245-C5F8-51CD9F3EF19A}"/>
                </a:ext>
              </a:extLst>
            </p:cNvPr>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3" name="Rectangle: Rounded Corners 12">
            <a:extLst>
              <a:ext uri="{FF2B5EF4-FFF2-40B4-BE49-F238E27FC236}">
                <a16:creationId xmlns:a16="http://schemas.microsoft.com/office/drawing/2014/main" id="{5B680AFF-7EB2-4F55-D6F7-273CF6B7B0AA}"/>
              </a:ext>
            </a:extLst>
          </p:cNvPr>
          <p:cNvSpPr/>
          <p:nvPr/>
        </p:nvSpPr>
        <p:spPr>
          <a:xfrm>
            <a:off x="7315200" y="1343614"/>
            <a:ext cx="3505200"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Power BI Dashboard </a:t>
            </a:r>
          </a:p>
        </p:txBody>
      </p:sp>
      <p:pic>
        <p:nvPicPr>
          <p:cNvPr id="10" name="Picture 9">
            <a:extLst>
              <a:ext uri="{FF2B5EF4-FFF2-40B4-BE49-F238E27FC236}">
                <a16:creationId xmlns:a16="http://schemas.microsoft.com/office/drawing/2014/main" id="{19988AF2-5D50-9466-34C0-4635ABAC699F}"/>
              </a:ext>
            </a:extLst>
          </p:cNvPr>
          <p:cNvPicPr>
            <a:picLocks noChangeAspect="1"/>
          </p:cNvPicPr>
          <p:nvPr/>
        </p:nvPicPr>
        <p:blipFill>
          <a:blip r:embed="rId7"/>
          <a:stretch>
            <a:fillRect/>
          </a:stretch>
        </p:blipFill>
        <p:spPr>
          <a:xfrm>
            <a:off x="1823026" y="2253344"/>
            <a:ext cx="14846712" cy="6858957"/>
          </a:xfrm>
          <a:prstGeom prst="rect">
            <a:avLst/>
          </a:prstGeom>
          <a:ln>
            <a:noFill/>
          </a:ln>
          <a:effectLst>
            <a:softEdge rad="112500"/>
          </a:effectLst>
        </p:spPr>
      </p:pic>
    </p:spTree>
    <p:extLst>
      <p:ext uri="{BB962C8B-B14F-4D97-AF65-F5344CB8AC3E}">
        <p14:creationId xmlns:p14="http://schemas.microsoft.com/office/powerpoint/2010/main" val="19815711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p:cNvGrpSpPr/>
          <p:nvPr/>
        </p:nvGrpSpPr>
        <p:grpSpPr>
          <a:xfrm>
            <a:off x="1195457" y="967684"/>
            <a:ext cx="15897086" cy="8351632"/>
            <a:chOff x="0" y="0"/>
            <a:chExt cx="4186887" cy="2199607"/>
          </a:xfrm>
        </p:grpSpPr>
        <p:sp>
          <p:nvSpPr>
            <p:cNvPr id="7" name="Freeform 7"/>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0" name="Rectangle: Rounded Corners 9">
            <a:extLst>
              <a:ext uri="{FF2B5EF4-FFF2-40B4-BE49-F238E27FC236}">
                <a16:creationId xmlns:a16="http://schemas.microsoft.com/office/drawing/2014/main" id="{CEA3CE6F-3C9E-9ED7-8240-3609D904C314}"/>
              </a:ext>
            </a:extLst>
          </p:cNvPr>
          <p:cNvSpPr/>
          <p:nvPr/>
        </p:nvSpPr>
        <p:spPr>
          <a:xfrm>
            <a:off x="7496496" y="1343614"/>
            <a:ext cx="3247704"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Tableau Dashboard </a:t>
            </a:r>
          </a:p>
        </p:txBody>
      </p:sp>
      <p:pic>
        <p:nvPicPr>
          <p:cNvPr id="12" name="Picture 11">
            <a:extLst>
              <a:ext uri="{FF2B5EF4-FFF2-40B4-BE49-F238E27FC236}">
                <a16:creationId xmlns:a16="http://schemas.microsoft.com/office/drawing/2014/main" id="{F8F3E611-45CF-5213-ADB8-9E9BAC71AFFA}"/>
              </a:ext>
            </a:extLst>
          </p:cNvPr>
          <p:cNvPicPr>
            <a:picLocks noChangeAspect="1"/>
          </p:cNvPicPr>
          <p:nvPr/>
        </p:nvPicPr>
        <p:blipFill>
          <a:blip r:embed="rId7"/>
          <a:stretch>
            <a:fillRect/>
          </a:stretch>
        </p:blipFill>
        <p:spPr>
          <a:xfrm>
            <a:off x="1691628" y="2183076"/>
            <a:ext cx="14978110" cy="69491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B6C9D-1D15-4046-BF72-7BD131A601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FB16D1-E6E0-3867-02D4-A84B430CD2B7}"/>
              </a:ext>
            </a:extLst>
          </p:cNvPr>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3" name="Freeform 3">
            <a:extLst>
              <a:ext uri="{FF2B5EF4-FFF2-40B4-BE49-F238E27FC236}">
                <a16:creationId xmlns:a16="http://schemas.microsoft.com/office/drawing/2014/main" id="{F499FBA2-9A6C-1631-543D-45E051BF5FFD}"/>
              </a:ext>
            </a:extLst>
          </p:cNvPr>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4" name="Freeform 4">
            <a:extLst>
              <a:ext uri="{FF2B5EF4-FFF2-40B4-BE49-F238E27FC236}">
                <a16:creationId xmlns:a16="http://schemas.microsoft.com/office/drawing/2014/main" id="{3B11A711-3D72-DD9C-49F0-92208621EC46}"/>
              </a:ext>
            </a:extLst>
          </p:cNvPr>
          <p:cNvSpPr/>
          <p:nvPr/>
        </p:nvSpPr>
        <p:spPr>
          <a:xfrm rot="5519627">
            <a:off x="15212169" y="3220447"/>
            <a:ext cx="7280753" cy="4114800"/>
          </a:xfrm>
          <a:custGeom>
            <a:avLst/>
            <a:gdLst/>
            <a:ahLst/>
            <a:cxnLst/>
            <a:rect l="l" t="t" r="r" b="b"/>
            <a:pathLst>
              <a:path w="7280753" h="4114800">
                <a:moveTo>
                  <a:pt x="0" y="0"/>
                </a:moveTo>
                <a:lnTo>
                  <a:pt x="7280753" y="0"/>
                </a:lnTo>
                <a:lnTo>
                  <a:pt x="72807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a:extLst>
              <a:ext uri="{FF2B5EF4-FFF2-40B4-BE49-F238E27FC236}">
                <a16:creationId xmlns:a16="http://schemas.microsoft.com/office/drawing/2014/main" id="{FC055CF5-136F-8869-93F0-D8DFA3BC108F}"/>
              </a:ext>
            </a:extLst>
          </p:cNvPr>
          <p:cNvSpPr/>
          <p:nvPr/>
        </p:nvSpPr>
        <p:spPr>
          <a:xfrm>
            <a:off x="0" y="6517459"/>
            <a:ext cx="18633464" cy="9350611"/>
          </a:xfrm>
          <a:custGeom>
            <a:avLst/>
            <a:gdLst/>
            <a:ahLst/>
            <a:cxnLst/>
            <a:rect l="l" t="t" r="r" b="b"/>
            <a:pathLst>
              <a:path w="18633464" h="9350611">
                <a:moveTo>
                  <a:pt x="0" y="0"/>
                </a:moveTo>
                <a:lnTo>
                  <a:pt x="18633464" y="0"/>
                </a:lnTo>
                <a:lnTo>
                  <a:pt x="18633464" y="9350611"/>
                </a:lnTo>
                <a:lnTo>
                  <a:pt x="0" y="935061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6" name="Group 6">
            <a:extLst>
              <a:ext uri="{FF2B5EF4-FFF2-40B4-BE49-F238E27FC236}">
                <a16:creationId xmlns:a16="http://schemas.microsoft.com/office/drawing/2014/main" id="{60BB3AFF-6A07-1890-80F5-3F1AF2CD0BA1}"/>
              </a:ext>
            </a:extLst>
          </p:cNvPr>
          <p:cNvGrpSpPr/>
          <p:nvPr/>
        </p:nvGrpSpPr>
        <p:grpSpPr>
          <a:xfrm>
            <a:off x="1195457" y="967684"/>
            <a:ext cx="15897086" cy="8351632"/>
            <a:chOff x="0" y="0"/>
            <a:chExt cx="4186887" cy="2199607"/>
          </a:xfrm>
        </p:grpSpPr>
        <p:sp>
          <p:nvSpPr>
            <p:cNvPr id="7" name="Freeform 7">
              <a:extLst>
                <a:ext uri="{FF2B5EF4-FFF2-40B4-BE49-F238E27FC236}">
                  <a16:creationId xmlns:a16="http://schemas.microsoft.com/office/drawing/2014/main" id="{CE76F524-00D3-C69F-4736-DD39292E761F}"/>
                </a:ext>
              </a:extLst>
            </p:cNvPr>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8" name="TextBox 8">
              <a:extLst>
                <a:ext uri="{FF2B5EF4-FFF2-40B4-BE49-F238E27FC236}">
                  <a16:creationId xmlns:a16="http://schemas.microsoft.com/office/drawing/2014/main" id="{5535FF14-D777-7FE6-AE32-96A0D751FA8B}"/>
                </a:ext>
              </a:extLst>
            </p:cNvPr>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0" name="Rectangle: Rounded Corners 9">
            <a:extLst>
              <a:ext uri="{FF2B5EF4-FFF2-40B4-BE49-F238E27FC236}">
                <a16:creationId xmlns:a16="http://schemas.microsoft.com/office/drawing/2014/main" id="{B159F4D6-30CC-75A8-598D-EA4AFDFBEA7E}"/>
              </a:ext>
            </a:extLst>
          </p:cNvPr>
          <p:cNvSpPr/>
          <p:nvPr/>
        </p:nvSpPr>
        <p:spPr>
          <a:xfrm>
            <a:off x="7496496" y="1343614"/>
            <a:ext cx="3247704" cy="63310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800" b="1">
                <a:solidFill>
                  <a:schemeClr val="tx1"/>
                </a:solidFill>
              </a:rPr>
              <a:t>Tableau Dashboard </a:t>
            </a:r>
          </a:p>
        </p:txBody>
      </p:sp>
      <p:pic>
        <p:nvPicPr>
          <p:cNvPr id="11" name="Picture 10">
            <a:extLst>
              <a:ext uri="{FF2B5EF4-FFF2-40B4-BE49-F238E27FC236}">
                <a16:creationId xmlns:a16="http://schemas.microsoft.com/office/drawing/2014/main" id="{AD9508E8-2022-808E-1BA8-F25486842DA2}"/>
              </a:ext>
            </a:extLst>
          </p:cNvPr>
          <p:cNvPicPr>
            <a:picLocks noChangeAspect="1"/>
          </p:cNvPicPr>
          <p:nvPr/>
        </p:nvPicPr>
        <p:blipFill>
          <a:blip r:embed="rId7"/>
          <a:stretch>
            <a:fillRect/>
          </a:stretch>
        </p:blipFill>
        <p:spPr>
          <a:xfrm>
            <a:off x="1702122" y="2183075"/>
            <a:ext cx="14967616" cy="6949183"/>
          </a:xfrm>
          <a:prstGeom prst="rect">
            <a:avLst/>
          </a:prstGeom>
        </p:spPr>
      </p:pic>
    </p:spTree>
    <p:extLst>
      <p:ext uri="{BB962C8B-B14F-4D97-AF65-F5344CB8AC3E}">
        <p14:creationId xmlns:p14="http://schemas.microsoft.com/office/powerpoint/2010/main" val="3808503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457200" y="202529"/>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2">
              <a:alphaModFix amt="26000"/>
            </a:blip>
            <a:stretch>
              <a:fillRect/>
            </a:stretch>
          </a:blipFill>
        </p:spPr>
        <p:txBody>
          <a:bodyPr/>
          <a:lstStyle/>
          <a:p>
            <a:endParaRPr lang="en-IN"/>
          </a:p>
        </p:txBody>
      </p:sp>
      <p:sp>
        <p:nvSpPr>
          <p:cNvPr id="3" name="Freeform 3"/>
          <p:cNvSpPr/>
          <p:nvPr/>
        </p:nvSpPr>
        <p:spPr>
          <a:xfrm>
            <a:off x="10775287" y="8645946"/>
            <a:ext cx="5551100" cy="2547812"/>
          </a:xfrm>
          <a:custGeom>
            <a:avLst/>
            <a:gdLst/>
            <a:ahLst/>
            <a:cxnLst/>
            <a:rect l="l" t="t" r="r" b="b"/>
            <a:pathLst>
              <a:path w="5551100" h="2547812">
                <a:moveTo>
                  <a:pt x="0" y="0"/>
                </a:moveTo>
                <a:lnTo>
                  <a:pt x="5551099" y="0"/>
                </a:lnTo>
                <a:lnTo>
                  <a:pt x="5551099" y="2547813"/>
                </a:lnTo>
                <a:lnTo>
                  <a:pt x="0" y="254781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a:off x="0" y="-287338"/>
            <a:ext cx="7315200" cy="1802843"/>
          </a:xfrm>
          <a:custGeom>
            <a:avLst/>
            <a:gdLst/>
            <a:ahLst/>
            <a:cxnLst/>
            <a:rect l="l" t="t" r="r" b="b"/>
            <a:pathLst>
              <a:path w="7315200" h="1802843">
                <a:moveTo>
                  <a:pt x="0" y="0"/>
                </a:moveTo>
                <a:lnTo>
                  <a:pt x="7315200" y="0"/>
                </a:lnTo>
                <a:lnTo>
                  <a:pt x="7315200" y="1802843"/>
                </a:lnTo>
                <a:lnTo>
                  <a:pt x="0" y="180284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14230854" y="-3457363"/>
            <a:ext cx="7416927" cy="8229600"/>
          </a:xfrm>
          <a:custGeom>
            <a:avLst/>
            <a:gdLst/>
            <a:ahLst/>
            <a:cxnLst/>
            <a:rect l="l" t="t" r="r" b="b"/>
            <a:pathLst>
              <a:path w="7416927" h="8229600">
                <a:moveTo>
                  <a:pt x="0" y="0"/>
                </a:moveTo>
                <a:lnTo>
                  <a:pt x="7416927" y="0"/>
                </a:lnTo>
                <a:lnTo>
                  <a:pt x="7416927" y="8229600"/>
                </a:lnTo>
                <a:lnTo>
                  <a:pt x="0" y="8229600"/>
                </a:lnTo>
                <a:lnTo>
                  <a:pt x="0" y="0"/>
                </a:lnTo>
                <a:close/>
              </a:path>
            </a:pathLst>
          </a:custGeom>
          <a:blipFill>
            <a:blip r:embed="rId5"/>
            <a:stretch>
              <a:fillRect/>
            </a:stretch>
          </a:blipFill>
        </p:spPr>
        <p:txBody>
          <a:bodyPr/>
          <a:lstStyle/>
          <a:p>
            <a:endParaRPr lang="en-IN"/>
          </a:p>
        </p:txBody>
      </p:sp>
      <p:sp>
        <p:nvSpPr>
          <p:cNvPr id="6" name="Freeform 6"/>
          <p:cNvSpPr/>
          <p:nvPr/>
        </p:nvSpPr>
        <p:spPr>
          <a:xfrm rot="956953">
            <a:off x="-1464555" y="7698327"/>
            <a:ext cx="8397773" cy="7872912"/>
          </a:xfrm>
          <a:custGeom>
            <a:avLst/>
            <a:gdLst/>
            <a:ahLst/>
            <a:cxnLst/>
            <a:rect l="l" t="t" r="r" b="b"/>
            <a:pathLst>
              <a:path w="8397773" h="7872912">
                <a:moveTo>
                  <a:pt x="0" y="0"/>
                </a:moveTo>
                <a:lnTo>
                  <a:pt x="8397773" y="0"/>
                </a:lnTo>
                <a:lnTo>
                  <a:pt x="8397773" y="7872912"/>
                </a:lnTo>
                <a:lnTo>
                  <a:pt x="0" y="787291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7" name="Group 7"/>
          <p:cNvGrpSpPr/>
          <p:nvPr/>
        </p:nvGrpSpPr>
        <p:grpSpPr>
          <a:xfrm>
            <a:off x="1195457" y="967684"/>
            <a:ext cx="15897086" cy="8351632"/>
            <a:chOff x="0" y="0"/>
            <a:chExt cx="4186887" cy="2199607"/>
          </a:xfrm>
        </p:grpSpPr>
        <p:sp>
          <p:nvSpPr>
            <p:cNvPr id="8" name="Freeform 8"/>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9" name="TextBox 9"/>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0">
            <a:extLst>
              <a:ext uri="{FF2B5EF4-FFF2-40B4-BE49-F238E27FC236}">
                <a16:creationId xmlns:a16="http://schemas.microsoft.com/office/drawing/2014/main" id="{F24F69B5-46BD-F4D5-5F53-D9414C1439EC}"/>
              </a:ext>
            </a:extLst>
          </p:cNvPr>
          <p:cNvSpPr txBox="1"/>
          <p:nvPr/>
        </p:nvSpPr>
        <p:spPr>
          <a:xfrm>
            <a:off x="2006732" y="1181100"/>
            <a:ext cx="6680068" cy="1519327"/>
          </a:xfrm>
          <a:prstGeom prst="rect">
            <a:avLst/>
          </a:prstGeom>
        </p:spPr>
        <p:txBody>
          <a:bodyPr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Key Insights</a:t>
            </a:r>
          </a:p>
        </p:txBody>
      </p:sp>
      <p:sp>
        <p:nvSpPr>
          <p:cNvPr id="10" name="TextBox 9">
            <a:extLst>
              <a:ext uri="{FF2B5EF4-FFF2-40B4-BE49-F238E27FC236}">
                <a16:creationId xmlns:a16="http://schemas.microsoft.com/office/drawing/2014/main" id="{E782F4F9-8A85-F469-209C-72F2509191EF}"/>
              </a:ext>
            </a:extLst>
          </p:cNvPr>
          <p:cNvSpPr txBox="1"/>
          <p:nvPr/>
        </p:nvSpPr>
        <p:spPr>
          <a:xfrm>
            <a:off x="2133600" y="3009900"/>
            <a:ext cx="14741908" cy="6001643"/>
          </a:xfrm>
          <a:prstGeom prst="rect">
            <a:avLst/>
          </a:prstGeom>
          <a:noFill/>
        </p:spPr>
        <p:txBody>
          <a:bodyPr wrap="square" lIns="0" tIns="0" rIns="0" bIns="0" rtlCol="0" anchor="t">
            <a:spAutoFit/>
          </a:bodyPr>
          <a:lstStyle/>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 KPI analysis shows the </a:t>
            </a:r>
            <a:r>
              <a:rPr lang="en-US" b="1">
                <a:latin typeface="Calibri" panose="020F0502020204030204" pitchFamily="34" charset="0"/>
                <a:ea typeface="Calibri" panose="020F0502020204030204" pitchFamily="34" charset="0"/>
                <a:cs typeface="Calibri" panose="020F0502020204030204" pitchFamily="34" charset="0"/>
              </a:rPr>
              <a:t>Average Monthly Income is 26.02K</a:t>
            </a:r>
            <a:r>
              <a:rPr lang="en-US">
                <a:latin typeface="Calibri" panose="020F0502020204030204" pitchFamily="34" charset="0"/>
                <a:ea typeface="Calibri" panose="020F0502020204030204" pitchFamily="34" charset="0"/>
                <a:cs typeface="Calibri" panose="020F0502020204030204" pitchFamily="34" charset="0"/>
              </a:rPr>
              <a:t>, yet employees in the </a:t>
            </a:r>
            <a:r>
              <a:rPr lang="en-US" b="1">
                <a:latin typeface="Calibri" panose="020F0502020204030204" pitchFamily="34" charset="0"/>
                <a:ea typeface="Calibri" panose="020F0502020204030204" pitchFamily="34" charset="0"/>
                <a:cs typeface="Calibri" panose="020F0502020204030204" pitchFamily="34" charset="0"/>
              </a:rPr>
              <a:t>Very High-Income group still show the highest attrition at 50.88%</a:t>
            </a:r>
            <a:r>
              <a:rPr lang="en-US">
                <a:latin typeface="Calibri" panose="020F0502020204030204" pitchFamily="34" charset="0"/>
                <a:ea typeface="Calibri" panose="020F0502020204030204" pitchFamily="34" charset="0"/>
                <a:cs typeface="Calibri" panose="020F0502020204030204" pitchFamily="34" charset="0"/>
              </a:rPr>
              <a:t>, proving compensation alone is not sufficient to improve employee retention or organizational stability.</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 Department-wise attrition analysis identifies </a:t>
            </a:r>
            <a:r>
              <a:rPr lang="en-US" b="1">
                <a:latin typeface="Calibri" panose="020F0502020204030204" pitchFamily="34" charset="0"/>
                <a:ea typeface="Calibri" panose="020F0502020204030204" pitchFamily="34" charset="0"/>
                <a:cs typeface="Calibri" panose="020F0502020204030204" pitchFamily="34" charset="0"/>
              </a:rPr>
              <a:t>Research &amp; Development as the highest attrition department at 51.21%</a:t>
            </a:r>
            <a:r>
              <a:rPr lang="en-US">
                <a:latin typeface="Calibri" panose="020F0502020204030204" pitchFamily="34" charset="0"/>
                <a:ea typeface="Calibri" panose="020F0502020204030204" pitchFamily="34" charset="0"/>
                <a:cs typeface="Calibri" panose="020F0502020204030204" pitchFamily="34" charset="0"/>
              </a:rPr>
              <a:t>, followed by Software at </a:t>
            </a:r>
            <a:r>
              <a:rPr lang="en-US" b="1">
                <a:latin typeface="Calibri" panose="020F0502020204030204" pitchFamily="34" charset="0"/>
                <a:ea typeface="Calibri" panose="020F0502020204030204" pitchFamily="34" charset="0"/>
                <a:cs typeface="Calibri" panose="020F0502020204030204" pitchFamily="34" charset="0"/>
              </a:rPr>
              <a:t>50.54%</a:t>
            </a:r>
            <a:r>
              <a:rPr lang="en-US">
                <a:latin typeface="Calibri" panose="020F0502020204030204" pitchFamily="34" charset="0"/>
                <a:ea typeface="Calibri" panose="020F0502020204030204" pitchFamily="34" charset="0"/>
                <a:cs typeface="Calibri" panose="020F0502020204030204" pitchFamily="34" charset="0"/>
              </a:rPr>
              <a:t>, while Hardware records the lowest attrition at </a:t>
            </a:r>
            <a:r>
              <a:rPr lang="en-US" b="1">
                <a:latin typeface="Calibri" panose="020F0502020204030204" pitchFamily="34" charset="0"/>
                <a:ea typeface="Calibri" panose="020F0502020204030204" pitchFamily="34" charset="0"/>
                <a:cs typeface="Calibri" panose="020F0502020204030204" pitchFamily="34" charset="0"/>
              </a:rPr>
              <a:t>49.44%</a:t>
            </a:r>
            <a:r>
              <a:rPr lang="en-US">
                <a:latin typeface="Calibri" panose="020F0502020204030204" pitchFamily="34" charset="0"/>
                <a:ea typeface="Calibri" panose="020F0502020204030204" pitchFamily="34" charset="0"/>
                <a:cs typeface="Calibri" panose="020F0502020204030204" pitchFamily="34" charset="0"/>
              </a:rPr>
              <a:t>, indicating employee turnover is consistently high across all departments and significantly affects workforce productivity and operational performance.</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Attrition versus promotion analysis shows employees waiting </a:t>
            </a:r>
            <a:r>
              <a:rPr lang="en-US" b="1">
                <a:latin typeface="Calibri" panose="020F0502020204030204" pitchFamily="34" charset="0"/>
                <a:ea typeface="Calibri" panose="020F0502020204030204" pitchFamily="34" charset="0"/>
                <a:cs typeface="Calibri" panose="020F0502020204030204" pitchFamily="34" charset="0"/>
              </a:rPr>
              <a:t>21–30 years for promotion experience the highest attrition at 50.96%</a:t>
            </a:r>
            <a:r>
              <a:rPr lang="en-US">
                <a:latin typeface="Calibri" panose="020F0502020204030204" pitchFamily="34" charset="0"/>
                <a:ea typeface="Calibri" panose="020F0502020204030204" pitchFamily="34" charset="0"/>
                <a:cs typeface="Calibri" panose="020F0502020204030204" pitchFamily="34" charset="0"/>
              </a:rPr>
              <a:t>, while employees promoted within </a:t>
            </a:r>
            <a:r>
              <a:rPr lang="en-US" b="1">
                <a:latin typeface="Calibri" panose="020F0502020204030204" pitchFamily="34" charset="0"/>
                <a:ea typeface="Calibri" panose="020F0502020204030204" pitchFamily="34" charset="0"/>
                <a:cs typeface="Calibri" panose="020F0502020204030204" pitchFamily="34" charset="0"/>
              </a:rPr>
              <a:t>11–15 years show comparatively lower attrition at 49.66%</a:t>
            </a:r>
            <a:r>
              <a:rPr lang="en-US">
                <a:latin typeface="Calibri" panose="020F0502020204030204" pitchFamily="34" charset="0"/>
                <a:ea typeface="Calibri" panose="020F0502020204030204" pitchFamily="34" charset="0"/>
                <a:cs typeface="Calibri" panose="020F0502020204030204" pitchFamily="34" charset="0"/>
              </a:rPr>
              <a:t>. Additionally, only </a:t>
            </a:r>
            <a:r>
              <a:rPr lang="en-US" b="1">
                <a:latin typeface="Calibri" panose="020F0502020204030204" pitchFamily="34" charset="0"/>
                <a:ea typeface="Calibri" panose="020F0502020204030204" pitchFamily="34" charset="0"/>
                <a:cs typeface="Calibri" panose="020F0502020204030204" pitchFamily="34" charset="0"/>
              </a:rPr>
              <a:t>24.85% employees received recent promotions</a:t>
            </a:r>
            <a:r>
              <a:rPr lang="en-US">
                <a:latin typeface="Calibri" panose="020F0502020204030204" pitchFamily="34" charset="0"/>
                <a:ea typeface="Calibri" panose="020F0502020204030204" pitchFamily="34" charset="0"/>
                <a:cs typeface="Calibri" panose="020F0502020204030204" pitchFamily="34" charset="0"/>
              </a:rPr>
              <a:t>, highlighting weak internal mobility and limited career growth opportunities.</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Work-life balance analysis indicates moderate employee satisfaction levels, with the average </a:t>
            </a:r>
            <a:r>
              <a:rPr lang="en-US" b="1">
                <a:latin typeface="Calibri" panose="020F0502020204030204" pitchFamily="34" charset="0"/>
                <a:ea typeface="Calibri" panose="020F0502020204030204" pitchFamily="34" charset="0"/>
                <a:cs typeface="Calibri" panose="020F0502020204030204" pitchFamily="34" charset="0"/>
              </a:rPr>
              <a:t>Work-Life Balance KPI remaining at 2.50</a:t>
            </a:r>
            <a:r>
              <a:rPr lang="en-US">
                <a:latin typeface="Calibri" panose="020F0502020204030204" pitchFamily="34" charset="0"/>
                <a:ea typeface="Calibri" panose="020F0502020204030204" pitchFamily="34" charset="0"/>
                <a:cs typeface="Calibri" panose="020F0502020204030204" pitchFamily="34" charset="0"/>
              </a:rPr>
              <a:t>. Attrition also remains almost equally distributed across all satisfaction levels at approximately </a:t>
            </a:r>
            <a:r>
              <a:rPr lang="en-US" b="1">
                <a:latin typeface="Calibri" panose="020F0502020204030204" pitchFamily="34" charset="0"/>
                <a:ea typeface="Calibri" panose="020F0502020204030204" pitchFamily="34" charset="0"/>
                <a:cs typeface="Calibri" panose="020F0502020204030204" pitchFamily="34" charset="0"/>
              </a:rPr>
              <a:t>25% each</a:t>
            </a:r>
            <a:r>
              <a:rPr lang="en-US">
                <a:latin typeface="Calibri" panose="020F0502020204030204" pitchFamily="34" charset="0"/>
                <a:ea typeface="Calibri" panose="020F0502020204030204" pitchFamily="34" charset="0"/>
                <a:cs typeface="Calibri" panose="020F0502020204030204" pitchFamily="34" charset="0"/>
              </a:rPr>
              <a:t>, suggesting workload pressure, stress, and organizational environment strongly influence employee turnover.</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Average Working Years analysis shows Software employees have the highest experience at </a:t>
            </a:r>
            <a:r>
              <a:rPr lang="en-US" b="1">
                <a:latin typeface="Calibri" panose="020F0502020204030204" pitchFamily="34" charset="0"/>
                <a:ea typeface="Calibri" panose="020F0502020204030204" pitchFamily="34" charset="0"/>
                <a:cs typeface="Calibri" panose="020F0502020204030204" pitchFamily="34" charset="0"/>
              </a:rPr>
              <a:t>20.65 years</a:t>
            </a:r>
            <a:r>
              <a:rPr lang="en-US">
                <a:latin typeface="Calibri" panose="020F0502020204030204" pitchFamily="34" charset="0"/>
                <a:ea typeface="Calibri" panose="020F0502020204030204" pitchFamily="34" charset="0"/>
                <a:cs typeface="Calibri" panose="020F0502020204030204" pitchFamily="34" charset="0"/>
              </a:rPr>
              <a:t>, while Research &amp; Development has the lowest at </a:t>
            </a:r>
            <a:r>
              <a:rPr lang="en-US" b="1">
                <a:latin typeface="Calibri" panose="020F0502020204030204" pitchFamily="34" charset="0"/>
                <a:ea typeface="Calibri" panose="020F0502020204030204" pitchFamily="34" charset="0"/>
                <a:cs typeface="Calibri" panose="020F0502020204030204" pitchFamily="34" charset="0"/>
              </a:rPr>
              <a:t>20.30 years</a:t>
            </a:r>
            <a:r>
              <a:rPr lang="en-US">
                <a:latin typeface="Calibri" panose="020F0502020204030204" pitchFamily="34" charset="0"/>
                <a:ea typeface="Calibri" panose="020F0502020204030204" pitchFamily="34" charset="0"/>
                <a:cs typeface="Calibri" panose="020F0502020204030204" pitchFamily="34" charset="0"/>
              </a:rPr>
              <a:t>. Despite high employee experience across departments, attrition remains consistently high.</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Attrition by Job Satisfaction remains almost equally distributed across all satisfaction levels, with </a:t>
            </a:r>
            <a:r>
              <a:rPr lang="en-US" b="1">
                <a:latin typeface="Calibri" panose="020F0502020204030204" pitchFamily="34" charset="0"/>
                <a:ea typeface="Calibri" panose="020F0502020204030204" pitchFamily="34" charset="0"/>
                <a:cs typeface="Calibri" panose="020F0502020204030204" pitchFamily="34" charset="0"/>
              </a:rPr>
              <a:t>High Satisfaction at 25.13%</a:t>
            </a:r>
            <a:r>
              <a:rPr lang="en-US">
                <a:latin typeface="Calibri" panose="020F0502020204030204" pitchFamily="34" charset="0"/>
                <a:ea typeface="Calibri" panose="020F0502020204030204" pitchFamily="34" charset="0"/>
                <a:cs typeface="Calibri" panose="020F0502020204030204" pitchFamily="34" charset="0"/>
              </a:rPr>
              <a:t>, Medium at </a:t>
            </a:r>
            <a:r>
              <a:rPr lang="en-US" b="1">
                <a:latin typeface="Calibri" panose="020F0502020204030204" pitchFamily="34" charset="0"/>
                <a:ea typeface="Calibri" panose="020F0502020204030204" pitchFamily="34" charset="0"/>
                <a:cs typeface="Calibri" panose="020F0502020204030204" pitchFamily="34" charset="0"/>
              </a:rPr>
              <a:t>24.98%</a:t>
            </a:r>
            <a:r>
              <a:rPr lang="en-US">
                <a:latin typeface="Calibri" panose="020F0502020204030204" pitchFamily="34" charset="0"/>
                <a:ea typeface="Calibri" panose="020F0502020204030204" pitchFamily="34" charset="0"/>
                <a:cs typeface="Calibri" panose="020F0502020204030204" pitchFamily="34" charset="0"/>
              </a:rPr>
              <a:t>, Very High at </a:t>
            </a:r>
            <a:r>
              <a:rPr lang="en-US" b="1">
                <a:latin typeface="Calibri" panose="020F0502020204030204" pitchFamily="34" charset="0"/>
                <a:ea typeface="Calibri" panose="020F0502020204030204" pitchFamily="34" charset="0"/>
                <a:cs typeface="Calibri" panose="020F0502020204030204" pitchFamily="34" charset="0"/>
              </a:rPr>
              <a:t>24.97%</a:t>
            </a:r>
            <a:r>
              <a:rPr lang="en-US">
                <a:latin typeface="Calibri" panose="020F0502020204030204" pitchFamily="34" charset="0"/>
                <a:ea typeface="Calibri" panose="020F0502020204030204" pitchFamily="34" charset="0"/>
                <a:cs typeface="Calibri" panose="020F0502020204030204" pitchFamily="34" charset="0"/>
              </a:rPr>
              <a:t>, and Low Satisfaction at </a:t>
            </a:r>
            <a:r>
              <a:rPr lang="en-US" b="1">
                <a:latin typeface="Calibri" panose="020F0502020204030204" pitchFamily="34" charset="0"/>
                <a:ea typeface="Calibri" panose="020F0502020204030204" pitchFamily="34" charset="0"/>
                <a:cs typeface="Calibri" panose="020F0502020204030204" pitchFamily="34" charset="0"/>
              </a:rPr>
              <a:t>24.91%</a:t>
            </a:r>
            <a:r>
              <a:rPr lang="en-US">
                <a:latin typeface="Calibri" panose="020F0502020204030204" pitchFamily="34" charset="0"/>
                <a:ea typeface="Calibri" panose="020F0502020204030204" pitchFamily="34" charset="0"/>
                <a:cs typeface="Calibri" panose="020F0502020204030204" pitchFamily="34" charset="0"/>
              </a:rPr>
              <a:t>, indicating satisfaction alone does not significantly reduce attrition.</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Overall Retention Dashboard analysis shows Hardware records the highest retention at </a:t>
            </a:r>
            <a:r>
              <a:rPr lang="en-US" b="1">
                <a:latin typeface="Calibri" panose="020F0502020204030204" pitchFamily="34" charset="0"/>
                <a:ea typeface="Calibri" panose="020F0502020204030204" pitchFamily="34" charset="0"/>
                <a:cs typeface="Calibri" panose="020F0502020204030204" pitchFamily="34" charset="0"/>
              </a:rPr>
              <a:t>50.56%</a:t>
            </a:r>
            <a:r>
              <a:rPr lang="en-US">
                <a:latin typeface="Calibri" panose="020F0502020204030204" pitchFamily="34" charset="0"/>
                <a:ea typeface="Calibri" panose="020F0502020204030204" pitchFamily="34" charset="0"/>
                <a:cs typeface="Calibri" panose="020F0502020204030204" pitchFamily="34" charset="0"/>
              </a:rPr>
              <a:t>, while Research &amp; Development shows the lowest retention at </a:t>
            </a:r>
            <a:r>
              <a:rPr lang="en-US" b="1">
                <a:latin typeface="Calibri" panose="020F0502020204030204" pitchFamily="34" charset="0"/>
                <a:ea typeface="Calibri" panose="020F0502020204030204" pitchFamily="34" charset="0"/>
                <a:cs typeface="Calibri" panose="020F0502020204030204" pitchFamily="34" charset="0"/>
              </a:rPr>
              <a:t>48.79%</a:t>
            </a:r>
            <a:r>
              <a:rPr lang="en-US">
                <a:latin typeface="Calibri" panose="020F0502020204030204" pitchFamily="34" charset="0"/>
                <a:ea typeface="Calibri" panose="020F0502020204030204" pitchFamily="34" charset="0"/>
                <a:cs typeface="Calibri" panose="020F0502020204030204" pitchFamily="34" charset="0"/>
              </a:rPr>
              <a:t>, confirming technical departments face greater workforce instability. Employees receiving promotions within </a:t>
            </a:r>
            <a:r>
              <a:rPr lang="en-US" b="1">
                <a:latin typeface="Calibri" panose="020F0502020204030204" pitchFamily="34" charset="0"/>
                <a:ea typeface="Calibri" panose="020F0502020204030204" pitchFamily="34" charset="0"/>
                <a:cs typeface="Calibri" panose="020F0502020204030204" pitchFamily="34" charset="0"/>
              </a:rPr>
              <a:t>11–15 years demonstrate comparatively stronger retention</a:t>
            </a:r>
            <a:r>
              <a:rPr lang="en-US">
                <a:latin typeface="Calibri" panose="020F0502020204030204" pitchFamily="34" charset="0"/>
                <a:ea typeface="Calibri" panose="020F0502020204030204" pitchFamily="34" charset="0"/>
                <a:cs typeface="Calibri" panose="020F0502020204030204" pitchFamily="34" charset="0"/>
              </a:rPr>
              <a:t>, while employees waiting </a:t>
            </a:r>
            <a:r>
              <a:rPr lang="en-US" b="1">
                <a:latin typeface="Calibri" panose="020F0502020204030204" pitchFamily="34" charset="0"/>
                <a:ea typeface="Calibri" panose="020F0502020204030204" pitchFamily="34" charset="0"/>
                <a:cs typeface="Calibri" panose="020F0502020204030204" pitchFamily="34" charset="0"/>
              </a:rPr>
              <a:t>21–30 years for promotions show the weakest retention</a:t>
            </a:r>
            <a:r>
              <a:rPr lang="en-US">
                <a:latin typeface="Calibri" panose="020F0502020204030204" pitchFamily="34" charset="0"/>
                <a:ea typeface="Calibri" panose="020F0502020204030204" pitchFamily="34" charset="0"/>
                <a:cs typeface="Calibri" panose="020F0502020204030204" pitchFamily="34" charset="0"/>
              </a:rPr>
              <a:t>, highlighting the strong impact of career growth opportunities on employee loyalty and workforce stability.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590701" y="-2352224"/>
            <a:ext cx="10818956" cy="6761848"/>
          </a:xfrm>
          <a:custGeom>
            <a:avLst/>
            <a:gdLst/>
            <a:ahLst/>
            <a:cxnLst/>
            <a:rect l="l" t="t" r="r" b="b"/>
            <a:pathLst>
              <a:path w="10818956" h="6761848">
                <a:moveTo>
                  <a:pt x="0" y="0"/>
                </a:moveTo>
                <a:lnTo>
                  <a:pt x="10818956" y="0"/>
                </a:lnTo>
                <a:lnTo>
                  <a:pt x="10818956" y="6761848"/>
                </a:lnTo>
                <a:lnTo>
                  <a:pt x="0" y="676184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3" name="Freeform 3"/>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4" name="Freeform 4"/>
          <p:cNvSpPr/>
          <p:nvPr/>
        </p:nvSpPr>
        <p:spPr>
          <a:xfrm>
            <a:off x="-682599" y="3235102"/>
            <a:ext cx="8249879" cy="8264906"/>
          </a:xfrm>
          <a:custGeom>
            <a:avLst/>
            <a:gdLst/>
            <a:ahLst/>
            <a:cxnLst/>
            <a:rect l="l" t="t" r="r" b="b"/>
            <a:pathLst>
              <a:path w="8249879" h="8264906">
                <a:moveTo>
                  <a:pt x="0" y="0"/>
                </a:moveTo>
                <a:lnTo>
                  <a:pt x="8249879" y="0"/>
                </a:lnTo>
                <a:lnTo>
                  <a:pt x="8249879" y="8264905"/>
                </a:lnTo>
                <a:lnTo>
                  <a:pt x="0" y="826490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Freeform 6"/>
          <p:cNvSpPr/>
          <p:nvPr/>
        </p:nvSpPr>
        <p:spPr>
          <a:xfrm rot="5400000">
            <a:off x="13127809" y="6100510"/>
            <a:ext cx="6730886" cy="6722065"/>
          </a:xfrm>
          <a:custGeom>
            <a:avLst/>
            <a:gdLst/>
            <a:ahLst/>
            <a:cxnLst/>
            <a:rect l="l" t="t" r="r" b="b"/>
            <a:pathLst>
              <a:path w="6730886" h="6722065">
                <a:moveTo>
                  <a:pt x="0" y="0"/>
                </a:moveTo>
                <a:lnTo>
                  <a:pt x="6730886" y="0"/>
                </a:lnTo>
                <a:lnTo>
                  <a:pt x="6730886" y="6722065"/>
                </a:lnTo>
                <a:lnTo>
                  <a:pt x="0" y="6722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sp>
        <p:nvSpPr>
          <p:cNvPr id="7" name="Freeform 7"/>
          <p:cNvSpPr/>
          <p:nvPr/>
        </p:nvSpPr>
        <p:spPr>
          <a:xfrm rot="7119350">
            <a:off x="-2375242" y="-657590"/>
            <a:ext cx="7280753" cy="4114800"/>
          </a:xfrm>
          <a:custGeom>
            <a:avLst/>
            <a:gdLst/>
            <a:ahLst/>
            <a:cxnLst/>
            <a:rect l="l" t="t" r="r" b="b"/>
            <a:pathLst>
              <a:path w="7280753" h="4114800">
                <a:moveTo>
                  <a:pt x="0" y="0"/>
                </a:moveTo>
                <a:lnTo>
                  <a:pt x="7280754" y="0"/>
                </a:lnTo>
                <a:lnTo>
                  <a:pt x="7280754"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IN"/>
          </a:p>
        </p:txBody>
      </p:sp>
      <p:grpSp>
        <p:nvGrpSpPr>
          <p:cNvPr id="8" name="Group 8"/>
          <p:cNvGrpSpPr/>
          <p:nvPr/>
        </p:nvGrpSpPr>
        <p:grpSpPr>
          <a:xfrm>
            <a:off x="1195457" y="967684"/>
            <a:ext cx="15897086" cy="8351632"/>
            <a:chOff x="0" y="0"/>
            <a:chExt cx="4186887" cy="2199607"/>
          </a:xfrm>
        </p:grpSpPr>
        <p:sp>
          <p:nvSpPr>
            <p:cNvPr id="9" name="Freeform 9"/>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10" name="TextBox 10"/>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0">
            <a:extLst>
              <a:ext uri="{FF2B5EF4-FFF2-40B4-BE49-F238E27FC236}">
                <a16:creationId xmlns:a16="http://schemas.microsoft.com/office/drawing/2014/main" id="{AFFB0080-F742-10C2-19EE-4D807568D792}"/>
              </a:ext>
            </a:extLst>
          </p:cNvPr>
          <p:cNvSpPr txBox="1"/>
          <p:nvPr/>
        </p:nvSpPr>
        <p:spPr>
          <a:xfrm>
            <a:off x="2387732" y="1333500"/>
            <a:ext cx="7066922" cy="1519327"/>
          </a:xfrm>
          <a:prstGeom prst="rect">
            <a:avLst/>
          </a:prstGeom>
        </p:spPr>
        <p:txBody>
          <a:bodyPr wrap="square"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Recommendations</a:t>
            </a:r>
          </a:p>
        </p:txBody>
      </p:sp>
      <p:sp>
        <p:nvSpPr>
          <p:cNvPr id="12" name="TextBox 11">
            <a:extLst>
              <a:ext uri="{FF2B5EF4-FFF2-40B4-BE49-F238E27FC236}">
                <a16:creationId xmlns:a16="http://schemas.microsoft.com/office/drawing/2014/main" id="{70139AE0-8376-E0F8-AD03-D108E440E6B7}"/>
              </a:ext>
            </a:extLst>
          </p:cNvPr>
          <p:cNvSpPr txBox="1"/>
          <p:nvPr/>
        </p:nvSpPr>
        <p:spPr>
          <a:xfrm>
            <a:off x="2133600" y="3247965"/>
            <a:ext cx="14741908" cy="5447645"/>
          </a:xfrm>
          <a:prstGeom prst="rect">
            <a:avLst/>
          </a:prstGeom>
          <a:noFill/>
        </p:spPr>
        <p:txBody>
          <a:bodyPr wrap="square" lIns="0" tIns="0" rIns="0" bIns="0" rtlCol="0" anchor="t">
            <a:spAutoFit/>
          </a:bodyPr>
          <a:lstStyle/>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 Improve career growth opportunities by increasing internal promotions, leadership development programs, and employee skill enhancement initiatives, as employees waiting longer for promotions show significantly higher attrition levels.</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Strengthen employee engagement and retention strategies within Research &amp; Development and Software departments, as these departments record the highest attrition and workforce instability.</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Introduce workload management, flexible work policies, and wellness programs to improve the average Work-Life Balance KPI of </a:t>
            </a:r>
            <a:r>
              <a:rPr lang="en-US" b="1">
                <a:latin typeface="Calibri" panose="020F0502020204030204" pitchFamily="34" charset="0"/>
                <a:ea typeface="Calibri" panose="020F0502020204030204" pitchFamily="34" charset="0"/>
                <a:cs typeface="Calibri" panose="020F0502020204030204" pitchFamily="34" charset="0"/>
              </a:rPr>
              <a:t>2.50</a:t>
            </a:r>
            <a:r>
              <a:rPr lang="en-US">
                <a:latin typeface="Calibri" panose="020F0502020204030204" pitchFamily="34" charset="0"/>
                <a:ea typeface="Calibri" panose="020F0502020204030204" pitchFamily="34" charset="0"/>
                <a:cs typeface="Calibri" panose="020F0502020204030204" pitchFamily="34" charset="0"/>
              </a:rPr>
              <a:t> and reduce stress-related employee turnover.</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Conduct regular employee feedback surveys and performance discussions to better understand employee concerns related to job satisfaction, workload pressure, and organizational environment.</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Develop role-specific retention plans for technical and operational job categories, where attrition remains consistently high despite employee experience and compensation levels.</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Improve recognition and reward systems beyond salary increases, as employees in the Very High-Income group still demonstrate the highest attrition levels, indicating compensation alone is not sufficient for retention.</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Strengthen employee career planning and succession management programs to improve long-term employee loyalty and reduce workforce instability across departments.</a:t>
            </a:r>
          </a:p>
          <a:p>
            <a:pPr marL="285750" indent="-285750">
              <a:buFont typeface="Wingdings" panose="05000000000000000000" pitchFamily="2" charset="2"/>
              <a:buChar char="§"/>
            </a:pPr>
            <a:endParaRPr lang="en-US" sz="800">
              <a:latin typeface="Calibri" panose="020F0502020204030204" pitchFamily="34" charset="0"/>
              <a:ea typeface="Calibri" panose="020F0502020204030204" pitchFamily="34" charset="0"/>
              <a:cs typeface="Calibri" panose="020F0502020204030204" pitchFamily="34" charset="0"/>
            </a:endParaRPr>
          </a:p>
          <a:p>
            <a:pPr marL="285750" indent="-285750">
              <a:buFont typeface="Wingdings" panose="05000000000000000000" pitchFamily="2" charset="2"/>
              <a:buChar char="§"/>
            </a:pPr>
            <a:r>
              <a:rPr lang="en-US">
                <a:latin typeface="Calibri" panose="020F0502020204030204" pitchFamily="34" charset="0"/>
                <a:ea typeface="Calibri" panose="020F0502020204030204" pitchFamily="34" charset="0"/>
                <a:cs typeface="Calibri" panose="020F0502020204030204" pitchFamily="34" charset="0"/>
              </a:rPr>
              <a:t>Continuously monitor attrition and retention KPIs through HR analytics dashboards to identify high-risk employee groups early and support data-driven HR decision-making.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2">
              <a:alphaModFix amt="26000"/>
            </a:blip>
            <a:stretch>
              <a:fillRect/>
            </a:stretch>
          </a:blipFill>
        </p:spPr>
        <p:txBody>
          <a:bodyPr/>
          <a:lstStyle/>
          <a:p>
            <a:endParaRPr lang="en-IN"/>
          </a:p>
        </p:txBody>
      </p:sp>
      <p:sp>
        <p:nvSpPr>
          <p:cNvPr id="3" name="Freeform 3"/>
          <p:cNvSpPr/>
          <p:nvPr/>
        </p:nvSpPr>
        <p:spPr>
          <a:xfrm>
            <a:off x="10775287" y="8645946"/>
            <a:ext cx="5551100" cy="2547812"/>
          </a:xfrm>
          <a:custGeom>
            <a:avLst/>
            <a:gdLst/>
            <a:ahLst/>
            <a:cxnLst/>
            <a:rect l="l" t="t" r="r" b="b"/>
            <a:pathLst>
              <a:path w="5551100" h="2547812">
                <a:moveTo>
                  <a:pt x="0" y="0"/>
                </a:moveTo>
                <a:lnTo>
                  <a:pt x="5551099" y="0"/>
                </a:lnTo>
                <a:lnTo>
                  <a:pt x="5551099" y="2547813"/>
                </a:lnTo>
                <a:lnTo>
                  <a:pt x="0" y="254781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a:off x="0" y="-287338"/>
            <a:ext cx="7315200" cy="1802843"/>
          </a:xfrm>
          <a:custGeom>
            <a:avLst/>
            <a:gdLst/>
            <a:ahLst/>
            <a:cxnLst/>
            <a:rect l="l" t="t" r="r" b="b"/>
            <a:pathLst>
              <a:path w="7315200" h="1802843">
                <a:moveTo>
                  <a:pt x="0" y="0"/>
                </a:moveTo>
                <a:lnTo>
                  <a:pt x="7315200" y="0"/>
                </a:lnTo>
                <a:lnTo>
                  <a:pt x="7315200" y="1802843"/>
                </a:lnTo>
                <a:lnTo>
                  <a:pt x="0" y="180284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13550836" y="-2599295"/>
            <a:ext cx="7416927" cy="8229600"/>
          </a:xfrm>
          <a:custGeom>
            <a:avLst/>
            <a:gdLst/>
            <a:ahLst/>
            <a:cxnLst/>
            <a:rect l="l" t="t" r="r" b="b"/>
            <a:pathLst>
              <a:path w="7416927" h="8229600">
                <a:moveTo>
                  <a:pt x="0" y="0"/>
                </a:moveTo>
                <a:lnTo>
                  <a:pt x="7416927" y="0"/>
                </a:lnTo>
                <a:lnTo>
                  <a:pt x="7416927" y="8229600"/>
                </a:lnTo>
                <a:lnTo>
                  <a:pt x="0" y="8229600"/>
                </a:lnTo>
                <a:lnTo>
                  <a:pt x="0" y="0"/>
                </a:lnTo>
                <a:close/>
              </a:path>
            </a:pathLst>
          </a:custGeom>
          <a:blipFill>
            <a:blip r:embed="rId5"/>
            <a:stretch>
              <a:fillRect/>
            </a:stretch>
          </a:blipFill>
        </p:spPr>
        <p:txBody>
          <a:bodyPr/>
          <a:lstStyle/>
          <a:p>
            <a:endParaRPr lang="en-IN"/>
          </a:p>
        </p:txBody>
      </p:sp>
      <p:sp>
        <p:nvSpPr>
          <p:cNvPr id="6" name="Freeform 6"/>
          <p:cNvSpPr/>
          <p:nvPr/>
        </p:nvSpPr>
        <p:spPr>
          <a:xfrm rot="956953">
            <a:off x="-1464555" y="7094451"/>
            <a:ext cx="8397773" cy="7872912"/>
          </a:xfrm>
          <a:custGeom>
            <a:avLst/>
            <a:gdLst/>
            <a:ahLst/>
            <a:cxnLst/>
            <a:rect l="l" t="t" r="r" b="b"/>
            <a:pathLst>
              <a:path w="8397773" h="7872912">
                <a:moveTo>
                  <a:pt x="0" y="0"/>
                </a:moveTo>
                <a:lnTo>
                  <a:pt x="8397773" y="0"/>
                </a:lnTo>
                <a:lnTo>
                  <a:pt x="8397773" y="7872912"/>
                </a:lnTo>
                <a:lnTo>
                  <a:pt x="0" y="787291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grpSp>
        <p:nvGrpSpPr>
          <p:cNvPr id="7" name="Group 7"/>
          <p:cNvGrpSpPr/>
          <p:nvPr/>
        </p:nvGrpSpPr>
        <p:grpSpPr>
          <a:xfrm>
            <a:off x="1195457" y="967684"/>
            <a:ext cx="15897086" cy="8351632"/>
            <a:chOff x="0" y="0"/>
            <a:chExt cx="4186887" cy="2199607"/>
          </a:xfrm>
        </p:grpSpPr>
        <p:sp>
          <p:nvSpPr>
            <p:cNvPr id="8" name="Freeform 8"/>
            <p:cNvSpPr/>
            <p:nvPr/>
          </p:nvSpPr>
          <p:spPr>
            <a:xfrm>
              <a:off x="0" y="0"/>
              <a:ext cx="4186887" cy="2199607"/>
            </a:xfrm>
            <a:custGeom>
              <a:avLst/>
              <a:gdLst/>
              <a:ahLst/>
              <a:cxnLst/>
              <a:rect l="l" t="t" r="r" b="b"/>
              <a:pathLst>
                <a:path w="4186887" h="2199607">
                  <a:moveTo>
                    <a:pt x="24837" y="0"/>
                  </a:moveTo>
                  <a:lnTo>
                    <a:pt x="4162050" y="0"/>
                  </a:lnTo>
                  <a:cubicBezTo>
                    <a:pt x="4175767" y="0"/>
                    <a:pt x="4186887" y="11120"/>
                    <a:pt x="4186887" y="24837"/>
                  </a:cubicBezTo>
                  <a:lnTo>
                    <a:pt x="4186887" y="2174770"/>
                  </a:lnTo>
                  <a:cubicBezTo>
                    <a:pt x="4186887" y="2181357"/>
                    <a:pt x="4184270" y="2187674"/>
                    <a:pt x="4179612" y="2192332"/>
                  </a:cubicBezTo>
                  <a:cubicBezTo>
                    <a:pt x="4174954" y="2196990"/>
                    <a:pt x="4168637" y="2199607"/>
                    <a:pt x="4162050" y="2199607"/>
                  </a:cubicBezTo>
                  <a:lnTo>
                    <a:pt x="24837" y="2199607"/>
                  </a:lnTo>
                  <a:cubicBezTo>
                    <a:pt x="11120" y="2199607"/>
                    <a:pt x="0" y="2188487"/>
                    <a:pt x="0" y="2174770"/>
                  </a:cubicBezTo>
                  <a:lnTo>
                    <a:pt x="0" y="24837"/>
                  </a:lnTo>
                  <a:cubicBezTo>
                    <a:pt x="0" y="11120"/>
                    <a:pt x="11120" y="0"/>
                    <a:pt x="24837" y="0"/>
                  </a:cubicBezTo>
                  <a:close/>
                </a:path>
              </a:pathLst>
            </a:custGeom>
            <a:solidFill>
              <a:srgbClr val="FFFFFF">
                <a:alpha val="60784"/>
              </a:srgbClr>
            </a:solidFill>
          </p:spPr>
          <p:txBody>
            <a:bodyPr/>
            <a:lstStyle/>
            <a:p>
              <a:endParaRPr lang="en-IN"/>
            </a:p>
          </p:txBody>
        </p:sp>
        <p:sp>
          <p:nvSpPr>
            <p:cNvPr id="9" name="TextBox 9"/>
            <p:cNvSpPr txBox="1"/>
            <p:nvPr/>
          </p:nvSpPr>
          <p:spPr>
            <a:xfrm>
              <a:off x="0" y="-38100"/>
              <a:ext cx="4186887" cy="2237707"/>
            </a:xfrm>
            <a:prstGeom prst="rect">
              <a:avLst/>
            </a:prstGeom>
          </p:spPr>
          <p:txBody>
            <a:bodyPr lIns="50800" tIns="50800" rIns="50800" bIns="50800" rtlCol="0" anchor="ctr"/>
            <a:lstStyle/>
            <a:p>
              <a:pPr algn="ctr">
                <a:lnSpc>
                  <a:spcPts val="2659"/>
                </a:lnSpc>
                <a:spcBef>
                  <a:spcPct val="0"/>
                </a:spcBef>
              </a:pPr>
              <a:endParaRPr/>
            </a:p>
          </p:txBody>
        </p:sp>
      </p:grpSp>
      <p:sp>
        <p:nvSpPr>
          <p:cNvPr id="13" name="TextBox 10">
            <a:extLst>
              <a:ext uri="{FF2B5EF4-FFF2-40B4-BE49-F238E27FC236}">
                <a16:creationId xmlns:a16="http://schemas.microsoft.com/office/drawing/2014/main" id="{284816A2-19CF-FC6A-9303-2039236E8691}"/>
              </a:ext>
            </a:extLst>
          </p:cNvPr>
          <p:cNvSpPr txBox="1"/>
          <p:nvPr/>
        </p:nvSpPr>
        <p:spPr>
          <a:xfrm>
            <a:off x="2006732" y="1325005"/>
            <a:ext cx="6680068" cy="1519327"/>
          </a:xfrm>
          <a:prstGeom prst="rect">
            <a:avLst/>
          </a:prstGeom>
        </p:spPr>
        <p:txBody>
          <a:bodyPr lIns="0" tIns="0" rIns="0" bIns="0" rtlCol="0" anchor="t">
            <a:spAutoFit/>
          </a:bodyPr>
          <a:lstStyle/>
          <a:p>
            <a:pPr algn="l">
              <a:lnSpc>
                <a:spcPts val="13396"/>
              </a:lnSpc>
              <a:spcBef>
                <a:spcPct val="0"/>
              </a:spcBef>
            </a:pPr>
            <a:r>
              <a:rPr lang="en-US" sz="7200">
                <a:solidFill>
                  <a:srgbClr val="000000"/>
                </a:solidFill>
                <a:latin typeface="Arapey"/>
                <a:ea typeface="Arapey"/>
                <a:cs typeface="Arapey"/>
                <a:sym typeface="Arapey"/>
              </a:rPr>
              <a:t>Conclusion</a:t>
            </a:r>
          </a:p>
        </p:txBody>
      </p:sp>
      <p:sp>
        <p:nvSpPr>
          <p:cNvPr id="11" name="Freeform 11"/>
          <p:cNvSpPr/>
          <p:nvPr/>
        </p:nvSpPr>
        <p:spPr>
          <a:xfrm>
            <a:off x="12954000" y="6014041"/>
            <a:ext cx="3980354" cy="2828331"/>
          </a:xfrm>
          <a:custGeom>
            <a:avLst/>
            <a:gdLst/>
            <a:ahLst/>
            <a:cxnLst/>
            <a:rect l="l" t="t" r="r" b="b"/>
            <a:pathLst>
              <a:path w="5151415" h="4114800">
                <a:moveTo>
                  <a:pt x="0" y="0"/>
                </a:moveTo>
                <a:lnTo>
                  <a:pt x="5151416" y="0"/>
                </a:lnTo>
                <a:lnTo>
                  <a:pt x="5151416"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IN"/>
          </a:p>
        </p:txBody>
      </p:sp>
      <p:sp>
        <p:nvSpPr>
          <p:cNvPr id="10" name="TextBox 9">
            <a:extLst>
              <a:ext uri="{FF2B5EF4-FFF2-40B4-BE49-F238E27FC236}">
                <a16:creationId xmlns:a16="http://schemas.microsoft.com/office/drawing/2014/main" id="{95A19640-1ABA-4446-752C-4F28833733EF}"/>
              </a:ext>
            </a:extLst>
          </p:cNvPr>
          <p:cNvSpPr txBox="1"/>
          <p:nvPr/>
        </p:nvSpPr>
        <p:spPr>
          <a:xfrm>
            <a:off x="2734331" y="3390900"/>
            <a:ext cx="11972269" cy="3539430"/>
          </a:xfrm>
          <a:prstGeom prst="rect">
            <a:avLst/>
          </a:prstGeom>
          <a:noFill/>
        </p:spPr>
        <p:txBody>
          <a:bodyPr wrap="square" lIns="0" tIns="0" rIns="0" bIns="0" rtlCol="0" anchor="t">
            <a:spAutoFit/>
          </a:bodyPr>
          <a:lstStyle/>
          <a:p>
            <a:pPr marL="285750" indent="-285750">
              <a:buFont typeface="Wingdings" panose="05000000000000000000" pitchFamily="2" charset="2"/>
              <a:buChar char="q"/>
            </a:pPr>
            <a:r>
              <a:rPr lang="en-US"/>
              <a:t> The HR Attrition Analysis reveals that employee turnover remains a major organizational challenge, particularly within Research &amp; Development and technical departments where attrition levels are the highest.</a:t>
            </a:r>
          </a:p>
          <a:p>
            <a:pPr marL="285750" indent="-285750">
              <a:buFont typeface="Wingdings" panose="05000000000000000000" pitchFamily="2" charset="2"/>
              <a:buChar char="q"/>
            </a:pPr>
            <a:endParaRPr lang="en-US" sz="800"/>
          </a:p>
          <a:p>
            <a:pPr marL="285750" indent="-285750">
              <a:buFont typeface="Wingdings" panose="05000000000000000000" pitchFamily="2" charset="2"/>
              <a:buChar char="q"/>
            </a:pPr>
            <a:r>
              <a:rPr lang="en-US"/>
              <a:t> The analysis confirms that salary alone is not the primary factor influencing employee exits, as even employees in higher income groups continue showing high attrition levels.</a:t>
            </a:r>
          </a:p>
          <a:p>
            <a:endParaRPr lang="en-US" sz="800"/>
          </a:p>
          <a:p>
            <a:pPr marL="285750" indent="-285750">
              <a:buFont typeface="Wingdings" panose="05000000000000000000" pitchFamily="2" charset="2"/>
              <a:buChar char="q"/>
            </a:pPr>
            <a:r>
              <a:rPr lang="en-US"/>
              <a:t>Delayed promotions, limited career growth opportunities, moderate work-life balance, and workload pressure are identified as the major contributors to workforce instability and reduced employee retention.</a:t>
            </a:r>
          </a:p>
          <a:p>
            <a:pPr marL="285750" indent="-285750">
              <a:buFont typeface="Wingdings" panose="05000000000000000000" pitchFamily="2" charset="2"/>
              <a:buChar char="q"/>
            </a:pPr>
            <a:endParaRPr lang="en-US" sz="800"/>
          </a:p>
          <a:p>
            <a:pPr marL="285750" indent="-285750">
              <a:buFont typeface="Wingdings" panose="05000000000000000000" pitchFamily="2" charset="2"/>
              <a:buChar char="q"/>
            </a:pPr>
            <a:r>
              <a:rPr lang="en-US"/>
              <a:t>Retention analysis further highlights that employees receiving timely promotions demonstrate stronger loyalty, proving that career progression and employee recognition play a critical role in improving workforce stability.</a:t>
            </a:r>
          </a:p>
          <a:p>
            <a:pPr marL="285750" indent="-285750">
              <a:buFont typeface="Wingdings" panose="05000000000000000000" pitchFamily="2" charset="2"/>
              <a:buChar char="q"/>
            </a:pPr>
            <a:endParaRPr lang="en-US" sz="800"/>
          </a:p>
          <a:p>
            <a:pPr marL="285750" indent="-285750">
              <a:buFont typeface="Wingdings" panose="05000000000000000000" pitchFamily="2" charset="2"/>
              <a:buChar char="q"/>
            </a:pPr>
            <a:r>
              <a:rPr lang="en-US"/>
              <a:t>Overall, the dashboard successfully helps identify high-risk employee groups and provides data-driven insights that can support HR teams in improving employee engagement, strengthening retention strategies, and enhancing long-term organizational performance.</a:t>
            </a:r>
          </a:p>
        </p:txBody>
      </p:sp>
    </p:spTree>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590701" y="-2352224"/>
            <a:ext cx="10818956" cy="6761848"/>
          </a:xfrm>
          <a:custGeom>
            <a:avLst/>
            <a:gdLst/>
            <a:ahLst/>
            <a:cxnLst/>
            <a:rect l="l" t="t" r="r" b="b"/>
            <a:pathLst>
              <a:path w="10818956" h="6761848">
                <a:moveTo>
                  <a:pt x="0" y="0"/>
                </a:moveTo>
                <a:lnTo>
                  <a:pt x="10818956" y="0"/>
                </a:lnTo>
                <a:lnTo>
                  <a:pt x="10818956" y="6761848"/>
                </a:lnTo>
                <a:lnTo>
                  <a:pt x="0" y="676184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3" name="Freeform 3"/>
          <p:cNvSpPr/>
          <p:nvPr/>
        </p:nvSpPr>
        <p:spPr>
          <a:xfrm>
            <a:off x="0" y="0"/>
            <a:ext cx="18288000" cy="12184380"/>
          </a:xfrm>
          <a:custGeom>
            <a:avLst/>
            <a:gdLst/>
            <a:ahLst/>
            <a:cxnLst/>
            <a:rect l="l" t="t" r="r" b="b"/>
            <a:pathLst>
              <a:path w="18288000" h="12184380">
                <a:moveTo>
                  <a:pt x="0" y="0"/>
                </a:moveTo>
                <a:lnTo>
                  <a:pt x="18288000" y="0"/>
                </a:lnTo>
                <a:lnTo>
                  <a:pt x="18288000" y="12184380"/>
                </a:lnTo>
                <a:lnTo>
                  <a:pt x="0" y="12184380"/>
                </a:lnTo>
                <a:lnTo>
                  <a:pt x="0" y="0"/>
                </a:lnTo>
                <a:close/>
              </a:path>
            </a:pathLst>
          </a:custGeom>
          <a:blipFill>
            <a:blip r:embed="rId3">
              <a:alphaModFix amt="26000"/>
            </a:blip>
            <a:stretch>
              <a:fillRect/>
            </a:stretch>
          </a:blipFill>
        </p:spPr>
        <p:txBody>
          <a:bodyPr/>
          <a:lstStyle/>
          <a:p>
            <a:endParaRPr lang="en-IN"/>
          </a:p>
        </p:txBody>
      </p:sp>
      <p:sp>
        <p:nvSpPr>
          <p:cNvPr id="4" name="Freeform 4"/>
          <p:cNvSpPr/>
          <p:nvPr/>
        </p:nvSpPr>
        <p:spPr>
          <a:xfrm>
            <a:off x="-682599" y="3235102"/>
            <a:ext cx="8249879" cy="8264906"/>
          </a:xfrm>
          <a:custGeom>
            <a:avLst/>
            <a:gdLst/>
            <a:ahLst/>
            <a:cxnLst/>
            <a:rect l="l" t="t" r="r" b="b"/>
            <a:pathLst>
              <a:path w="8249879" h="8264906">
                <a:moveTo>
                  <a:pt x="0" y="0"/>
                </a:moveTo>
                <a:lnTo>
                  <a:pt x="8249879" y="0"/>
                </a:lnTo>
                <a:lnTo>
                  <a:pt x="8249879" y="8264905"/>
                </a:lnTo>
                <a:lnTo>
                  <a:pt x="0" y="826490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a:p>
        </p:txBody>
      </p:sp>
      <p:sp>
        <p:nvSpPr>
          <p:cNvPr id="5" name="Freeform 5"/>
          <p:cNvSpPr/>
          <p:nvPr/>
        </p:nvSpPr>
        <p:spPr>
          <a:xfrm>
            <a:off x="8173342" y="-1065755"/>
            <a:ext cx="11109641" cy="2819072"/>
          </a:xfrm>
          <a:custGeom>
            <a:avLst/>
            <a:gdLst/>
            <a:ahLst/>
            <a:cxnLst/>
            <a:rect l="l" t="t" r="r" b="b"/>
            <a:pathLst>
              <a:path w="11109641" h="2819072">
                <a:moveTo>
                  <a:pt x="0" y="0"/>
                </a:moveTo>
                <a:lnTo>
                  <a:pt x="11109642" y="0"/>
                </a:lnTo>
                <a:lnTo>
                  <a:pt x="11109642" y="2819071"/>
                </a:lnTo>
                <a:lnTo>
                  <a:pt x="0" y="281907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Freeform 6"/>
          <p:cNvSpPr/>
          <p:nvPr/>
        </p:nvSpPr>
        <p:spPr>
          <a:xfrm rot="5400000">
            <a:off x="13127809" y="6100510"/>
            <a:ext cx="6730886" cy="6722065"/>
          </a:xfrm>
          <a:custGeom>
            <a:avLst/>
            <a:gdLst/>
            <a:ahLst/>
            <a:cxnLst/>
            <a:rect l="l" t="t" r="r" b="b"/>
            <a:pathLst>
              <a:path w="6730886" h="6722065">
                <a:moveTo>
                  <a:pt x="0" y="0"/>
                </a:moveTo>
                <a:lnTo>
                  <a:pt x="6730886" y="0"/>
                </a:lnTo>
                <a:lnTo>
                  <a:pt x="6730886" y="6722065"/>
                </a:lnTo>
                <a:lnTo>
                  <a:pt x="0" y="672206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IN"/>
          </a:p>
        </p:txBody>
      </p:sp>
      <p:sp>
        <p:nvSpPr>
          <p:cNvPr id="7" name="Freeform 7"/>
          <p:cNvSpPr/>
          <p:nvPr/>
        </p:nvSpPr>
        <p:spPr>
          <a:xfrm rot="7119350">
            <a:off x="-2131722" y="-460619"/>
            <a:ext cx="7280753" cy="4114800"/>
          </a:xfrm>
          <a:custGeom>
            <a:avLst/>
            <a:gdLst/>
            <a:ahLst/>
            <a:cxnLst/>
            <a:rect l="l" t="t" r="r" b="b"/>
            <a:pathLst>
              <a:path w="7280753" h="4114800">
                <a:moveTo>
                  <a:pt x="0" y="0"/>
                </a:moveTo>
                <a:lnTo>
                  <a:pt x="7280754" y="0"/>
                </a:lnTo>
                <a:lnTo>
                  <a:pt x="7280754"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IN"/>
          </a:p>
        </p:txBody>
      </p:sp>
      <p:sp>
        <p:nvSpPr>
          <p:cNvPr id="8" name="TextBox 8"/>
          <p:cNvSpPr txBox="1"/>
          <p:nvPr/>
        </p:nvSpPr>
        <p:spPr>
          <a:xfrm>
            <a:off x="4779806" y="3970789"/>
            <a:ext cx="8728387" cy="2107336"/>
          </a:xfrm>
          <a:prstGeom prst="rect">
            <a:avLst/>
          </a:prstGeom>
        </p:spPr>
        <p:txBody>
          <a:bodyPr lIns="0" tIns="0" rIns="0" bIns="0" rtlCol="0" anchor="t">
            <a:spAutoFit/>
          </a:bodyPr>
          <a:lstStyle/>
          <a:p>
            <a:pPr algn="ctr">
              <a:lnSpc>
                <a:spcPts val="17197"/>
              </a:lnSpc>
              <a:spcBef>
                <a:spcPct val="0"/>
              </a:spcBef>
            </a:pPr>
            <a:r>
              <a:rPr lang="en-US" sz="12284">
                <a:solidFill>
                  <a:srgbClr val="000000"/>
                </a:solidFill>
                <a:latin typeface="Norwester"/>
                <a:ea typeface="Norwester"/>
                <a:cs typeface="Norwester"/>
                <a:sym typeface="Norwester"/>
              </a:rPr>
              <a:t>THANK YOU</a:t>
            </a:r>
          </a:p>
        </p:txBody>
      </p:sp>
    </p:spTree>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Custom 1">
      <a:dk1>
        <a:sysClr val="windowText" lastClr="000000"/>
      </a:dk1>
      <a:lt1>
        <a:sysClr val="window" lastClr="FFFFFF"/>
      </a:lt1>
      <a:dk2>
        <a:srgbClr val="242852"/>
      </a:dk2>
      <a:lt2>
        <a:srgbClr val="ACCBF9"/>
      </a:lt2>
      <a:accent1>
        <a:srgbClr val="000000"/>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TM03457475[[fn=Frame]]</Template>
  <TotalTime>5</TotalTime>
  <Words>1348</Words>
  <Application>Microsoft Office PowerPoint</Application>
  <PresentationFormat>Custom</PresentationFormat>
  <Paragraphs>95</Paragraphs>
  <Slides>15</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Norwester</vt:lpstr>
      <vt:lpstr>Calibri</vt:lpstr>
      <vt:lpstr>Wingdings</vt:lpstr>
      <vt:lpstr>Corbel</vt:lpstr>
      <vt:lpstr>Arapey</vt:lpstr>
      <vt:lpstr>Arial</vt:lpstr>
      <vt:lpstr>Assistant</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and White Modern Minimalist Presentation</dc:title>
  <dc:creator>Praveen .S</dc:creator>
  <cp:lastModifiedBy>Praveen .S</cp:lastModifiedBy>
  <cp:revision>1</cp:revision>
  <dcterms:created xsi:type="dcterms:W3CDTF">2006-08-16T00:00:00Z</dcterms:created>
  <dcterms:modified xsi:type="dcterms:W3CDTF">2026-05-12T16:11:46Z</dcterms:modified>
  <dc:identifier>DAHJErjBjio</dc:identifier>
</cp:coreProperties>
</file>